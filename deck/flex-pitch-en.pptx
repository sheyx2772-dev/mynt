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[3-MINUTE CUT]</a:t>
            </a:r>
          </a:p>
          <a:p/>
          <a:p>
            <a:r>
              <a:t>Good afternoon. I am Javohir, founder of FLEX. We give a person or a business a permanent unique number, and we sell the NFC object that opens it. In three minutes I will tell you what we are building and why it 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  [3-MINUTE CUT]</a:t>
            </a:r>
          </a:p>
          <a:p/>
          <a:p>
            <a:r>
              <a:t>Eight situations, all from one cause: paper is printed once and life keeps changing. The number on the card changes, the price on the menu goes up, and there is no number behind the windscreen at all. We did not invent this list — customers gave us every line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a:t>
            </a:r>
          </a:p>
          <a:p/>
          <a:p>
            <a:r>
              <a:t>The answer is one mechanism. A tap, and the page opens. Nothing to install, nothing to sign up for, nothing to download. That sentence explains the whole product.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[3-MINUTE CUT]</a:t>
            </a:r>
          </a:p>
          <a:p/>
          <a:p>
            <a:r>
              <a:t>The eight problems on the left, the answer on the right. Note that none of these is something we intend to build — all of it works today. We are not listing problems and offering one fix; one mechanism works in eight places.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5/20</a:t>
            </a:r>
          </a:p>
          <a:p/>
          <a:p>
            <a:r>
              <a:t>This is the part you can hold. Eight form factors, one system. Card, ring and bracelet are a one-off sale. The four below go into venues and come with the subscription. Prices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  ·  [3-MINUTE CUT]</a:t>
            </a:r>
          </a:p>
          <a:p/>
          <a:p>
            <a:r>
              <a:t>The question we get most: everybody has an NFC card, what is different. Not the card. The number belongs to the customer, the page changes whenever they like, there are statistics, three languages, Payme is connected — and above all there is the venue half. The card is a piece of metal; the rest is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7/20</a:t>
            </a:r>
          </a:p>
          <a:p/>
          <a:p>
            <a:r>
              <a:t>We drew these designs ourselves. A competitor prints a car marque or a cartoon character — that infringes a registered mark, and anyone with the same printer can copy it. A low serial number cannot be copied at all. Buyers can also describe a design in a sentence and have it drawn.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a:t>
            </a:r>
          </a:p>
          <a:p/>
          <a:p>
            <a:r>
              <a:t>The rooms we sell into: cafes, hotels, shops and salons, clinics. These are not mockups — every one of them is installed hardware.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  [3-MINUTE CUT]</a:t>
            </a:r>
          </a:p>
          <a:p/>
          <a:p>
            <a:r>
              <a:t>The figures are the state statistics committee's, with their dates, so you can check them from where you are sitting. 116,900 venues in total. At the lowest tariff that is 209 billion soum a year. Our three-year target is 0.9% of it. We are not talking about owning a market — we are talking about a thousand venues.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a:t>
            </a:r>
          </a:p>
          <a:p/>
          <a:p>
            <a:r>
              <a:t>Look at the row that matters: the venue half. UNQX sells a personal card and stops there. Popl and V1CE are international, but there is no Uzbek and no invoice. Nobody local sells the venue side. They sell once; we get paid every month.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a:t>
            </a:r>
          </a:p>
          <a:p/>
          <a:p>
            <a:r>
              <a:t>How a venue works. Every table has its own code, the guest taps it, and the request lands at the till with the table number and a sound. The waiter is not scanning the room for a raised hand — the screen says which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a:t>
            </a:r>
          </a:p>
          <a:p/>
          <a:p>
            <a:r>
              <a:t>That is the whole installation. The owner types the tables, prints the sheet, and puts one card on each table. No engineer visits. Printed on Monday, answering by Tuesday.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13/20</a:t>
            </a:r>
          </a:p>
          <a:p/>
          <a:p>
            <a:r>
              <a:t>Two kinds of money. The number and the object are one-off. The venue is monthly. Companies pay by invoice, because that is how business pays here; offer a card payment and the accountant refuses.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14/20  ·  [3-MINUTE CUT]</a:t>
            </a:r>
          </a:p>
          <a:p/>
          <a:p>
            <a:r>
              <a:t>Simple arithmetic. A thousand venues at the lowest tariff is 149 million soum a month. That is the lowest tariff — a hotel or a larger restaurant pays twice that. Hardware and personal numbers are not counted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15/20</a:t>
            </a:r>
          </a:p>
          <a:p/>
          <a:p>
            <a:r>
              <a:t>This is not a first attempt. We are an IT Park resident, we have been through accelerators, and we have sold hardware into cafes, shops, clothing stores and clinics. We deal directly with the manufacturers, which means we control what the hardware costs 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16/20  ·  [3-MINUTE CUT]</a:t>
            </a:r>
          </a:p>
          <a:p/>
          <a:p>
            <a:r>
              <a:t>This is the only real photograph in the deck — the rest are renders. A real cafe, a real table, hardware that is working. The list on the left is what runs today, not what we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17/20</a:t>
            </a:r>
          </a:p>
          <a:p/>
          <a:p>
            <a:r>
              <a:t>Eighteen months. First quarter: Payme certification and a hundred venues. Then widening the product, then a dealer network, then the neighbouring markets. The dates run from the close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18/20</a:t>
            </a:r>
          </a:p>
          <a:p/>
          <a:p>
            <a:r>
              <a:t>Why now. The phones are ready — NFC is in all of them and nobody needs QR explained. Cafes compete on service, not only price. And the payment rails exist: collecting a monthly subscription from a business is now possible.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19/20</a:t>
            </a:r>
          </a:p>
          <a:p/>
          <a:p>
            <a:r>
              <a:t>Three people. Product, web and sales, all in-house. The first version was built without an outside team, and it is running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20/20  ·  [3-MINUTE CUT]</a:t>
            </a:r>
          </a:p>
          <a:p/>
          <a:p>
            <a:r>
              <a:t>Fifty to a hundred thousand dollars, pre-seed. More than half goes to hardware stock and installing the first hundred venues — that is to selling, not to building. The product is already built.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image" Target="../media/image13.jpg"/><Relationship Id="rId6" Type="http://schemas.openxmlformats.org/officeDocument/2006/relationships/image" Target="../media/image14.jpg"/><Relationship Id="rId7" Type="http://schemas.openxmlformats.org/officeDocument/2006/relationships/image" Target="../media/image15.jpg"/><Relationship Id="rId8" Type="http://schemas.openxmlformats.org/officeDocument/2006/relationships/image" Target="../media/image16.jpg"/><Relationship Id="rId9" Type="http://schemas.openxmlformats.org/officeDocument/2006/relationships/image" Target="../media/image17.jp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png"/><Relationship Id="rId4" Type="http://schemas.openxmlformats.org/officeDocument/2006/relationships/image" Target="../media/image31.jpg"/><Relationship Id="rId5" Type="http://schemas.openxmlformats.org/officeDocument/2006/relationships/image" Target="../media/image32.png"/><Relationship Id="rId6" Type="http://schemas.openxmlformats.org/officeDocument/2006/relationships/image" Target="../media/image33.jpg"/><Relationship Id="rId7" Type="http://schemas.openxmlformats.org/officeDocument/2006/relationships/image" Target="../media/image23.png"/><Relationship Id="rId8" Type="http://schemas.openxmlformats.org/officeDocument/2006/relationships/image" Target="../media/image34.jpg"/><Relationship Id="rId9" Type="http://schemas.openxmlformats.org/officeDocument/2006/relationships/image" Target="../media/image35.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image" Target="../media/image4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6.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pic>
        <p:nvPicPr>
          <p:cNvPr id="2" name="Picture 1" descr="qurilmalar.jpg"/>
          <p:cNvPicPr>
            <a:picLocks noChangeAspect="1"/>
          </p:cNvPicPr>
          <p:nvPr/>
        </p:nvPicPr>
        <p:blipFill>
          <a:blip r:embed="rId2"/>
          <a:srcRect l="388" r="388"/>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0A1B">
                  <a:alpha val="97000"/>
                </a:srgbClr>
              </a:gs>
              <a:gs pos="34000">
                <a:srgbClr val="0E0A1B">
                  <a:alpha val="86000"/>
                </a:srgbClr>
              </a:gs>
              <a:gs pos="52000">
                <a:srgbClr val="0E0A1B">
                  <a:alpha val="30000"/>
                </a:srgbClr>
              </a:gs>
              <a:gs pos="68000">
                <a:srgbClr val="0E0A1B">
                  <a:alpha val="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ICT WEEK UZBEKISTAN · 2026 · PRE-SEED</a:t>
            </a:r>
          </a:p>
        </p:txBody>
      </p:sp>
      <p:sp>
        <p:nvSpPr>
          <p:cNvPr id="6" name="TextBox 5"/>
          <p:cNvSpPr txBox="1"/>
          <p:nvPr/>
        </p:nvSpPr>
        <p:spPr>
          <a:xfrm>
            <a:off x="812800" y="939800"/>
            <a:ext cx="5080000" cy="939800"/>
          </a:xfrm>
          <a:prstGeom prst="rect">
            <a:avLst/>
          </a:prstGeom>
          <a:noFill/>
        </p:spPr>
        <p:txBody>
          <a:bodyPr wrap="square" anchor="t" lIns="0" rIns="0" tIns="0" bIns="0">
            <a:spAutoFit/>
          </a:bodyPr>
          <a:lstStyle/>
          <a:p>
            <a:pPr algn="l">
              <a:lnSpc>
                <a:spcPct val="135000"/>
              </a:lnSpc>
              <a:spcAft>
                <a:spcPts val="0"/>
              </a:spcAft>
            </a:pPr>
            <a:r>
              <a:rPr sz="5600" b="1" spc="-200">
                <a:solidFill>
                  <a:srgbClr val="FFFFFF"/>
                </a:solidFill>
                <a:latin typeface="Space Grotesk"/>
              </a:rPr>
              <a:t>flex</a:t>
            </a:r>
          </a:p>
        </p:txBody>
      </p:sp>
      <p:sp>
        <p:nvSpPr>
          <p:cNvPr id="7" name="TextBox 6"/>
          <p:cNvSpPr txBox="1"/>
          <p:nvPr/>
        </p:nvSpPr>
        <p:spPr>
          <a:xfrm>
            <a:off x="812800" y="1879600"/>
            <a:ext cx="7112000" cy="754380"/>
          </a:xfrm>
          <a:prstGeom prst="rect">
            <a:avLst/>
          </a:prstGeom>
          <a:noFill/>
        </p:spPr>
        <p:txBody>
          <a:bodyPr wrap="square" anchor="t" lIns="0" rIns="0" tIns="0" bIns="0">
            <a:spAutoFit/>
          </a:bodyPr>
          <a:lstStyle/>
          <a:p>
            <a:pPr algn="l">
              <a:lnSpc>
                <a:spcPct val="110000"/>
              </a:lnSpc>
              <a:spcAft>
                <a:spcPts val="0"/>
              </a:spcAft>
            </a:pPr>
            <a:r>
              <a:rPr sz="2700" b="1" spc="-60">
                <a:solidFill>
                  <a:srgbClr val="ABFF09"/>
                </a:solidFill>
                <a:latin typeface="Space Grotesk"/>
              </a:rPr>
              <a:t>Your number is your identity.</a:t>
            </a:r>
          </a:p>
        </p:txBody>
      </p:sp>
      <p:sp>
        <p:nvSpPr>
          <p:cNvPr id="8" name="TextBox 7"/>
          <p:cNvSpPr txBox="1"/>
          <p:nvPr/>
        </p:nvSpPr>
        <p:spPr>
          <a:xfrm>
            <a:off x="812800" y="2717800"/>
            <a:ext cx="5969000" cy="321310"/>
          </a:xfrm>
          <a:prstGeom prst="rect">
            <a:avLst/>
          </a:prstGeom>
          <a:noFill/>
        </p:spPr>
        <p:txBody>
          <a:bodyPr wrap="square" anchor="t" lIns="0" rIns="0" tIns="0" bIns="0">
            <a:spAutoFit/>
          </a:bodyPr>
          <a:lstStyle/>
          <a:p>
            <a:pPr algn="l">
              <a:lnSpc>
                <a:spcPct val="150000"/>
              </a:lnSpc>
              <a:spcAft>
                <a:spcPts val="0"/>
              </a:spcAft>
            </a:pPr>
            <a:r>
              <a:rPr sz="1150" b="0">
                <a:solidFill>
                  <a:srgbClr val="C2BECE"/>
                </a:solidFill>
                <a:latin typeface="Inter"/>
              </a:rPr>
              <a:t>A unique number and an NFC object that opens it. One tap — nothing to install.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THE PROBLEM</a:t>
            </a:r>
          </a:p>
        </p:txBody>
      </p:sp>
      <p:sp>
        <p:nvSpPr>
          <p:cNvPr id="4" name="TextBox 3"/>
          <p:cNvSpPr txBox="1"/>
          <p:nvPr/>
        </p:nvSpPr>
        <p:spPr>
          <a:xfrm>
            <a:off x="812800" y="889000"/>
            <a:ext cx="8890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Information still travels</a:t>
            </a:r>
          </a:p>
          <a:p>
            <a:pPr algn="l">
              <a:lnSpc>
                <a:spcPct val="106000"/>
              </a:lnSpc>
              <a:spcAft>
                <a:spcPts val="0"/>
              </a:spcAft>
            </a:pPr>
            <a:r>
              <a:rPr sz="3000" b="1" spc="-60">
                <a:solidFill>
                  <a:srgbClr val="FFFFFF"/>
                </a:solidFill>
                <a:latin typeface="Space Grotesk"/>
              </a:rPr>
              <a:t>on paper and out loud.</a:t>
            </a:r>
          </a:p>
        </p:txBody>
      </p:sp>
      <p:sp>
        <p:nvSpPr>
          <p:cNvPr id="5" name="Rounded Rectangle 4"/>
          <p:cNvSpPr/>
          <p:nvPr/>
        </p:nvSpPr>
        <p:spPr>
          <a:xfrm>
            <a:off x="812800" y="241300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receipt-lime.png"/>
          <p:cNvPicPr>
            <a:picLocks noChangeAspect="1"/>
          </p:cNvPicPr>
          <p:nvPr/>
        </p:nvPicPr>
        <p:blipFill>
          <a:blip r:embed="rId2"/>
          <a:stretch>
            <a:fillRect/>
          </a:stretch>
        </p:blipFill>
        <p:spPr>
          <a:xfrm>
            <a:off x="1041400" y="2616200"/>
            <a:ext cx="254000" cy="254000"/>
          </a:xfrm>
          <a:prstGeom prst="rect">
            <a:avLst/>
          </a:prstGeom>
        </p:spPr>
      </p:pic>
      <p:sp>
        <p:nvSpPr>
          <p:cNvPr id="7" name="TextBox 6"/>
          <p:cNvSpPr txBox="1"/>
          <p:nvPr/>
        </p:nvSpPr>
        <p:spPr>
          <a:xfrm>
            <a:off x="1041400" y="297180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Paper details</a:t>
            </a:r>
          </a:p>
        </p:txBody>
      </p:sp>
      <p:sp>
        <p:nvSpPr>
          <p:cNvPr id="8" name="TextBox 7"/>
          <p:cNvSpPr txBox="1"/>
          <p:nvPr/>
        </p:nvSpPr>
        <p:spPr>
          <a:xfrm>
            <a:off x="1041400" y="330200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Company bank details are written out by hand. One wrong digit and the payment lands in the wrong account.</a:t>
            </a:r>
          </a:p>
        </p:txBody>
      </p:sp>
      <p:sp>
        <p:nvSpPr>
          <p:cNvPr id="9" name="Rounded Rectangle 8"/>
          <p:cNvSpPr/>
          <p:nvPr/>
        </p:nvSpPr>
        <p:spPr>
          <a:xfrm>
            <a:off x="3486150" y="241300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car-lime.png"/>
          <p:cNvPicPr>
            <a:picLocks noChangeAspect="1"/>
          </p:cNvPicPr>
          <p:nvPr/>
        </p:nvPicPr>
        <p:blipFill>
          <a:blip r:embed="rId3"/>
          <a:stretch>
            <a:fillRect/>
          </a:stretch>
        </p:blipFill>
        <p:spPr>
          <a:xfrm>
            <a:off x="3714750" y="2616200"/>
            <a:ext cx="254000" cy="254000"/>
          </a:xfrm>
          <a:prstGeom prst="rect">
            <a:avLst/>
          </a:prstGeom>
        </p:spPr>
      </p:pic>
      <p:sp>
        <p:nvSpPr>
          <p:cNvPr id="11" name="TextBox 10"/>
          <p:cNvSpPr txBox="1"/>
          <p:nvPr/>
        </p:nvSpPr>
        <p:spPr>
          <a:xfrm>
            <a:off x="3714750" y="297180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No number in the windscreen</a:t>
            </a:r>
          </a:p>
        </p:txBody>
      </p:sp>
      <p:sp>
        <p:nvSpPr>
          <p:cNvPr id="12" name="TextBox 11"/>
          <p:cNvSpPr txBox="1"/>
          <p:nvPr/>
        </p:nvSpPr>
        <p:spPr>
          <a:xfrm>
            <a:off x="3714750" y="330200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A car is blocking the way. There is no number behind the glass, or there is one, on a scrap of paper.</a:t>
            </a:r>
          </a:p>
        </p:txBody>
      </p:sp>
      <p:sp>
        <p:nvSpPr>
          <p:cNvPr id="13" name="Rounded Rectangle 12"/>
          <p:cNvSpPr/>
          <p:nvPr/>
        </p:nvSpPr>
        <p:spPr>
          <a:xfrm>
            <a:off x="6159500" y="241300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paw-print-lime.png"/>
          <p:cNvPicPr>
            <a:picLocks noChangeAspect="1"/>
          </p:cNvPicPr>
          <p:nvPr/>
        </p:nvPicPr>
        <p:blipFill>
          <a:blip r:embed="rId4"/>
          <a:stretch>
            <a:fillRect/>
          </a:stretch>
        </p:blipFill>
        <p:spPr>
          <a:xfrm>
            <a:off x="6388100" y="2616200"/>
            <a:ext cx="254000" cy="254000"/>
          </a:xfrm>
          <a:prstGeom prst="rect">
            <a:avLst/>
          </a:prstGeom>
        </p:spPr>
      </p:pic>
      <p:sp>
        <p:nvSpPr>
          <p:cNvPr id="15" name="TextBox 14"/>
          <p:cNvSpPr txBox="1"/>
          <p:nvPr/>
        </p:nvSpPr>
        <p:spPr>
          <a:xfrm>
            <a:off x="6388100" y="297180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A pet goes missing</a:t>
            </a:r>
          </a:p>
        </p:txBody>
      </p:sp>
      <p:sp>
        <p:nvSpPr>
          <p:cNvPr id="16" name="TextBox 15"/>
          <p:cNvSpPr txBox="1"/>
          <p:nvPr/>
        </p:nvSpPr>
        <p:spPr>
          <a:xfrm>
            <a:off x="6388100" y="330200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Nothing on the collar. Whoever finds the animal has no way to reach its owner.</a:t>
            </a:r>
          </a:p>
        </p:txBody>
      </p:sp>
      <p:sp>
        <p:nvSpPr>
          <p:cNvPr id="17" name="Rounded Rectangle 16"/>
          <p:cNvSpPr/>
          <p:nvPr/>
        </p:nvSpPr>
        <p:spPr>
          <a:xfrm>
            <a:off x="8832850" y="241300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key-round-lime.png"/>
          <p:cNvPicPr>
            <a:picLocks noChangeAspect="1"/>
          </p:cNvPicPr>
          <p:nvPr/>
        </p:nvPicPr>
        <p:blipFill>
          <a:blip r:embed="rId5"/>
          <a:stretch>
            <a:fillRect/>
          </a:stretch>
        </p:blipFill>
        <p:spPr>
          <a:xfrm>
            <a:off x="9061450" y="2616200"/>
            <a:ext cx="254000" cy="254000"/>
          </a:xfrm>
          <a:prstGeom prst="rect">
            <a:avLst/>
          </a:prstGeom>
        </p:spPr>
      </p:pic>
      <p:sp>
        <p:nvSpPr>
          <p:cNvPr id="19" name="TextBox 18"/>
          <p:cNvSpPr txBox="1"/>
          <p:nvPr/>
        </p:nvSpPr>
        <p:spPr>
          <a:xfrm>
            <a:off x="9061450" y="297180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Keys and things go missing</a:t>
            </a:r>
          </a:p>
        </p:txBody>
      </p:sp>
      <p:sp>
        <p:nvSpPr>
          <p:cNvPr id="20" name="TextBox 19"/>
          <p:cNvSpPr txBox="1"/>
          <p:nvPr/>
        </p:nvSpPr>
        <p:spPr>
          <a:xfrm>
            <a:off x="9061450" y="330200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A bag, a key, a suitcase — found, and still it never gets back to anyone.</a:t>
            </a:r>
          </a:p>
        </p:txBody>
      </p:sp>
      <p:sp>
        <p:nvSpPr>
          <p:cNvPr id="21" name="Rounded Rectangle 20"/>
          <p:cNvSpPr/>
          <p:nvPr/>
        </p:nvSpPr>
        <p:spPr>
          <a:xfrm>
            <a:off x="812800" y="422275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credit-card-lime.png"/>
          <p:cNvPicPr>
            <a:picLocks noChangeAspect="1"/>
          </p:cNvPicPr>
          <p:nvPr/>
        </p:nvPicPr>
        <p:blipFill>
          <a:blip r:embed="rId6"/>
          <a:stretch>
            <a:fillRect/>
          </a:stretch>
        </p:blipFill>
        <p:spPr>
          <a:xfrm>
            <a:off x="1041400" y="4425950"/>
            <a:ext cx="254000" cy="254000"/>
          </a:xfrm>
          <a:prstGeom prst="rect">
            <a:avLst/>
          </a:prstGeom>
        </p:spPr>
      </p:pic>
      <p:sp>
        <p:nvSpPr>
          <p:cNvPr id="23" name="TextBox 22"/>
          <p:cNvSpPr txBox="1"/>
          <p:nvPr/>
        </p:nvSpPr>
        <p:spPr>
          <a:xfrm>
            <a:off x="1041400" y="478155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Card numbers across a counter</a:t>
            </a:r>
          </a:p>
        </p:txBody>
      </p:sp>
      <p:sp>
        <p:nvSpPr>
          <p:cNvPr id="24" name="TextBox 23"/>
          <p:cNvSpPr txBox="1"/>
          <p:nvPr/>
        </p:nvSpPr>
        <p:spPr>
          <a:xfrm>
            <a:off x="1041400" y="511175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The card number is read out loud or written down. That is where both the errors and the risk are.</a:t>
            </a:r>
          </a:p>
        </p:txBody>
      </p:sp>
      <p:sp>
        <p:nvSpPr>
          <p:cNvPr id="25" name="Rounded Rectangle 24"/>
          <p:cNvSpPr/>
          <p:nvPr/>
        </p:nvSpPr>
        <p:spPr>
          <a:xfrm>
            <a:off x="3486150" y="422275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users-lime.png"/>
          <p:cNvPicPr>
            <a:picLocks noChangeAspect="1"/>
          </p:cNvPicPr>
          <p:nvPr/>
        </p:nvPicPr>
        <p:blipFill>
          <a:blip r:embed="rId7"/>
          <a:stretch>
            <a:fillRect/>
          </a:stretch>
        </p:blipFill>
        <p:spPr>
          <a:xfrm>
            <a:off x="3714750" y="4425950"/>
            <a:ext cx="254000" cy="254000"/>
          </a:xfrm>
          <a:prstGeom prst="rect">
            <a:avLst/>
          </a:prstGeom>
        </p:spPr>
      </p:pic>
      <p:sp>
        <p:nvSpPr>
          <p:cNvPr id="27" name="TextBox 26"/>
          <p:cNvSpPr txBox="1"/>
          <p:nvPr/>
        </p:nvSpPr>
        <p:spPr>
          <a:xfrm>
            <a:off x="3714750" y="478155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Nothing to exchange at a meeting</a:t>
            </a:r>
          </a:p>
        </p:txBody>
      </p:sp>
      <p:sp>
        <p:nvSpPr>
          <p:cNvPr id="28" name="TextBox 27"/>
          <p:cNvSpPr txBox="1"/>
          <p:nvPr/>
        </p:nvSpPr>
        <p:spPr>
          <a:xfrm>
            <a:off x="3714750" y="511175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The cards run out, typing a number takes too long, and afterwards nobody can find anybody.</a:t>
            </a:r>
          </a:p>
        </p:txBody>
      </p:sp>
      <p:sp>
        <p:nvSpPr>
          <p:cNvPr id="29" name="Rounded Rectangle 28"/>
          <p:cNvSpPr/>
          <p:nvPr/>
        </p:nvSpPr>
        <p:spPr>
          <a:xfrm>
            <a:off x="6159500" y="422275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lime.png"/>
          <p:cNvPicPr>
            <a:picLocks noChangeAspect="1"/>
          </p:cNvPicPr>
          <p:nvPr/>
        </p:nvPicPr>
        <p:blipFill>
          <a:blip r:embed="rId8"/>
          <a:stretch>
            <a:fillRect/>
          </a:stretch>
        </p:blipFill>
        <p:spPr>
          <a:xfrm>
            <a:off x="6388100" y="4425950"/>
            <a:ext cx="254000" cy="254000"/>
          </a:xfrm>
          <a:prstGeom prst="rect">
            <a:avLst/>
          </a:prstGeom>
        </p:spPr>
      </p:pic>
      <p:sp>
        <p:nvSpPr>
          <p:cNvPr id="31" name="TextBox 30"/>
          <p:cNvSpPr txBox="1"/>
          <p:nvPr/>
        </p:nvSpPr>
        <p:spPr>
          <a:xfrm>
            <a:off x="6388100" y="478155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A small brand is hard to remember</a:t>
            </a:r>
          </a:p>
        </p:txBody>
      </p:sp>
      <p:sp>
        <p:nvSpPr>
          <p:cNvPr id="32" name="TextBox 31"/>
          <p:cNvSpPr txBox="1"/>
          <p:nvPr/>
        </p:nvSpPr>
        <p:spPr>
          <a:xfrm>
            <a:off x="6388100" y="511175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The name never stays on the customer's phone. Every time you start the introduction again.</a:t>
            </a:r>
          </a:p>
        </p:txBody>
      </p:sp>
      <p:sp>
        <p:nvSpPr>
          <p:cNvPr id="33" name="Rounded Rectangle 32"/>
          <p:cNvSpPr/>
          <p:nvPr/>
        </p:nvSpPr>
        <p:spPr>
          <a:xfrm>
            <a:off x="8832850" y="4222750"/>
            <a:ext cx="25400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file-user-lime.png"/>
          <p:cNvPicPr>
            <a:picLocks noChangeAspect="1"/>
          </p:cNvPicPr>
          <p:nvPr/>
        </p:nvPicPr>
        <p:blipFill>
          <a:blip r:embed="rId9"/>
          <a:stretch>
            <a:fillRect/>
          </a:stretch>
        </p:blipFill>
        <p:spPr>
          <a:xfrm>
            <a:off x="9061450" y="4425950"/>
            <a:ext cx="254000" cy="254000"/>
          </a:xfrm>
          <a:prstGeom prst="rect">
            <a:avLst/>
          </a:prstGeom>
        </p:spPr>
      </p:pic>
      <p:sp>
        <p:nvSpPr>
          <p:cNvPr id="35" name="TextBox 34"/>
          <p:cNvSpPr txBox="1"/>
          <p:nvPr/>
        </p:nvSpPr>
        <p:spPr>
          <a:xfrm>
            <a:off x="9061450" y="4781550"/>
            <a:ext cx="2108200" cy="321310"/>
          </a:xfrm>
          <a:prstGeom prst="rect">
            <a:avLst/>
          </a:prstGeom>
          <a:noFill/>
        </p:spPr>
        <p:txBody>
          <a:bodyPr wrap="square" anchor="t" lIns="0" rIns="0" tIns="0" bIns="0">
            <a:spAutoFit/>
          </a:bodyPr>
          <a:lstStyle/>
          <a:p>
            <a:pPr algn="l">
              <a:lnSpc>
                <a:spcPct val="115000"/>
              </a:lnSpc>
              <a:spcAft>
                <a:spcPts val="0"/>
              </a:spcAft>
            </a:pPr>
            <a:r>
              <a:rPr sz="1150" b="1">
                <a:solidFill>
                  <a:srgbClr val="FFFFFF"/>
                </a:solidFill>
                <a:latin typeface="Space Grotesk"/>
              </a:rPr>
              <a:t>Sending a CV is awkward</a:t>
            </a:r>
          </a:p>
        </p:txBody>
      </p:sp>
      <p:sp>
        <p:nvSpPr>
          <p:cNvPr id="36" name="TextBox 35"/>
          <p:cNvSpPr txBox="1"/>
          <p:nvPr/>
        </p:nvSpPr>
        <p:spPr>
          <a:xfrm>
            <a:off x="9061450" y="5111750"/>
            <a:ext cx="2108200" cy="240284"/>
          </a:xfrm>
          <a:prstGeom prst="rect">
            <a:avLst/>
          </a:prstGeom>
          <a:noFill/>
        </p:spPr>
        <p:txBody>
          <a:bodyPr wrap="square" anchor="t" lIns="0" rIns="0" tIns="0" bIns="0">
            <a:spAutoFit/>
          </a:bodyPr>
          <a:lstStyle/>
          <a:p>
            <a:pPr algn="l">
              <a:lnSpc>
                <a:spcPct val="142000"/>
              </a:lnSpc>
              <a:spcAft>
                <a:spcPts val="0"/>
              </a:spcAft>
            </a:pPr>
            <a:r>
              <a:rPr sz="860" b="0">
                <a:solidFill>
                  <a:srgbClr val="8A849B"/>
                </a:solidFill>
                <a:latin typeface="Inter"/>
              </a:rPr>
              <a:t>A PDF goes out, the link is lost, versions drift. The employer opens the oldest one.</a:t>
            </a:r>
          </a:p>
        </p:txBody>
      </p:sp>
      <p:sp>
        <p:nvSpPr>
          <p:cNvPr id="37" name="TextBox 36"/>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38" name="TextBox 37"/>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FF09"/>
        </a:solidFill>
        <a:effectLst/>
      </p:bgPr>
    </p:bg>
    <p:spTree>
      <p:nvGrpSpPr>
        <p:cNvPr id="1" name=""/>
        <p:cNvGrpSpPr/>
        <p:nvPr/>
      </p:nvGrpSpPr>
      <p:grpSpPr/>
      <p:sp>
        <p:nvSpPr>
          <p:cNvPr id="2" name="TextBox 1"/>
          <p:cNvSpPr txBox="1"/>
          <p:nvPr/>
        </p:nvSpPr>
        <p:spPr>
          <a:xfrm>
            <a:off x="812800" y="2235200"/>
            <a:ext cx="10160000" cy="1341120"/>
          </a:xfrm>
          <a:prstGeom prst="rect">
            <a:avLst/>
          </a:prstGeom>
          <a:noFill/>
        </p:spPr>
        <p:txBody>
          <a:bodyPr wrap="square" anchor="t" lIns="0" rIns="0" tIns="0" bIns="0">
            <a:spAutoFit/>
          </a:bodyPr>
          <a:lstStyle/>
          <a:p>
            <a:pPr algn="l">
              <a:lnSpc>
                <a:spcPct val="104000"/>
              </a:lnSpc>
              <a:spcAft>
                <a:spcPts val="0"/>
              </a:spcAft>
            </a:pPr>
            <a:r>
              <a:rPr sz="4800" b="1" spc="-160">
                <a:solidFill>
                  <a:srgbClr val="0E0A1B"/>
                </a:solidFill>
                <a:latin typeface="Space Grotesk"/>
              </a:rPr>
              <a:t>One tap —</a:t>
            </a:r>
          </a:p>
          <a:p>
            <a:pPr algn="l">
              <a:lnSpc>
                <a:spcPct val="104000"/>
              </a:lnSpc>
              <a:spcAft>
                <a:spcPts val="0"/>
              </a:spcAft>
            </a:pPr>
            <a:r>
              <a:rPr sz="4800" b="1" spc="-160">
                <a:solidFill>
                  <a:srgbClr val="0E0A1B"/>
                </a:solidFill>
                <a:latin typeface="Space Grotesk"/>
              </a:rPr>
              <a:t>and the page opens.</a:t>
            </a:r>
          </a:p>
        </p:txBody>
      </p:sp>
      <p:sp>
        <p:nvSpPr>
          <p:cNvPr id="3" name="TextBox 2"/>
          <p:cNvSpPr txBox="1"/>
          <p:nvPr/>
        </p:nvSpPr>
        <p:spPr>
          <a:xfrm>
            <a:off x="812800" y="4064000"/>
            <a:ext cx="6858000" cy="363220"/>
          </a:xfrm>
          <a:prstGeom prst="rect">
            <a:avLst/>
          </a:prstGeom>
          <a:noFill/>
        </p:spPr>
        <p:txBody>
          <a:bodyPr wrap="square" anchor="t" lIns="0" rIns="0" tIns="0" bIns="0">
            <a:spAutoFit/>
          </a:bodyPr>
          <a:lstStyle/>
          <a:p>
            <a:pPr algn="l">
              <a:lnSpc>
                <a:spcPct val="150000"/>
              </a:lnSpc>
              <a:spcAft>
                <a:spcPts val="0"/>
              </a:spcAft>
            </a:pPr>
            <a:r>
              <a:rPr sz="1300" b="0">
                <a:solidFill>
                  <a:srgbClr val="5A5566"/>
                </a:solidFill>
                <a:latin typeface="Inter"/>
              </a:rPr>
              <a:t>Nothing to install. Nothing to sign up for. The guest taps their own phone, and that is the whole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THE ANSWER</a:t>
            </a:r>
          </a:p>
        </p:txBody>
      </p:sp>
      <p:sp>
        <p:nvSpPr>
          <p:cNvPr id="4" name="TextBox 3"/>
          <p:cNvSpPr txBox="1"/>
          <p:nvPr/>
        </p:nvSpPr>
        <p:spPr>
          <a:xfrm>
            <a:off x="812800" y="889000"/>
            <a:ext cx="5461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One number, one object,</a:t>
            </a:r>
          </a:p>
          <a:p>
            <a:pPr algn="l">
              <a:lnSpc>
                <a:spcPct val="106000"/>
              </a:lnSpc>
              <a:spcAft>
                <a:spcPts val="0"/>
              </a:spcAft>
            </a:pPr>
            <a:r>
              <a:rPr sz="3000" b="1" spc="-60">
                <a:solidFill>
                  <a:srgbClr val="0E0A1B"/>
                </a:solidFill>
                <a:latin typeface="Space Grotesk"/>
              </a:rPr>
              <a:t>eight situations.</a:t>
            </a:r>
          </a:p>
        </p:txBody>
      </p:sp>
      <p:sp>
        <p:nvSpPr>
          <p:cNvPr id="5" name="TextBox 4"/>
          <p:cNvSpPr txBox="1"/>
          <p:nvPr/>
        </p:nvSpPr>
        <p:spPr>
          <a:xfrm>
            <a:off x="6604000" y="990600"/>
            <a:ext cx="4775200" cy="293370"/>
          </a:xfrm>
          <a:prstGeom prst="rect">
            <a:avLst/>
          </a:prstGeom>
          <a:noFill/>
        </p:spPr>
        <p:txBody>
          <a:bodyPr wrap="square" anchor="t" lIns="0" rIns="0" tIns="0" bIns="0">
            <a:spAutoFit/>
          </a:bodyPr>
          <a:lstStyle/>
          <a:p>
            <a:pPr algn="l">
              <a:lnSpc>
                <a:spcPct val="150000"/>
              </a:lnSpc>
              <a:spcAft>
                <a:spcPts val="0"/>
              </a:spcAft>
            </a:pPr>
            <a:r>
              <a:rPr sz="1050" b="0">
                <a:solidFill>
                  <a:srgbClr val="5A5566"/>
                </a:solidFill>
                <a:latin typeface="Inter"/>
              </a:rPr>
              <a:t>Every one of them is solved the same way: the phone touches an NFC object or reads a QR code, and the page for that situation opens. Nothing is installed.</a:t>
            </a:r>
          </a:p>
        </p:txBody>
      </p:sp>
      <p:sp>
        <p:nvSpPr>
          <p:cNvPr id="6" name="Rectangle 5"/>
          <p:cNvSpPr/>
          <p:nvPr/>
        </p:nvSpPr>
        <p:spPr>
          <a:xfrm>
            <a:off x="812800" y="28067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2800" y="23114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Paper details</a:t>
            </a:r>
          </a:p>
        </p:txBody>
      </p:sp>
      <p:sp>
        <p:nvSpPr>
          <p:cNvPr id="8" name="TextBox 7"/>
          <p:cNvSpPr txBox="1"/>
          <p:nvPr/>
        </p:nvSpPr>
        <p:spPr>
          <a:xfrm>
            <a:off x="2844800" y="23114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The details are on the page, with a copy button, spelled right</a:t>
            </a:r>
          </a:p>
        </p:txBody>
      </p:sp>
      <p:sp>
        <p:nvSpPr>
          <p:cNvPr id="9" name="Rectangle 8"/>
          <p:cNvSpPr/>
          <p:nvPr/>
        </p:nvSpPr>
        <p:spPr>
          <a:xfrm>
            <a:off x="6299200" y="28067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99200" y="23114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No number in the windscreen</a:t>
            </a:r>
          </a:p>
        </p:txBody>
      </p:sp>
      <p:sp>
        <p:nvSpPr>
          <p:cNvPr id="11" name="TextBox 10"/>
          <p:cNvSpPr txBox="1"/>
          <p:nvPr/>
        </p:nvSpPr>
        <p:spPr>
          <a:xfrm>
            <a:off x="8331200" y="23114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Car tag: a tap reaches you by call or message</a:t>
            </a:r>
          </a:p>
        </p:txBody>
      </p:sp>
      <p:sp>
        <p:nvSpPr>
          <p:cNvPr id="12" name="Rectangle 11"/>
          <p:cNvSpPr/>
          <p:nvPr/>
        </p:nvSpPr>
        <p:spPr>
          <a:xfrm>
            <a:off x="812800" y="34671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2800" y="29718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A pet goes missing</a:t>
            </a:r>
          </a:p>
        </p:txBody>
      </p:sp>
      <p:sp>
        <p:nvSpPr>
          <p:cNvPr id="14" name="TextBox 13"/>
          <p:cNvSpPr txBox="1"/>
          <p:nvPr/>
        </p:nvSpPr>
        <p:spPr>
          <a:xfrm>
            <a:off x="2844800" y="29718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Collar tag: whoever finds it opens the owner's page</a:t>
            </a:r>
          </a:p>
        </p:txBody>
      </p:sp>
      <p:sp>
        <p:nvSpPr>
          <p:cNvPr id="15" name="Rectangle 14"/>
          <p:cNvSpPr/>
          <p:nvPr/>
        </p:nvSpPr>
        <p:spPr>
          <a:xfrm>
            <a:off x="6299200" y="34671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99200" y="29718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Keys and things</a:t>
            </a:r>
          </a:p>
        </p:txBody>
      </p:sp>
      <p:sp>
        <p:nvSpPr>
          <p:cNvPr id="17" name="TextBox 16"/>
          <p:cNvSpPr txBox="1"/>
          <p:nvPr/>
        </p:nvSpPr>
        <p:spPr>
          <a:xfrm>
            <a:off x="8331200" y="29718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Object tag: what is found gets back to whom it belongs</a:t>
            </a:r>
          </a:p>
        </p:txBody>
      </p:sp>
      <p:sp>
        <p:nvSpPr>
          <p:cNvPr id="18" name="Rectangle 17"/>
          <p:cNvSpPr/>
          <p:nvPr/>
        </p:nvSpPr>
        <p:spPr>
          <a:xfrm>
            <a:off x="812800" y="41275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12800" y="36322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Card numbers</a:t>
            </a:r>
          </a:p>
        </p:txBody>
      </p:sp>
      <p:sp>
        <p:nvSpPr>
          <p:cNvPr id="20" name="TextBox 19"/>
          <p:cNvSpPr txBox="1"/>
          <p:nvPr/>
        </p:nvSpPr>
        <p:spPr>
          <a:xfrm>
            <a:off x="2844800" y="36322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A payment page through Payme — no number is read out</a:t>
            </a:r>
          </a:p>
        </p:txBody>
      </p:sp>
      <p:sp>
        <p:nvSpPr>
          <p:cNvPr id="21" name="Rectangle 20"/>
          <p:cNvSpPr/>
          <p:nvPr/>
        </p:nvSpPr>
        <p:spPr>
          <a:xfrm>
            <a:off x="6299200" y="41275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99200" y="36322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Exchanging at a meeting</a:t>
            </a:r>
          </a:p>
        </p:txBody>
      </p:sp>
      <p:sp>
        <p:nvSpPr>
          <p:cNvPr id="23" name="TextBox 22"/>
          <p:cNvSpPr txBox="1"/>
          <p:nvPr/>
        </p:nvSpPr>
        <p:spPr>
          <a:xfrm>
            <a:off x="8331200" y="36322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One tap and the contact is saved to the phone</a:t>
            </a:r>
          </a:p>
        </p:txBody>
      </p:sp>
      <p:sp>
        <p:nvSpPr>
          <p:cNvPr id="24" name="Rectangle 23"/>
          <p:cNvSpPr/>
          <p:nvPr/>
        </p:nvSpPr>
        <p:spPr>
          <a:xfrm>
            <a:off x="812800" y="47879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2800" y="42926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Building a brand</a:t>
            </a:r>
          </a:p>
        </p:txBody>
      </p:sp>
      <p:sp>
        <p:nvSpPr>
          <p:cNvPr id="26" name="TextBox 25"/>
          <p:cNvSpPr txBox="1"/>
          <p:nvPr/>
        </p:nvSpPr>
        <p:spPr>
          <a:xfrm>
            <a:off x="2844800" y="42926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The page is yours and it stays on the customer's phone</a:t>
            </a:r>
          </a:p>
        </p:txBody>
      </p:sp>
      <p:sp>
        <p:nvSpPr>
          <p:cNvPr id="27" name="Rectangle 26"/>
          <p:cNvSpPr/>
          <p:nvPr/>
        </p:nvSpPr>
        <p:spPr>
          <a:xfrm>
            <a:off x="6299200" y="4787900"/>
            <a:ext cx="5080000" cy="9525"/>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99200" y="4292600"/>
            <a:ext cx="1905000" cy="279400"/>
          </a:xfrm>
          <a:prstGeom prst="rect">
            <a:avLst/>
          </a:prstGeom>
          <a:noFill/>
        </p:spPr>
        <p:txBody>
          <a:bodyPr wrap="square" anchor="t" lIns="0" rIns="0" tIns="0" bIns="0">
            <a:spAutoFit/>
          </a:bodyPr>
          <a:lstStyle/>
          <a:p>
            <a:pPr algn="l">
              <a:lnSpc>
                <a:spcPct val="125000"/>
              </a:lnSpc>
              <a:spcAft>
                <a:spcPts val="0"/>
              </a:spcAft>
            </a:pPr>
            <a:r>
              <a:rPr sz="1000" b="1">
                <a:solidFill>
                  <a:srgbClr val="0E0A1B"/>
                </a:solidFill>
                <a:latin typeface="Space Grotesk"/>
              </a:rPr>
              <a:t>Sending a CV</a:t>
            </a:r>
          </a:p>
        </p:txBody>
      </p:sp>
      <p:sp>
        <p:nvSpPr>
          <p:cNvPr id="29" name="TextBox 28"/>
          <p:cNvSpPr txBox="1"/>
          <p:nvPr/>
        </p:nvSpPr>
        <p:spPr>
          <a:xfrm>
            <a:off x="8331200" y="4292600"/>
            <a:ext cx="3048000" cy="268224"/>
          </a:xfrm>
          <a:prstGeom prst="rect">
            <a:avLst/>
          </a:prstGeom>
          <a:noFill/>
        </p:spPr>
        <p:txBody>
          <a:bodyPr wrap="square" anchor="t" lIns="0" rIns="0" tIns="0" bIns="0">
            <a:spAutoFit/>
          </a:bodyPr>
          <a:lstStyle/>
          <a:p>
            <a:pPr algn="l">
              <a:lnSpc>
                <a:spcPct val="135000"/>
              </a:lnSpc>
              <a:spcAft>
                <a:spcPts val="0"/>
              </a:spcAft>
            </a:pPr>
            <a:r>
              <a:rPr sz="960" b="0">
                <a:solidFill>
                  <a:srgbClr val="5A5566"/>
                </a:solidFill>
                <a:latin typeface="Inter"/>
              </a:rPr>
              <a:t>One link, always the latest version</a:t>
            </a:r>
          </a:p>
        </p:txBody>
      </p:sp>
      <p:sp>
        <p:nvSpPr>
          <p:cNvPr id="30" name="TextBox 29"/>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31" name="TextBox 30"/>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OUR DEVICES</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Something you can hold.</a:t>
            </a:r>
          </a:p>
        </p:txBody>
      </p:sp>
      <p:sp>
        <p:nvSpPr>
          <p:cNvPr id="5" name="Rounded Rectangle 4"/>
          <p:cNvSpPr/>
          <p:nvPr/>
        </p:nvSpPr>
        <p:spPr>
          <a:xfrm>
            <a:off x="812800" y="21844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karta.jpg"/>
          <p:cNvPicPr>
            <a:picLocks noChangeAspect="1"/>
          </p:cNvPicPr>
          <p:nvPr/>
        </p:nvPicPr>
        <p:blipFill>
          <a:blip r:embed="rId2"/>
          <a:stretch>
            <a:fillRect/>
          </a:stretch>
        </p:blipFill>
        <p:spPr>
          <a:xfrm>
            <a:off x="1060450" y="2260600"/>
            <a:ext cx="2032000" cy="1016000"/>
          </a:xfrm>
          <a:prstGeom prst="rect">
            <a:avLst/>
          </a:prstGeom>
        </p:spPr>
      </p:pic>
      <p:sp>
        <p:nvSpPr>
          <p:cNvPr id="7" name="TextBox 6"/>
          <p:cNvSpPr txBox="1"/>
          <p:nvPr/>
        </p:nvSpPr>
        <p:spPr>
          <a:xfrm>
            <a:off x="990600" y="33909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Card</a:t>
            </a:r>
          </a:p>
        </p:txBody>
      </p:sp>
      <p:sp>
        <p:nvSpPr>
          <p:cNvPr id="8" name="TextBox 7"/>
          <p:cNvSpPr txBox="1"/>
          <p:nvPr/>
        </p:nvSpPr>
        <p:spPr>
          <a:xfrm>
            <a:off x="990600" y="36068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In a pocket, in a wallet</a:t>
            </a:r>
          </a:p>
        </p:txBody>
      </p:sp>
      <p:sp>
        <p:nvSpPr>
          <p:cNvPr id="9" name="TextBox 8"/>
          <p:cNvSpPr txBox="1"/>
          <p:nvPr/>
        </p:nvSpPr>
        <p:spPr>
          <a:xfrm>
            <a:off x="990600" y="38735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200,000 UZS</a:t>
            </a:r>
          </a:p>
        </p:txBody>
      </p:sp>
      <p:sp>
        <p:nvSpPr>
          <p:cNvPr id="10" name="Rounded Rectangle 9"/>
          <p:cNvSpPr/>
          <p:nvPr/>
        </p:nvSpPr>
        <p:spPr>
          <a:xfrm>
            <a:off x="3492500" y="21844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zuk.jpg"/>
          <p:cNvPicPr>
            <a:picLocks noChangeAspect="1"/>
          </p:cNvPicPr>
          <p:nvPr/>
        </p:nvPicPr>
        <p:blipFill>
          <a:blip r:embed="rId3"/>
          <a:stretch>
            <a:fillRect/>
          </a:stretch>
        </p:blipFill>
        <p:spPr>
          <a:xfrm>
            <a:off x="3740150" y="2260600"/>
            <a:ext cx="2032000" cy="1016000"/>
          </a:xfrm>
          <a:prstGeom prst="rect">
            <a:avLst/>
          </a:prstGeom>
        </p:spPr>
      </p:pic>
      <p:sp>
        <p:nvSpPr>
          <p:cNvPr id="12" name="TextBox 11"/>
          <p:cNvSpPr txBox="1"/>
          <p:nvPr/>
        </p:nvSpPr>
        <p:spPr>
          <a:xfrm>
            <a:off x="3670300" y="33909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Ring</a:t>
            </a:r>
          </a:p>
        </p:txBody>
      </p:sp>
      <p:sp>
        <p:nvSpPr>
          <p:cNvPr id="13" name="TextBox 12"/>
          <p:cNvSpPr txBox="1"/>
          <p:nvPr/>
        </p:nvSpPr>
        <p:spPr>
          <a:xfrm>
            <a:off x="3670300" y="36068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a hand, always with you</a:t>
            </a:r>
          </a:p>
        </p:txBody>
      </p:sp>
      <p:sp>
        <p:nvSpPr>
          <p:cNvPr id="14" name="TextBox 13"/>
          <p:cNvSpPr txBox="1"/>
          <p:nvPr/>
        </p:nvSpPr>
        <p:spPr>
          <a:xfrm>
            <a:off x="3670300" y="38735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350,000 UZS</a:t>
            </a:r>
          </a:p>
        </p:txBody>
      </p:sp>
      <p:sp>
        <p:nvSpPr>
          <p:cNvPr id="15" name="Rounded Rectangle 14"/>
          <p:cNvSpPr/>
          <p:nvPr/>
        </p:nvSpPr>
        <p:spPr>
          <a:xfrm>
            <a:off x="6172200" y="21844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raslet.jpg"/>
          <p:cNvPicPr>
            <a:picLocks noChangeAspect="1"/>
          </p:cNvPicPr>
          <p:nvPr/>
        </p:nvPicPr>
        <p:blipFill>
          <a:blip r:embed="rId4"/>
          <a:stretch>
            <a:fillRect/>
          </a:stretch>
        </p:blipFill>
        <p:spPr>
          <a:xfrm>
            <a:off x="6419850" y="2260600"/>
            <a:ext cx="2032000" cy="1016000"/>
          </a:xfrm>
          <a:prstGeom prst="rect">
            <a:avLst/>
          </a:prstGeom>
        </p:spPr>
      </p:pic>
      <p:sp>
        <p:nvSpPr>
          <p:cNvPr id="17" name="TextBox 16"/>
          <p:cNvSpPr txBox="1"/>
          <p:nvPr/>
        </p:nvSpPr>
        <p:spPr>
          <a:xfrm>
            <a:off x="6350000" y="33909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Bracelet</a:t>
            </a:r>
          </a:p>
        </p:txBody>
      </p:sp>
      <p:sp>
        <p:nvSpPr>
          <p:cNvPr id="18" name="TextBox 17"/>
          <p:cNvSpPr txBox="1"/>
          <p:nvPr/>
        </p:nvSpPr>
        <p:spPr>
          <a:xfrm>
            <a:off x="6350000" y="36068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a wrist, for events</a:t>
            </a:r>
          </a:p>
        </p:txBody>
      </p:sp>
      <p:sp>
        <p:nvSpPr>
          <p:cNvPr id="19" name="TextBox 18"/>
          <p:cNvSpPr txBox="1"/>
          <p:nvPr/>
        </p:nvSpPr>
        <p:spPr>
          <a:xfrm>
            <a:off x="6350000" y="38735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250,000 UZS</a:t>
            </a:r>
          </a:p>
        </p:txBody>
      </p:sp>
      <p:sp>
        <p:nvSpPr>
          <p:cNvPr id="20" name="Rounded Rectangle 19"/>
          <p:cNvSpPr/>
          <p:nvPr/>
        </p:nvSpPr>
        <p:spPr>
          <a:xfrm>
            <a:off x="8851900" y="21844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avtovizitka.jpg"/>
          <p:cNvPicPr>
            <a:picLocks noChangeAspect="1"/>
          </p:cNvPicPr>
          <p:nvPr/>
        </p:nvPicPr>
        <p:blipFill>
          <a:blip r:embed="rId5"/>
          <a:srcRect t="15027" b="15027"/>
          <a:stretch>
            <a:fillRect/>
          </a:stretch>
        </p:blipFill>
        <p:spPr>
          <a:xfrm>
            <a:off x="8953500" y="2286000"/>
            <a:ext cx="2324100" cy="914400"/>
          </a:xfrm>
          <a:prstGeom prst="rect">
            <a:avLst/>
          </a:prstGeom>
        </p:spPr>
      </p:pic>
      <p:sp>
        <p:nvSpPr>
          <p:cNvPr id="22" name="TextBox 21"/>
          <p:cNvSpPr txBox="1"/>
          <p:nvPr/>
        </p:nvSpPr>
        <p:spPr>
          <a:xfrm>
            <a:off x="9029700" y="33909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Car card</a:t>
            </a:r>
          </a:p>
        </p:txBody>
      </p:sp>
      <p:sp>
        <p:nvSpPr>
          <p:cNvPr id="23" name="TextBox 22"/>
          <p:cNvSpPr txBox="1"/>
          <p:nvPr/>
        </p:nvSpPr>
        <p:spPr>
          <a:xfrm>
            <a:off x="9029700" y="36068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the windscreen</a:t>
            </a:r>
          </a:p>
        </p:txBody>
      </p:sp>
      <p:sp>
        <p:nvSpPr>
          <p:cNvPr id="24" name="TextBox 23"/>
          <p:cNvSpPr txBox="1"/>
          <p:nvPr/>
        </p:nvSpPr>
        <p:spPr>
          <a:xfrm>
            <a:off x="9029700" y="38735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On request</a:t>
            </a:r>
          </a:p>
        </p:txBody>
      </p:sp>
      <p:sp>
        <p:nvSpPr>
          <p:cNvPr id="25" name="Rounded Rectangle 24"/>
          <p:cNvSpPr/>
          <p:nvPr/>
        </p:nvSpPr>
        <p:spPr>
          <a:xfrm>
            <a:off x="812800" y="43307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hayvon-teg.jpg"/>
          <p:cNvPicPr>
            <a:picLocks noChangeAspect="1"/>
          </p:cNvPicPr>
          <p:nvPr/>
        </p:nvPicPr>
        <p:blipFill>
          <a:blip r:embed="rId6"/>
          <a:srcRect t="47330" b="7705"/>
          <a:stretch>
            <a:fillRect/>
          </a:stretch>
        </p:blipFill>
        <p:spPr>
          <a:xfrm>
            <a:off x="914400" y="4432300"/>
            <a:ext cx="2324100" cy="914400"/>
          </a:xfrm>
          <a:prstGeom prst="rect">
            <a:avLst/>
          </a:prstGeom>
        </p:spPr>
      </p:pic>
      <p:sp>
        <p:nvSpPr>
          <p:cNvPr id="27" name="TextBox 26"/>
          <p:cNvSpPr txBox="1"/>
          <p:nvPr/>
        </p:nvSpPr>
        <p:spPr>
          <a:xfrm>
            <a:off x="990600" y="55372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Pet tag</a:t>
            </a:r>
          </a:p>
        </p:txBody>
      </p:sp>
      <p:sp>
        <p:nvSpPr>
          <p:cNvPr id="28" name="TextBox 27"/>
          <p:cNvSpPr txBox="1"/>
          <p:nvPr/>
        </p:nvSpPr>
        <p:spPr>
          <a:xfrm>
            <a:off x="990600" y="57531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the collar — found means reachable</a:t>
            </a:r>
          </a:p>
        </p:txBody>
      </p:sp>
      <p:sp>
        <p:nvSpPr>
          <p:cNvPr id="29" name="TextBox 28"/>
          <p:cNvSpPr txBox="1"/>
          <p:nvPr/>
        </p:nvSpPr>
        <p:spPr>
          <a:xfrm>
            <a:off x="990600" y="60198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On request</a:t>
            </a:r>
          </a:p>
        </p:txBody>
      </p:sp>
      <p:sp>
        <p:nvSpPr>
          <p:cNvPr id="30" name="Rounded Rectangle 29"/>
          <p:cNvSpPr/>
          <p:nvPr/>
        </p:nvSpPr>
        <p:spPr>
          <a:xfrm>
            <a:off x="3492500" y="43307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buyum-teg.jpg"/>
          <p:cNvPicPr>
            <a:picLocks noChangeAspect="1"/>
          </p:cNvPicPr>
          <p:nvPr/>
        </p:nvPicPr>
        <p:blipFill>
          <a:blip r:embed="rId7"/>
          <a:srcRect t="26993" b="22085"/>
          <a:stretch>
            <a:fillRect/>
          </a:stretch>
        </p:blipFill>
        <p:spPr>
          <a:xfrm>
            <a:off x="3594100" y="4432300"/>
            <a:ext cx="2324100" cy="914400"/>
          </a:xfrm>
          <a:prstGeom prst="rect">
            <a:avLst/>
          </a:prstGeom>
        </p:spPr>
      </p:pic>
      <p:sp>
        <p:nvSpPr>
          <p:cNvPr id="32" name="TextBox 31"/>
          <p:cNvSpPr txBox="1"/>
          <p:nvPr/>
        </p:nvSpPr>
        <p:spPr>
          <a:xfrm>
            <a:off x="3670300" y="55372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Object tag</a:t>
            </a:r>
          </a:p>
        </p:txBody>
      </p:sp>
      <p:sp>
        <p:nvSpPr>
          <p:cNvPr id="33" name="TextBox 32"/>
          <p:cNvSpPr txBox="1"/>
          <p:nvPr/>
        </p:nvSpPr>
        <p:spPr>
          <a:xfrm>
            <a:off x="3670300" y="57531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keys, a bag, a suitcase</a:t>
            </a:r>
          </a:p>
        </p:txBody>
      </p:sp>
      <p:sp>
        <p:nvSpPr>
          <p:cNvPr id="34" name="TextBox 33"/>
          <p:cNvSpPr txBox="1"/>
          <p:nvPr/>
        </p:nvSpPr>
        <p:spPr>
          <a:xfrm>
            <a:off x="3670300" y="60198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On request</a:t>
            </a:r>
          </a:p>
        </p:txBody>
      </p:sp>
      <p:sp>
        <p:nvSpPr>
          <p:cNvPr id="35" name="Rounded Rectangle 34"/>
          <p:cNvSpPr/>
          <p:nvPr/>
        </p:nvSpPr>
        <p:spPr>
          <a:xfrm>
            <a:off x="6172200" y="43307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tend2.jpg"/>
          <p:cNvPicPr>
            <a:picLocks noChangeAspect="1"/>
          </p:cNvPicPr>
          <p:nvPr/>
        </p:nvPicPr>
        <p:blipFill>
          <a:blip r:embed="rId8"/>
          <a:srcRect t="32475" b="32475"/>
          <a:stretch>
            <a:fillRect/>
          </a:stretch>
        </p:blipFill>
        <p:spPr>
          <a:xfrm>
            <a:off x="6273800" y="4432300"/>
            <a:ext cx="2324100" cy="914400"/>
          </a:xfrm>
          <a:prstGeom prst="rect">
            <a:avLst/>
          </a:prstGeom>
        </p:spPr>
      </p:pic>
      <p:sp>
        <p:nvSpPr>
          <p:cNvPr id="37" name="TextBox 36"/>
          <p:cNvSpPr txBox="1"/>
          <p:nvPr/>
        </p:nvSpPr>
        <p:spPr>
          <a:xfrm>
            <a:off x="6350000" y="55372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Table unit</a:t>
            </a:r>
          </a:p>
        </p:txBody>
      </p:sp>
      <p:sp>
        <p:nvSpPr>
          <p:cNvPr id="38" name="TextBox 37"/>
          <p:cNvSpPr txBox="1"/>
          <p:nvPr/>
        </p:nvSpPr>
        <p:spPr>
          <a:xfrm>
            <a:off x="6350000" y="57531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On a cafe, salon or clinic table</a:t>
            </a:r>
          </a:p>
        </p:txBody>
      </p:sp>
      <p:sp>
        <p:nvSpPr>
          <p:cNvPr id="39" name="TextBox 38"/>
          <p:cNvSpPr txBox="1"/>
          <p:nvPr/>
        </p:nvSpPr>
        <p:spPr>
          <a:xfrm>
            <a:off x="6350000" y="60198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In the venue plan</a:t>
            </a:r>
          </a:p>
        </p:txBody>
      </p:sp>
      <p:sp>
        <p:nvSpPr>
          <p:cNvPr id="40" name="Rounded Rectangle 39"/>
          <p:cNvSpPr/>
          <p:nvPr/>
        </p:nvSpPr>
        <p:spPr>
          <a:xfrm>
            <a:off x="8851900" y="4330700"/>
            <a:ext cx="2527300" cy="1993900"/>
          </a:xfrm>
          <a:prstGeom prst="roundRect">
            <a:avLst>
              <a:gd name="adj" fmla="val 8917"/>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konsyerj.jpg"/>
          <p:cNvPicPr>
            <a:picLocks noChangeAspect="1"/>
          </p:cNvPicPr>
          <p:nvPr/>
        </p:nvPicPr>
        <p:blipFill>
          <a:blip r:embed="rId9"/>
          <a:srcRect t="24854" b="24854"/>
          <a:stretch>
            <a:fillRect/>
          </a:stretch>
        </p:blipFill>
        <p:spPr>
          <a:xfrm>
            <a:off x="8953500" y="4432300"/>
            <a:ext cx="2324100" cy="914400"/>
          </a:xfrm>
          <a:prstGeom prst="rect">
            <a:avLst/>
          </a:prstGeom>
        </p:spPr>
      </p:pic>
      <p:sp>
        <p:nvSpPr>
          <p:cNvPr id="42" name="TextBox 41"/>
          <p:cNvSpPr txBox="1"/>
          <p:nvPr/>
        </p:nvSpPr>
        <p:spPr>
          <a:xfrm>
            <a:off x="9029700" y="5537200"/>
            <a:ext cx="2197100" cy="307340"/>
          </a:xfrm>
          <a:prstGeom prst="rect">
            <a:avLst/>
          </a:prstGeom>
          <a:noFill/>
        </p:spPr>
        <p:txBody>
          <a:bodyPr wrap="square" anchor="t" lIns="0" rIns="0" tIns="0" bIns="0">
            <a:spAutoFit/>
          </a:bodyPr>
          <a:lstStyle/>
          <a:p>
            <a:pPr algn="l">
              <a:lnSpc>
                <a:spcPct val="135000"/>
              </a:lnSpc>
              <a:spcAft>
                <a:spcPts val="0"/>
              </a:spcAft>
            </a:pPr>
            <a:r>
              <a:rPr sz="1100" b="1">
                <a:solidFill>
                  <a:srgbClr val="0E0A1B"/>
                </a:solidFill>
                <a:latin typeface="Space Grotesk"/>
              </a:rPr>
              <a:t>Concierge plate</a:t>
            </a:r>
          </a:p>
        </p:txBody>
      </p:sp>
      <p:sp>
        <p:nvSpPr>
          <p:cNvPr id="43" name="TextBox 42"/>
          <p:cNvSpPr txBox="1"/>
          <p:nvPr/>
        </p:nvSpPr>
        <p:spPr>
          <a:xfrm>
            <a:off x="9029700" y="5753100"/>
            <a:ext cx="2197100" cy="223520"/>
          </a:xfrm>
          <a:prstGeom prst="rect">
            <a:avLst/>
          </a:prstGeom>
          <a:noFill/>
        </p:spPr>
        <p:txBody>
          <a:bodyPr wrap="square" anchor="t" lIns="0" rIns="0" tIns="0" bIns="0">
            <a:spAutoFit/>
          </a:bodyPr>
          <a:lstStyle/>
          <a:p>
            <a:pPr algn="l">
              <a:lnSpc>
                <a:spcPct val="135000"/>
              </a:lnSpc>
              <a:spcAft>
                <a:spcPts val="0"/>
              </a:spcAft>
            </a:pPr>
            <a:r>
              <a:rPr sz="800" b="0">
                <a:solidFill>
                  <a:srgbClr val="5A5566"/>
                </a:solidFill>
                <a:latin typeface="Inter"/>
              </a:rPr>
              <a:t>In a hotel room</a:t>
            </a:r>
          </a:p>
        </p:txBody>
      </p:sp>
      <p:sp>
        <p:nvSpPr>
          <p:cNvPr id="44" name="TextBox 43"/>
          <p:cNvSpPr txBox="1"/>
          <p:nvPr/>
        </p:nvSpPr>
        <p:spPr>
          <a:xfrm>
            <a:off x="9029700" y="6019800"/>
            <a:ext cx="2197100" cy="268224"/>
          </a:xfrm>
          <a:prstGeom prst="rect">
            <a:avLst/>
          </a:prstGeom>
          <a:noFill/>
        </p:spPr>
        <p:txBody>
          <a:bodyPr wrap="square" anchor="t" lIns="0" rIns="0" tIns="0" bIns="0">
            <a:spAutoFit/>
          </a:bodyPr>
          <a:lstStyle/>
          <a:p>
            <a:pPr algn="l">
              <a:lnSpc>
                <a:spcPct val="135000"/>
              </a:lnSpc>
              <a:spcAft>
                <a:spcPts val="0"/>
              </a:spcAft>
            </a:pPr>
            <a:r>
              <a:rPr sz="960" b="1">
                <a:solidFill>
                  <a:srgbClr val="4D7C0F"/>
                </a:solidFill>
                <a:latin typeface="Space Grotesk"/>
              </a:rPr>
              <a:t>In the venue plan</a:t>
            </a:r>
          </a:p>
        </p:txBody>
      </p:sp>
      <p:sp>
        <p:nvSpPr>
          <p:cNvPr id="45" name="TextBox 44"/>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46" name="TextBox 45"/>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WHAT IS DIFFERENT</a:t>
            </a:r>
          </a:p>
        </p:txBody>
      </p:sp>
      <p:sp>
        <p:nvSpPr>
          <p:cNvPr id="4" name="TextBox 3"/>
          <p:cNvSpPr txBox="1"/>
          <p:nvPr/>
        </p:nvSpPr>
        <p:spPr>
          <a:xfrm>
            <a:off x="812800" y="889000"/>
            <a:ext cx="5461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This is not an ordinary NFC card.</a:t>
            </a:r>
          </a:p>
        </p:txBody>
      </p:sp>
      <p:sp>
        <p:nvSpPr>
          <p:cNvPr id="5" name="TextBox 4"/>
          <p:cNvSpPr txBox="1"/>
          <p:nvPr/>
        </p:nvSpPr>
        <p:spPr>
          <a:xfrm>
            <a:off x="6604000" y="990600"/>
            <a:ext cx="4775200" cy="293370"/>
          </a:xfrm>
          <a:prstGeom prst="rect">
            <a:avLst/>
          </a:prstGeom>
          <a:noFill/>
        </p:spPr>
        <p:txBody>
          <a:bodyPr wrap="square" anchor="t" lIns="0" rIns="0" tIns="0" bIns="0">
            <a:spAutoFit/>
          </a:bodyPr>
          <a:lstStyle/>
          <a:p>
            <a:pPr algn="l">
              <a:lnSpc>
                <a:spcPct val="150000"/>
              </a:lnSpc>
              <a:spcAft>
                <a:spcPts val="0"/>
              </a:spcAft>
            </a:pPr>
            <a:r>
              <a:rPr sz="1050" b="0">
                <a:solidFill>
                  <a:srgbClr val="8A849B"/>
                </a:solidFill>
                <a:latin typeface="Inter"/>
              </a:rPr>
              <a:t>There are plenty of NFC cards. The difference is not the card — it is what stands behind it.</a:t>
            </a:r>
          </a:p>
        </p:txBody>
      </p:sp>
      <p:sp>
        <p:nvSpPr>
          <p:cNvPr id="6" name="Rounded Rectangle 5"/>
          <p:cNvSpPr/>
          <p:nvPr/>
        </p:nvSpPr>
        <p:spPr>
          <a:xfrm>
            <a:off x="812800" y="198120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sparkles-lime.png"/>
          <p:cNvPicPr>
            <a:picLocks noChangeAspect="1"/>
          </p:cNvPicPr>
          <p:nvPr/>
        </p:nvPicPr>
        <p:blipFill>
          <a:blip r:embed="rId2"/>
          <a:stretch>
            <a:fillRect/>
          </a:stretch>
        </p:blipFill>
        <p:spPr>
          <a:xfrm>
            <a:off x="1041400" y="2171700"/>
            <a:ext cx="241300" cy="241300"/>
          </a:xfrm>
          <a:prstGeom prst="rect">
            <a:avLst/>
          </a:prstGeom>
        </p:spPr>
      </p:pic>
      <p:sp>
        <p:nvSpPr>
          <p:cNvPr id="8" name="TextBox 7"/>
          <p:cNvSpPr txBox="1"/>
          <p:nvPr/>
        </p:nvSpPr>
        <p:spPr>
          <a:xfrm>
            <a:off x="1041400" y="250190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The number is yours</a:t>
            </a:r>
          </a:p>
        </p:txBody>
      </p:sp>
      <p:sp>
        <p:nvSpPr>
          <p:cNvPr id="9" name="TextBox 8"/>
          <p:cNvSpPr txBox="1"/>
          <p:nvPr/>
        </p:nvSpPr>
        <p:spPr>
          <a:xfrm>
            <a:off x="1041400" y="281940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A unique number in the AAA000 format. A low serial cannot be reproduced — nobody else can print it.</a:t>
            </a:r>
          </a:p>
        </p:txBody>
      </p:sp>
      <p:sp>
        <p:nvSpPr>
          <p:cNvPr id="10" name="Rounded Rectangle 9"/>
          <p:cNvSpPr/>
          <p:nvPr/>
        </p:nvSpPr>
        <p:spPr>
          <a:xfrm>
            <a:off x="3486150" y="198120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oute-lime.png"/>
          <p:cNvPicPr>
            <a:picLocks noChangeAspect="1"/>
          </p:cNvPicPr>
          <p:nvPr/>
        </p:nvPicPr>
        <p:blipFill>
          <a:blip r:embed="rId3"/>
          <a:stretch>
            <a:fillRect/>
          </a:stretch>
        </p:blipFill>
        <p:spPr>
          <a:xfrm>
            <a:off x="3714750" y="2171700"/>
            <a:ext cx="241300" cy="241300"/>
          </a:xfrm>
          <a:prstGeom prst="rect">
            <a:avLst/>
          </a:prstGeom>
        </p:spPr>
      </p:pic>
      <p:sp>
        <p:nvSpPr>
          <p:cNvPr id="12" name="TextBox 11"/>
          <p:cNvSpPr txBox="1"/>
          <p:nvPr/>
        </p:nvSpPr>
        <p:spPr>
          <a:xfrm>
            <a:off x="3714750" y="250190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The page changes, the object does not</a:t>
            </a:r>
          </a:p>
        </p:txBody>
      </p:sp>
      <p:sp>
        <p:nvSpPr>
          <p:cNvPr id="13" name="TextBox 12"/>
          <p:cNvSpPr txBox="1"/>
          <p:nvPr/>
        </p:nvSpPr>
        <p:spPr>
          <a:xfrm>
            <a:off x="3714750" y="281940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New job, new number, new company: you edit the page. The card stays the card.</a:t>
            </a:r>
          </a:p>
        </p:txBody>
      </p:sp>
      <p:sp>
        <p:nvSpPr>
          <p:cNvPr id="14" name="Rounded Rectangle 13"/>
          <p:cNvSpPr/>
          <p:nvPr/>
        </p:nvSpPr>
        <p:spPr>
          <a:xfrm>
            <a:off x="6159500" y="198120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chart-column-lime.png"/>
          <p:cNvPicPr>
            <a:picLocks noChangeAspect="1"/>
          </p:cNvPicPr>
          <p:nvPr/>
        </p:nvPicPr>
        <p:blipFill>
          <a:blip r:embed="rId4"/>
          <a:stretch>
            <a:fillRect/>
          </a:stretch>
        </p:blipFill>
        <p:spPr>
          <a:xfrm>
            <a:off x="6388100" y="2171700"/>
            <a:ext cx="241300" cy="241300"/>
          </a:xfrm>
          <a:prstGeom prst="rect">
            <a:avLst/>
          </a:prstGeom>
        </p:spPr>
      </p:pic>
      <p:sp>
        <p:nvSpPr>
          <p:cNvPr id="16" name="TextBox 15"/>
          <p:cNvSpPr txBox="1"/>
          <p:nvPr/>
        </p:nvSpPr>
        <p:spPr>
          <a:xfrm>
            <a:off x="6388100" y="250190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Statistics</a:t>
            </a:r>
          </a:p>
        </p:txBody>
      </p:sp>
      <p:sp>
        <p:nvSpPr>
          <p:cNvPr id="17" name="TextBox 16"/>
          <p:cNvSpPr txBox="1"/>
          <p:nvPr/>
        </p:nvSpPr>
        <p:spPr>
          <a:xfrm>
            <a:off x="6388100" y="281940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How many times it opened, which link was pressed, on which day. A paper card never tells you.</a:t>
            </a:r>
          </a:p>
        </p:txBody>
      </p:sp>
      <p:sp>
        <p:nvSpPr>
          <p:cNvPr id="18" name="Rounded Rectangle 17"/>
          <p:cNvSpPr/>
          <p:nvPr/>
        </p:nvSpPr>
        <p:spPr>
          <a:xfrm>
            <a:off x="8832850" y="198120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languages-lime.png"/>
          <p:cNvPicPr>
            <a:picLocks noChangeAspect="1"/>
          </p:cNvPicPr>
          <p:nvPr/>
        </p:nvPicPr>
        <p:blipFill>
          <a:blip r:embed="rId5"/>
          <a:stretch>
            <a:fillRect/>
          </a:stretch>
        </p:blipFill>
        <p:spPr>
          <a:xfrm>
            <a:off x="9061450" y="2171700"/>
            <a:ext cx="241300" cy="241300"/>
          </a:xfrm>
          <a:prstGeom prst="rect">
            <a:avLst/>
          </a:prstGeom>
        </p:spPr>
      </p:pic>
      <p:sp>
        <p:nvSpPr>
          <p:cNvPr id="20" name="TextBox 19"/>
          <p:cNvSpPr txBox="1"/>
          <p:nvPr/>
        </p:nvSpPr>
        <p:spPr>
          <a:xfrm>
            <a:off x="9061450" y="250190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Three languages</a:t>
            </a:r>
          </a:p>
        </p:txBody>
      </p:sp>
      <p:sp>
        <p:nvSpPr>
          <p:cNvPr id="21" name="TextBox 20"/>
          <p:cNvSpPr txBox="1"/>
          <p:nvPr/>
        </p:nvSpPr>
        <p:spPr>
          <a:xfrm>
            <a:off x="9061450" y="281940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Uzbek, Russian, English. The guest reads it in their own.</a:t>
            </a:r>
          </a:p>
        </p:txBody>
      </p:sp>
      <p:sp>
        <p:nvSpPr>
          <p:cNvPr id="22" name="Rounded Rectangle 21"/>
          <p:cNvSpPr/>
          <p:nvPr/>
        </p:nvSpPr>
        <p:spPr>
          <a:xfrm>
            <a:off x="812800" y="371475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qr-code-lime.png"/>
          <p:cNvPicPr>
            <a:picLocks noChangeAspect="1"/>
          </p:cNvPicPr>
          <p:nvPr/>
        </p:nvPicPr>
        <p:blipFill>
          <a:blip r:embed="rId6"/>
          <a:stretch>
            <a:fillRect/>
          </a:stretch>
        </p:blipFill>
        <p:spPr>
          <a:xfrm>
            <a:off x="1041400" y="3905250"/>
            <a:ext cx="241300" cy="241300"/>
          </a:xfrm>
          <a:prstGeom prst="rect">
            <a:avLst/>
          </a:prstGeom>
        </p:spPr>
      </p:pic>
      <p:sp>
        <p:nvSpPr>
          <p:cNvPr id="24" name="TextBox 23"/>
          <p:cNvSpPr txBox="1"/>
          <p:nvPr/>
        </p:nvSpPr>
        <p:spPr>
          <a:xfrm>
            <a:off x="1041400" y="423545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NFC and QR together</a:t>
            </a:r>
          </a:p>
        </p:txBody>
      </p:sp>
      <p:sp>
        <p:nvSpPr>
          <p:cNvPr id="25" name="TextBox 24"/>
          <p:cNvSpPr txBox="1"/>
          <p:nvPr/>
        </p:nvSpPr>
        <p:spPr>
          <a:xfrm>
            <a:off x="1041400" y="455295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A phone without NFC still opens it. It works from a printed code.</a:t>
            </a:r>
          </a:p>
        </p:txBody>
      </p:sp>
      <p:sp>
        <p:nvSpPr>
          <p:cNvPr id="26" name="Rounded Rectangle 25"/>
          <p:cNvSpPr/>
          <p:nvPr/>
        </p:nvSpPr>
        <p:spPr>
          <a:xfrm>
            <a:off x="3486150" y="371475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redit-card-lime.png"/>
          <p:cNvPicPr>
            <a:picLocks noChangeAspect="1"/>
          </p:cNvPicPr>
          <p:nvPr/>
        </p:nvPicPr>
        <p:blipFill>
          <a:blip r:embed="rId7"/>
          <a:stretch>
            <a:fillRect/>
          </a:stretch>
        </p:blipFill>
        <p:spPr>
          <a:xfrm>
            <a:off x="3714750" y="3905250"/>
            <a:ext cx="241300" cy="241300"/>
          </a:xfrm>
          <a:prstGeom prst="rect">
            <a:avLst/>
          </a:prstGeom>
        </p:spPr>
      </p:pic>
      <p:sp>
        <p:nvSpPr>
          <p:cNvPr id="28" name="TextBox 27"/>
          <p:cNvSpPr txBox="1"/>
          <p:nvPr/>
        </p:nvSpPr>
        <p:spPr>
          <a:xfrm>
            <a:off x="3714750" y="423545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Local payment</a:t>
            </a:r>
          </a:p>
        </p:txBody>
      </p:sp>
      <p:sp>
        <p:nvSpPr>
          <p:cNvPr id="29" name="TextBox 28"/>
          <p:cNvSpPr txBox="1"/>
          <p:nvPr/>
        </p:nvSpPr>
        <p:spPr>
          <a:xfrm>
            <a:off x="3714750" y="455295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Payme is connected: subscriptions, invoices, expiry reminders.</a:t>
            </a:r>
          </a:p>
        </p:txBody>
      </p:sp>
      <p:sp>
        <p:nvSpPr>
          <p:cNvPr id="30" name="Rounded Rectangle 29"/>
          <p:cNvSpPr/>
          <p:nvPr/>
        </p:nvSpPr>
        <p:spPr>
          <a:xfrm>
            <a:off x="6159500" y="371475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store-lime.png"/>
          <p:cNvPicPr>
            <a:picLocks noChangeAspect="1"/>
          </p:cNvPicPr>
          <p:nvPr/>
        </p:nvPicPr>
        <p:blipFill>
          <a:blip r:embed="rId8"/>
          <a:stretch>
            <a:fillRect/>
          </a:stretch>
        </p:blipFill>
        <p:spPr>
          <a:xfrm>
            <a:off x="6388100" y="3905250"/>
            <a:ext cx="241300" cy="241300"/>
          </a:xfrm>
          <a:prstGeom prst="rect">
            <a:avLst/>
          </a:prstGeom>
        </p:spPr>
      </p:pic>
      <p:sp>
        <p:nvSpPr>
          <p:cNvPr id="32" name="TextBox 31"/>
          <p:cNvSpPr txBox="1"/>
          <p:nvPr/>
        </p:nvSpPr>
        <p:spPr>
          <a:xfrm>
            <a:off x="6388100" y="423545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The venue half as well</a:t>
            </a:r>
          </a:p>
        </p:txBody>
      </p:sp>
      <p:sp>
        <p:nvSpPr>
          <p:cNvPr id="33" name="TextBox 32"/>
          <p:cNvSpPr txBox="1"/>
          <p:nvPr/>
        </p:nvSpPr>
        <p:spPr>
          <a:xfrm>
            <a:off x="6388100" y="455295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Menu, table tags, calling a waiter, a counter screen — one system.</a:t>
            </a:r>
          </a:p>
        </p:txBody>
      </p:sp>
      <p:sp>
        <p:nvSpPr>
          <p:cNvPr id="34" name="Rounded Rectangle 33"/>
          <p:cNvSpPr/>
          <p:nvPr/>
        </p:nvSpPr>
        <p:spPr>
          <a:xfrm>
            <a:off x="8832850" y="3714750"/>
            <a:ext cx="2540000" cy="1600200"/>
          </a:xfrm>
          <a:prstGeom prst="roundRect">
            <a:avLst>
              <a:gd name="adj" fmla="val 11111"/>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hield-check-lime.png"/>
          <p:cNvPicPr>
            <a:picLocks noChangeAspect="1"/>
          </p:cNvPicPr>
          <p:nvPr/>
        </p:nvPicPr>
        <p:blipFill>
          <a:blip r:embed="rId9"/>
          <a:stretch>
            <a:fillRect/>
          </a:stretch>
        </p:blipFill>
        <p:spPr>
          <a:xfrm>
            <a:off x="9061450" y="3905250"/>
            <a:ext cx="241300" cy="241300"/>
          </a:xfrm>
          <a:prstGeom prst="rect">
            <a:avLst/>
          </a:prstGeom>
        </p:spPr>
      </p:pic>
      <p:sp>
        <p:nvSpPr>
          <p:cNvPr id="36" name="TextBox 35"/>
          <p:cNvSpPr txBox="1"/>
          <p:nvPr/>
        </p:nvSpPr>
        <p:spPr>
          <a:xfrm>
            <a:off x="9061450" y="4235450"/>
            <a:ext cx="2108200" cy="307340"/>
          </a:xfrm>
          <a:prstGeom prst="rect">
            <a:avLst/>
          </a:prstGeom>
          <a:noFill/>
        </p:spPr>
        <p:txBody>
          <a:bodyPr wrap="square" anchor="t" lIns="0" rIns="0" tIns="0" bIns="0">
            <a:spAutoFit/>
          </a:bodyPr>
          <a:lstStyle/>
          <a:p>
            <a:pPr algn="l">
              <a:lnSpc>
                <a:spcPct val="115000"/>
              </a:lnSpc>
              <a:spcAft>
                <a:spcPts val="0"/>
              </a:spcAft>
            </a:pPr>
            <a:r>
              <a:rPr sz="1100" b="1">
                <a:solidFill>
                  <a:srgbClr val="FFFFFF"/>
                </a:solidFill>
                <a:latin typeface="Space Grotesk"/>
              </a:rPr>
              <a:t>The data is yours</a:t>
            </a:r>
          </a:p>
        </p:txBody>
      </p:sp>
      <p:sp>
        <p:nvSpPr>
          <p:cNvPr id="37" name="TextBox 36"/>
          <p:cNvSpPr txBox="1"/>
          <p:nvPr/>
        </p:nvSpPr>
        <p:spPr>
          <a:xfrm>
            <a:off x="9061450" y="4552950"/>
            <a:ext cx="2108200" cy="234696"/>
          </a:xfrm>
          <a:prstGeom prst="rect">
            <a:avLst/>
          </a:prstGeom>
          <a:noFill/>
        </p:spPr>
        <p:txBody>
          <a:bodyPr wrap="square" anchor="t" lIns="0" rIns="0" tIns="0" bIns="0">
            <a:spAutoFit/>
          </a:bodyPr>
          <a:lstStyle/>
          <a:p>
            <a:pPr algn="l">
              <a:lnSpc>
                <a:spcPct val="142000"/>
              </a:lnSpc>
              <a:spcAft>
                <a:spcPts val="0"/>
              </a:spcAft>
            </a:pPr>
            <a:r>
              <a:rPr sz="840" b="0">
                <a:solidFill>
                  <a:srgbClr val="8A849B"/>
                </a:solidFill>
                <a:latin typeface="Inter"/>
              </a:rPr>
              <a:t>Delete the page whenever you like, or move it to another object.</a:t>
            </a:r>
          </a:p>
        </p:txBody>
      </p:sp>
      <p:sp>
        <p:nvSpPr>
          <p:cNvPr id="38" name="TextBox 37"/>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39" name="TextBox 38"/>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DESIGN</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One number, many faces.</a:t>
            </a:r>
          </a:p>
        </p:txBody>
      </p:sp>
      <p:sp>
        <p:nvSpPr>
          <p:cNvPr id="5" name="TextBox 4"/>
          <p:cNvSpPr txBox="1"/>
          <p:nvPr/>
        </p:nvSpPr>
        <p:spPr>
          <a:xfrm>
            <a:off x="812800" y="1752600"/>
            <a:ext cx="8128000" cy="321310"/>
          </a:xfrm>
          <a:prstGeom prst="rect">
            <a:avLst/>
          </a:prstGeom>
          <a:noFill/>
        </p:spPr>
        <p:txBody>
          <a:bodyPr wrap="square" anchor="t" lIns="0" rIns="0" tIns="0" bIns="0">
            <a:spAutoFit/>
          </a:bodyPr>
          <a:lstStyle/>
          <a:p>
            <a:pPr algn="l">
              <a:lnSpc>
                <a:spcPct val="155000"/>
              </a:lnSpc>
              <a:spcAft>
                <a:spcPts val="0"/>
              </a:spcAft>
            </a:pPr>
            <a:r>
              <a:rPr sz="1150" b="0">
                <a:solidFill>
                  <a:srgbClr val="5A5566"/>
                </a:solidFill>
                <a:latin typeface="Inter"/>
              </a:rPr>
              <a:t>The owner picks the card design, and every one of them is drawn by us rather than borrowed. A low serial number cannot be reproduced at all — which is the one thing on the card that is genuinely scarce.</a:t>
            </a:r>
          </a:p>
        </p:txBody>
      </p:sp>
      <p:pic>
        <p:nvPicPr>
          <p:cNvPr id="6" name="Picture 5" descr="xarita.jpg"/>
          <p:cNvPicPr>
            <a:picLocks noChangeAspect="1"/>
          </p:cNvPicPr>
          <p:nvPr/>
        </p:nvPicPr>
        <p:blipFill>
          <a:blip r:embed="rId2"/>
          <a:srcRect l="716" r="716"/>
          <a:stretch>
            <a:fillRect/>
          </a:stretch>
        </p:blipFill>
        <p:spPr>
          <a:xfrm>
            <a:off x="812800" y="3124200"/>
            <a:ext cx="2540000" cy="1625600"/>
          </a:xfrm>
          <a:prstGeom prst="rect">
            <a:avLst/>
          </a:prstGeom>
        </p:spPr>
      </p:pic>
      <p:sp>
        <p:nvSpPr>
          <p:cNvPr id="7" name="TextBox 6"/>
          <p:cNvSpPr txBox="1"/>
          <p:nvPr/>
        </p:nvSpPr>
        <p:spPr>
          <a:xfrm>
            <a:off x="812800" y="4902200"/>
            <a:ext cx="2540000" cy="228600"/>
          </a:xfrm>
          <a:prstGeom prst="rect">
            <a:avLst/>
          </a:prstGeom>
          <a:noFill/>
        </p:spPr>
        <p:txBody>
          <a:bodyPr wrap="square" anchor="t" lIns="0" rIns="0" tIns="0" bIns="0">
            <a:spAutoFit/>
          </a:bodyPr>
          <a:lstStyle/>
          <a:p>
            <a:pPr algn="l">
              <a:lnSpc>
                <a:spcPct val="135000"/>
              </a:lnSpc>
              <a:spcAft>
                <a:spcPts val="0"/>
              </a:spcAft>
            </a:pPr>
            <a:r>
              <a:rPr sz="1050" b="1">
                <a:solidFill>
                  <a:srgbClr val="0E0A1B"/>
                </a:solidFill>
                <a:latin typeface="Space Grotesk"/>
              </a:rPr>
              <a:t>Xarita</a:t>
            </a:r>
          </a:p>
        </p:txBody>
      </p:sp>
      <p:pic>
        <p:nvPicPr>
          <p:cNvPr id="8" name="Picture 7" descr="suzani.jpg"/>
          <p:cNvPicPr>
            <a:picLocks noChangeAspect="1"/>
          </p:cNvPicPr>
          <p:nvPr/>
        </p:nvPicPr>
        <p:blipFill>
          <a:blip r:embed="rId3"/>
          <a:srcRect l="716" r="716"/>
          <a:stretch>
            <a:fillRect/>
          </a:stretch>
        </p:blipFill>
        <p:spPr>
          <a:xfrm>
            <a:off x="3486150" y="3124200"/>
            <a:ext cx="2540000" cy="1625600"/>
          </a:xfrm>
          <a:prstGeom prst="rect">
            <a:avLst/>
          </a:prstGeom>
        </p:spPr>
      </p:pic>
      <p:sp>
        <p:nvSpPr>
          <p:cNvPr id="9" name="TextBox 8"/>
          <p:cNvSpPr txBox="1"/>
          <p:nvPr/>
        </p:nvSpPr>
        <p:spPr>
          <a:xfrm>
            <a:off x="3486150" y="4902200"/>
            <a:ext cx="2540000" cy="228600"/>
          </a:xfrm>
          <a:prstGeom prst="rect">
            <a:avLst/>
          </a:prstGeom>
          <a:noFill/>
        </p:spPr>
        <p:txBody>
          <a:bodyPr wrap="square" anchor="t" lIns="0" rIns="0" tIns="0" bIns="0">
            <a:spAutoFit/>
          </a:bodyPr>
          <a:lstStyle/>
          <a:p>
            <a:pPr algn="l">
              <a:lnSpc>
                <a:spcPct val="135000"/>
              </a:lnSpc>
              <a:spcAft>
                <a:spcPts val="0"/>
              </a:spcAft>
            </a:pPr>
            <a:r>
              <a:rPr sz="1050" b="1">
                <a:solidFill>
                  <a:srgbClr val="0E0A1B"/>
                </a:solidFill>
                <a:latin typeface="Space Grotesk"/>
              </a:rPr>
              <a:t>Suzani</a:t>
            </a:r>
          </a:p>
        </p:txBody>
      </p:sp>
      <p:pic>
        <p:nvPicPr>
          <p:cNvPr id="10" name="Picture 9" descr="rahbar.jpg"/>
          <p:cNvPicPr>
            <a:picLocks noChangeAspect="1"/>
          </p:cNvPicPr>
          <p:nvPr/>
        </p:nvPicPr>
        <p:blipFill>
          <a:blip r:embed="rId4"/>
          <a:srcRect l="716" r="716"/>
          <a:stretch>
            <a:fillRect/>
          </a:stretch>
        </p:blipFill>
        <p:spPr>
          <a:xfrm>
            <a:off x="6159500" y="3124200"/>
            <a:ext cx="2540000" cy="1625600"/>
          </a:xfrm>
          <a:prstGeom prst="rect">
            <a:avLst/>
          </a:prstGeom>
        </p:spPr>
      </p:pic>
      <p:sp>
        <p:nvSpPr>
          <p:cNvPr id="11" name="TextBox 10"/>
          <p:cNvSpPr txBox="1"/>
          <p:nvPr/>
        </p:nvSpPr>
        <p:spPr>
          <a:xfrm>
            <a:off x="6159500" y="4902200"/>
            <a:ext cx="2540000" cy="228600"/>
          </a:xfrm>
          <a:prstGeom prst="rect">
            <a:avLst/>
          </a:prstGeom>
          <a:noFill/>
        </p:spPr>
        <p:txBody>
          <a:bodyPr wrap="square" anchor="t" lIns="0" rIns="0" tIns="0" bIns="0">
            <a:spAutoFit/>
          </a:bodyPr>
          <a:lstStyle/>
          <a:p>
            <a:pPr algn="l">
              <a:lnSpc>
                <a:spcPct val="135000"/>
              </a:lnSpc>
              <a:spcAft>
                <a:spcPts val="0"/>
              </a:spcAft>
            </a:pPr>
            <a:r>
              <a:rPr sz="1050" b="1">
                <a:solidFill>
                  <a:srgbClr val="0E0A1B"/>
                </a:solidFill>
                <a:latin typeface="Space Grotesk"/>
              </a:rPr>
              <a:t>Rahbar</a:t>
            </a:r>
          </a:p>
        </p:txBody>
      </p:sp>
      <p:pic>
        <p:nvPicPr>
          <p:cNvPr id="12" name="Picture 11" descr="devops.jpg"/>
          <p:cNvPicPr>
            <a:picLocks noChangeAspect="1"/>
          </p:cNvPicPr>
          <p:nvPr/>
        </p:nvPicPr>
        <p:blipFill>
          <a:blip r:embed="rId5"/>
          <a:srcRect l="716" r="716"/>
          <a:stretch>
            <a:fillRect/>
          </a:stretch>
        </p:blipFill>
        <p:spPr>
          <a:xfrm>
            <a:off x="8832850" y="3124200"/>
            <a:ext cx="2540000" cy="1625600"/>
          </a:xfrm>
          <a:prstGeom prst="rect">
            <a:avLst/>
          </a:prstGeom>
        </p:spPr>
      </p:pic>
      <p:sp>
        <p:nvSpPr>
          <p:cNvPr id="13" name="TextBox 12"/>
          <p:cNvSpPr txBox="1"/>
          <p:nvPr/>
        </p:nvSpPr>
        <p:spPr>
          <a:xfrm>
            <a:off x="8832850" y="4902200"/>
            <a:ext cx="2540000" cy="228600"/>
          </a:xfrm>
          <a:prstGeom prst="rect">
            <a:avLst/>
          </a:prstGeom>
          <a:noFill/>
        </p:spPr>
        <p:txBody>
          <a:bodyPr wrap="square" anchor="t" lIns="0" rIns="0" tIns="0" bIns="0">
            <a:spAutoFit/>
          </a:bodyPr>
          <a:lstStyle/>
          <a:p>
            <a:pPr algn="l">
              <a:lnSpc>
                <a:spcPct val="135000"/>
              </a:lnSpc>
              <a:spcAft>
                <a:spcPts val="0"/>
              </a:spcAft>
            </a:pPr>
            <a:r>
              <a:rPr sz="1050" b="1">
                <a:solidFill>
                  <a:srgbClr val="0E0A1B"/>
                </a:solidFill>
                <a:latin typeface="Space Grotesk"/>
              </a:rPr>
              <a:t>DevOps</a:t>
            </a:r>
          </a:p>
        </p:txBody>
      </p:sp>
      <p:sp>
        <p:nvSpPr>
          <p:cNvPr id="14" name="TextBox 13"/>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15" name="TextBox 14"/>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OUR MARKET</a:t>
            </a:r>
          </a:p>
        </p:txBody>
      </p:sp>
      <p:sp>
        <p:nvSpPr>
          <p:cNvPr id="4" name="TextBox 3"/>
          <p:cNvSpPr txBox="1"/>
          <p:nvPr/>
        </p:nvSpPr>
        <p:spPr>
          <a:xfrm>
            <a:off x="812800" y="889000"/>
            <a:ext cx="8890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Everywhere somebody is served.</a:t>
            </a:r>
          </a:p>
        </p:txBody>
      </p:sp>
      <p:pic>
        <p:nvPicPr>
          <p:cNvPr id="5" name="Picture 4" descr="kafe.jpg"/>
          <p:cNvPicPr>
            <a:picLocks noChangeAspect="1"/>
          </p:cNvPicPr>
          <p:nvPr/>
        </p:nvPicPr>
        <p:blipFill>
          <a:blip r:embed="rId2"/>
          <a:srcRect l="33407" r="33407"/>
          <a:stretch>
            <a:fillRect/>
          </a:stretch>
        </p:blipFill>
        <p:spPr>
          <a:xfrm>
            <a:off x="0" y="1879600"/>
            <a:ext cx="3028950" cy="4978400"/>
          </a:xfrm>
          <a:prstGeom prst="rect">
            <a:avLst/>
          </a:prstGeom>
        </p:spPr>
      </p:pic>
      <p:sp>
        <p:nvSpPr>
          <p:cNvPr id="6" name="Rectangle 5"/>
          <p:cNvSpPr/>
          <p:nvPr/>
        </p:nvSpPr>
        <p:spPr>
          <a:xfrm>
            <a:off x="0" y="3671824"/>
            <a:ext cx="3028950" cy="3186176"/>
          </a:xfrm>
          <a:prstGeom prst="rect">
            <a:avLst/>
          </a:prstGeom>
          <a:gradFill rotWithShape="1">
            <a:gsLst>
              <a:gs pos="0">
                <a:srgbClr val="0E0A1B">
                  <a:alpha val="0"/>
                </a:srgbClr>
              </a:gs>
              <a:gs pos="42000">
                <a:srgbClr val="0E0A1B">
                  <a:alpha val="74000"/>
                </a:srgbClr>
              </a:gs>
              <a:gs pos="100000">
                <a:srgbClr val="0E0A1B">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utensils-crossed-lime.png"/>
          <p:cNvPicPr>
            <a:picLocks noChangeAspect="1"/>
          </p:cNvPicPr>
          <p:nvPr/>
        </p:nvPicPr>
        <p:blipFill>
          <a:blip r:embed="rId3"/>
          <a:stretch>
            <a:fillRect/>
          </a:stretch>
        </p:blipFill>
        <p:spPr>
          <a:xfrm>
            <a:off x="279400" y="5359400"/>
            <a:ext cx="254000" cy="254000"/>
          </a:xfrm>
          <a:prstGeom prst="rect">
            <a:avLst/>
          </a:prstGeom>
        </p:spPr>
      </p:pic>
      <p:sp>
        <p:nvSpPr>
          <p:cNvPr id="8" name="TextBox 7"/>
          <p:cNvSpPr txBox="1"/>
          <p:nvPr/>
        </p:nvSpPr>
        <p:spPr>
          <a:xfrm>
            <a:off x="279400" y="5715000"/>
            <a:ext cx="252095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Cafes and restaurants</a:t>
            </a:r>
          </a:p>
        </p:txBody>
      </p:sp>
      <p:sp>
        <p:nvSpPr>
          <p:cNvPr id="9" name="TextBox 8"/>
          <p:cNvSpPr txBox="1"/>
          <p:nvPr/>
        </p:nvSpPr>
        <p:spPr>
          <a:xfrm>
            <a:off x="279400" y="5969000"/>
            <a:ext cx="2520950" cy="240284"/>
          </a:xfrm>
          <a:prstGeom prst="rect">
            <a:avLst/>
          </a:prstGeom>
          <a:noFill/>
        </p:spPr>
        <p:txBody>
          <a:bodyPr wrap="square" anchor="t" lIns="0" rIns="0" tIns="0" bIns="0">
            <a:spAutoFit/>
          </a:bodyPr>
          <a:lstStyle/>
          <a:p>
            <a:pPr algn="l">
              <a:lnSpc>
                <a:spcPct val="140000"/>
              </a:lnSpc>
              <a:spcAft>
                <a:spcPts val="0"/>
              </a:spcAft>
            </a:pPr>
            <a:r>
              <a:rPr sz="860" b="0">
                <a:solidFill>
                  <a:srgbClr val="C2BECE"/>
                </a:solidFill>
                <a:latin typeface="Inter"/>
              </a:rPr>
              <a:t>Menu, table tags, calling a waiter, the bill</a:t>
            </a:r>
          </a:p>
        </p:txBody>
      </p:sp>
      <p:pic>
        <p:nvPicPr>
          <p:cNvPr id="10" name="Picture 9" descr="mehmonxona.jpg"/>
          <p:cNvPicPr>
            <a:picLocks noChangeAspect="1"/>
          </p:cNvPicPr>
          <p:nvPr/>
        </p:nvPicPr>
        <p:blipFill>
          <a:blip r:embed="rId4"/>
          <a:srcRect l="33407" r="33407"/>
          <a:stretch>
            <a:fillRect/>
          </a:stretch>
        </p:blipFill>
        <p:spPr>
          <a:xfrm>
            <a:off x="3054350" y="1879600"/>
            <a:ext cx="3028950" cy="4978400"/>
          </a:xfrm>
          <a:prstGeom prst="rect">
            <a:avLst/>
          </a:prstGeom>
        </p:spPr>
      </p:pic>
      <p:sp>
        <p:nvSpPr>
          <p:cNvPr id="11" name="Rectangle 10"/>
          <p:cNvSpPr/>
          <p:nvPr/>
        </p:nvSpPr>
        <p:spPr>
          <a:xfrm>
            <a:off x="3054350" y="3671824"/>
            <a:ext cx="3028950" cy="3186176"/>
          </a:xfrm>
          <a:prstGeom prst="rect">
            <a:avLst/>
          </a:prstGeom>
          <a:gradFill rotWithShape="1">
            <a:gsLst>
              <a:gs pos="0">
                <a:srgbClr val="0E0A1B">
                  <a:alpha val="0"/>
                </a:srgbClr>
              </a:gs>
              <a:gs pos="42000">
                <a:srgbClr val="0E0A1B">
                  <a:alpha val="74000"/>
                </a:srgbClr>
              </a:gs>
              <a:gs pos="100000">
                <a:srgbClr val="0E0A1B">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ed-double-lime.png"/>
          <p:cNvPicPr>
            <a:picLocks noChangeAspect="1"/>
          </p:cNvPicPr>
          <p:nvPr/>
        </p:nvPicPr>
        <p:blipFill>
          <a:blip r:embed="rId5"/>
          <a:stretch>
            <a:fillRect/>
          </a:stretch>
        </p:blipFill>
        <p:spPr>
          <a:xfrm>
            <a:off x="3333750" y="5359400"/>
            <a:ext cx="254000" cy="254000"/>
          </a:xfrm>
          <a:prstGeom prst="rect">
            <a:avLst/>
          </a:prstGeom>
        </p:spPr>
      </p:pic>
      <p:sp>
        <p:nvSpPr>
          <p:cNvPr id="13" name="TextBox 12"/>
          <p:cNvSpPr txBox="1"/>
          <p:nvPr/>
        </p:nvSpPr>
        <p:spPr>
          <a:xfrm>
            <a:off x="3333750" y="5715000"/>
            <a:ext cx="252095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Hotels</a:t>
            </a:r>
          </a:p>
        </p:txBody>
      </p:sp>
      <p:sp>
        <p:nvSpPr>
          <p:cNvPr id="14" name="TextBox 13"/>
          <p:cNvSpPr txBox="1"/>
          <p:nvPr/>
        </p:nvSpPr>
        <p:spPr>
          <a:xfrm>
            <a:off x="3333750" y="5969000"/>
            <a:ext cx="2520950" cy="240284"/>
          </a:xfrm>
          <a:prstGeom prst="rect">
            <a:avLst/>
          </a:prstGeom>
          <a:noFill/>
        </p:spPr>
        <p:txBody>
          <a:bodyPr wrap="square" anchor="t" lIns="0" rIns="0" tIns="0" bIns="0">
            <a:spAutoFit/>
          </a:bodyPr>
          <a:lstStyle/>
          <a:p>
            <a:pPr algn="l">
              <a:lnSpc>
                <a:spcPct val="140000"/>
              </a:lnSpc>
              <a:spcAft>
                <a:spcPts val="0"/>
              </a:spcAft>
            </a:pPr>
            <a:r>
              <a:rPr sz="860" b="0">
                <a:solidFill>
                  <a:srgbClr val="C2BECE"/>
                </a:solidFill>
                <a:latin typeface="Inter"/>
              </a:rPr>
              <a:t>Service list, room tags, housekeeping requests</a:t>
            </a:r>
          </a:p>
        </p:txBody>
      </p:sp>
      <p:pic>
        <p:nvPicPr>
          <p:cNvPr id="15" name="Picture 14" descr="salon.jpg"/>
          <p:cNvPicPr>
            <a:picLocks noChangeAspect="1"/>
          </p:cNvPicPr>
          <p:nvPr/>
        </p:nvPicPr>
        <p:blipFill>
          <a:blip r:embed="rId6"/>
          <a:srcRect l="26348" r="26348"/>
          <a:stretch>
            <a:fillRect/>
          </a:stretch>
        </p:blipFill>
        <p:spPr>
          <a:xfrm>
            <a:off x="6108700" y="1879600"/>
            <a:ext cx="3028950" cy="4978400"/>
          </a:xfrm>
          <a:prstGeom prst="rect">
            <a:avLst/>
          </a:prstGeom>
        </p:spPr>
      </p:pic>
      <p:sp>
        <p:nvSpPr>
          <p:cNvPr id="16" name="Rectangle 15"/>
          <p:cNvSpPr/>
          <p:nvPr/>
        </p:nvSpPr>
        <p:spPr>
          <a:xfrm>
            <a:off x="6108700" y="3671824"/>
            <a:ext cx="3028950" cy="3186176"/>
          </a:xfrm>
          <a:prstGeom prst="rect">
            <a:avLst/>
          </a:prstGeom>
          <a:gradFill rotWithShape="1">
            <a:gsLst>
              <a:gs pos="0">
                <a:srgbClr val="0E0A1B">
                  <a:alpha val="0"/>
                </a:srgbClr>
              </a:gs>
              <a:gs pos="42000">
                <a:srgbClr val="0E0A1B">
                  <a:alpha val="74000"/>
                </a:srgbClr>
              </a:gs>
              <a:gs pos="100000">
                <a:srgbClr val="0E0A1B">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tore-lime.png"/>
          <p:cNvPicPr>
            <a:picLocks noChangeAspect="1"/>
          </p:cNvPicPr>
          <p:nvPr/>
        </p:nvPicPr>
        <p:blipFill>
          <a:blip r:embed="rId7"/>
          <a:stretch>
            <a:fillRect/>
          </a:stretch>
        </p:blipFill>
        <p:spPr>
          <a:xfrm>
            <a:off x="6388100" y="5359400"/>
            <a:ext cx="254000" cy="254000"/>
          </a:xfrm>
          <a:prstGeom prst="rect">
            <a:avLst/>
          </a:prstGeom>
        </p:spPr>
      </p:pic>
      <p:sp>
        <p:nvSpPr>
          <p:cNvPr id="18" name="TextBox 17"/>
          <p:cNvSpPr txBox="1"/>
          <p:nvPr/>
        </p:nvSpPr>
        <p:spPr>
          <a:xfrm>
            <a:off x="6388100" y="5715000"/>
            <a:ext cx="252095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Shops and salons</a:t>
            </a:r>
          </a:p>
        </p:txBody>
      </p:sp>
      <p:sp>
        <p:nvSpPr>
          <p:cNvPr id="19" name="TextBox 18"/>
          <p:cNvSpPr txBox="1"/>
          <p:nvPr/>
        </p:nvSpPr>
        <p:spPr>
          <a:xfrm>
            <a:off x="6388100" y="5969000"/>
            <a:ext cx="2520950" cy="240284"/>
          </a:xfrm>
          <a:prstGeom prst="rect">
            <a:avLst/>
          </a:prstGeom>
          <a:noFill/>
        </p:spPr>
        <p:txBody>
          <a:bodyPr wrap="square" anchor="t" lIns="0" rIns="0" tIns="0" bIns="0">
            <a:spAutoFit/>
          </a:bodyPr>
          <a:lstStyle/>
          <a:p>
            <a:pPr algn="l">
              <a:lnSpc>
                <a:spcPct val="140000"/>
              </a:lnSpc>
              <a:spcAft>
                <a:spcPts val="0"/>
              </a:spcAft>
            </a:pPr>
            <a:r>
              <a:rPr sz="860" b="0">
                <a:solidFill>
                  <a:srgbClr val="C2BECE"/>
                </a:solidFill>
                <a:latin typeface="Inter"/>
              </a:rPr>
              <a:t>Prices, payment details, calling for help</a:t>
            </a:r>
          </a:p>
        </p:txBody>
      </p:sp>
      <p:pic>
        <p:nvPicPr>
          <p:cNvPr id="20" name="Picture 19" descr="klinika.jpg"/>
          <p:cNvPicPr>
            <a:picLocks noChangeAspect="1"/>
          </p:cNvPicPr>
          <p:nvPr/>
        </p:nvPicPr>
        <p:blipFill>
          <a:blip r:embed="rId8"/>
          <a:srcRect l="33407" r="33407"/>
          <a:stretch>
            <a:fillRect/>
          </a:stretch>
        </p:blipFill>
        <p:spPr>
          <a:xfrm>
            <a:off x="9163050" y="1879600"/>
            <a:ext cx="3028950" cy="4978400"/>
          </a:xfrm>
          <a:prstGeom prst="rect">
            <a:avLst/>
          </a:prstGeom>
        </p:spPr>
      </p:pic>
      <p:sp>
        <p:nvSpPr>
          <p:cNvPr id="21" name="Rectangle 20"/>
          <p:cNvSpPr/>
          <p:nvPr/>
        </p:nvSpPr>
        <p:spPr>
          <a:xfrm>
            <a:off x="9163050" y="3671824"/>
            <a:ext cx="3028950" cy="3186176"/>
          </a:xfrm>
          <a:prstGeom prst="rect">
            <a:avLst/>
          </a:prstGeom>
          <a:gradFill rotWithShape="1">
            <a:gsLst>
              <a:gs pos="0">
                <a:srgbClr val="0E0A1B">
                  <a:alpha val="0"/>
                </a:srgbClr>
              </a:gs>
              <a:gs pos="42000">
                <a:srgbClr val="0E0A1B">
                  <a:alpha val="74000"/>
                </a:srgbClr>
              </a:gs>
              <a:gs pos="100000">
                <a:srgbClr val="0E0A1B">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stethoscope-lime.png"/>
          <p:cNvPicPr>
            <a:picLocks noChangeAspect="1"/>
          </p:cNvPicPr>
          <p:nvPr/>
        </p:nvPicPr>
        <p:blipFill>
          <a:blip r:embed="rId9"/>
          <a:stretch>
            <a:fillRect/>
          </a:stretch>
        </p:blipFill>
        <p:spPr>
          <a:xfrm>
            <a:off x="9442450" y="5359400"/>
            <a:ext cx="254000" cy="254000"/>
          </a:xfrm>
          <a:prstGeom prst="rect">
            <a:avLst/>
          </a:prstGeom>
        </p:spPr>
      </p:pic>
      <p:sp>
        <p:nvSpPr>
          <p:cNvPr id="23" name="TextBox 22"/>
          <p:cNvSpPr txBox="1"/>
          <p:nvPr/>
        </p:nvSpPr>
        <p:spPr>
          <a:xfrm>
            <a:off x="9442450" y="5715000"/>
            <a:ext cx="252095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Clinics and services</a:t>
            </a:r>
          </a:p>
        </p:txBody>
      </p:sp>
      <p:sp>
        <p:nvSpPr>
          <p:cNvPr id="24" name="TextBox 23"/>
          <p:cNvSpPr txBox="1"/>
          <p:nvPr/>
        </p:nvSpPr>
        <p:spPr>
          <a:xfrm>
            <a:off x="9442450" y="5969000"/>
            <a:ext cx="2520950" cy="240284"/>
          </a:xfrm>
          <a:prstGeom prst="rect">
            <a:avLst/>
          </a:prstGeom>
          <a:noFill/>
        </p:spPr>
        <p:txBody>
          <a:bodyPr wrap="square" anchor="t" lIns="0" rIns="0" tIns="0" bIns="0">
            <a:spAutoFit/>
          </a:bodyPr>
          <a:lstStyle/>
          <a:p>
            <a:pPr algn="l">
              <a:lnSpc>
                <a:spcPct val="140000"/>
              </a:lnSpc>
              <a:spcAft>
                <a:spcPts val="0"/>
              </a:spcAft>
            </a:pPr>
            <a:r>
              <a:rPr sz="860" b="0">
                <a:solidFill>
                  <a:srgbClr val="C2BECE"/>
                </a:solidFill>
                <a:latin typeface="Inter"/>
              </a:rPr>
              <a:t>Services, prices, booking a slot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MARKET SIZE</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Market size, in soum.</a:t>
            </a:r>
          </a:p>
        </p:txBody>
      </p:sp>
      <p:sp>
        <p:nvSpPr>
          <p:cNvPr id="5" name="Rounded Rectangle 4"/>
          <p:cNvSpPr/>
          <p:nvPr/>
        </p:nvSpPr>
        <p:spPr>
          <a:xfrm>
            <a:off x="812800" y="1879600"/>
            <a:ext cx="7112000" cy="965200"/>
          </a:xfrm>
          <a:prstGeom prst="roundRect">
            <a:avLst>
              <a:gd name="adj" fmla="val 18421"/>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812800" y="1879600"/>
            <a:ext cx="57150" cy="96520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6800" y="2070100"/>
            <a:ext cx="762000" cy="254000"/>
          </a:xfrm>
          <a:prstGeom prst="rect">
            <a:avLst/>
          </a:prstGeom>
          <a:noFill/>
        </p:spPr>
        <p:txBody>
          <a:bodyPr wrap="square" anchor="t" lIns="0" rIns="0" tIns="0" bIns="0">
            <a:spAutoFit/>
          </a:bodyPr>
          <a:lstStyle/>
          <a:p>
            <a:pPr algn="l">
              <a:lnSpc>
                <a:spcPct val="135000"/>
              </a:lnSpc>
              <a:spcAft>
                <a:spcPts val="0"/>
              </a:spcAft>
            </a:pPr>
            <a:r>
              <a:rPr sz="1000" b="1" spc="100">
                <a:solidFill>
                  <a:srgbClr val="4D7C0F"/>
                </a:solidFill>
                <a:latin typeface="Space Grotesk"/>
              </a:rPr>
              <a:t>TAM</a:t>
            </a:r>
          </a:p>
        </p:txBody>
      </p:sp>
      <p:sp>
        <p:nvSpPr>
          <p:cNvPr id="8" name="TextBox 7"/>
          <p:cNvSpPr txBox="1"/>
          <p:nvPr/>
        </p:nvSpPr>
        <p:spPr>
          <a:xfrm>
            <a:off x="1066800" y="2286000"/>
            <a:ext cx="3302000" cy="530860"/>
          </a:xfrm>
          <a:prstGeom prst="rect">
            <a:avLst/>
          </a:prstGeom>
          <a:noFill/>
        </p:spPr>
        <p:txBody>
          <a:bodyPr wrap="square" anchor="t" lIns="0" rIns="0" tIns="0" bIns="0">
            <a:spAutoFit/>
          </a:bodyPr>
          <a:lstStyle/>
          <a:p>
            <a:pPr algn="l">
              <a:lnSpc>
                <a:spcPct val="135000"/>
              </a:lnSpc>
              <a:spcAft>
                <a:spcPts val="0"/>
              </a:spcAft>
            </a:pPr>
            <a:r>
              <a:rPr sz="1900" b="1" spc="-50">
                <a:solidFill>
                  <a:srgbClr val="0E0A1B"/>
                </a:solidFill>
                <a:latin typeface="Space Grotesk"/>
              </a:rPr>
              <a:t>209bn UZS / year</a:t>
            </a:r>
          </a:p>
        </p:txBody>
      </p:sp>
      <p:sp>
        <p:nvSpPr>
          <p:cNvPr id="9" name="TextBox 8"/>
          <p:cNvSpPr txBox="1"/>
          <p:nvPr/>
        </p:nvSpPr>
        <p:spPr>
          <a:xfrm>
            <a:off x="4622800" y="2070100"/>
            <a:ext cx="3048000" cy="228600"/>
          </a:xfrm>
          <a:prstGeom prst="rect">
            <a:avLst/>
          </a:prstGeom>
          <a:noFill/>
        </p:spPr>
        <p:txBody>
          <a:bodyPr wrap="square" anchor="t" lIns="0" rIns="0" tIns="0" bIns="0">
            <a:spAutoFit/>
          </a:bodyPr>
          <a:lstStyle/>
          <a:p>
            <a:pPr algn="l">
              <a:lnSpc>
                <a:spcPct val="135000"/>
              </a:lnSpc>
              <a:spcAft>
                <a:spcPts val="0"/>
              </a:spcAft>
            </a:pPr>
            <a:r>
              <a:rPr sz="1000" b="1">
                <a:solidFill>
                  <a:srgbClr val="0E0A1B"/>
                </a:solidFill>
                <a:latin typeface="Space Grotesk"/>
              </a:rPr>
              <a:t>116,900 venues</a:t>
            </a:r>
          </a:p>
        </p:txBody>
      </p:sp>
      <p:sp>
        <p:nvSpPr>
          <p:cNvPr id="10" name="TextBox 9"/>
          <p:cNvSpPr txBox="1"/>
          <p:nvPr/>
        </p:nvSpPr>
        <p:spPr>
          <a:xfrm>
            <a:off x="4622800" y="2311400"/>
            <a:ext cx="3098800" cy="234696"/>
          </a:xfrm>
          <a:prstGeom prst="rect">
            <a:avLst/>
          </a:prstGeom>
          <a:noFill/>
        </p:spPr>
        <p:txBody>
          <a:bodyPr wrap="square" anchor="t" lIns="0" rIns="0" tIns="0" bIns="0">
            <a:spAutoFit/>
          </a:bodyPr>
          <a:lstStyle/>
          <a:p>
            <a:pPr algn="l">
              <a:lnSpc>
                <a:spcPct val="135000"/>
              </a:lnSpc>
              <a:spcAft>
                <a:spcPts val="0"/>
              </a:spcAft>
            </a:pPr>
            <a:r>
              <a:rPr sz="840" b="0">
                <a:solidFill>
                  <a:srgbClr val="5A5566"/>
                </a:solidFill>
                <a:latin typeface="Inter"/>
              </a:rPr>
              <a:t>Every catering, retail and accommodation business in Uzbekistan, at the lowest tariff</a:t>
            </a:r>
          </a:p>
        </p:txBody>
      </p:sp>
      <p:sp>
        <p:nvSpPr>
          <p:cNvPr id="11" name="Rounded Rectangle 10"/>
          <p:cNvSpPr/>
          <p:nvPr/>
        </p:nvSpPr>
        <p:spPr>
          <a:xfrm>
            <a:off x="812800" y="2971800"/>
            <a:ext cx="7112000" cy="965200"/>
          </a:xfrm>
          <a:prstGeom prst="roundRect">
            <a:avLst>
              <a:gd name="adj" fmla="val 18421"/>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12800" y="2971800"/>
            <a:ext cx="57150" cy="965200"/>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66800" y="3162300"/>
            <a:ext cx="762000" cy="254000"/>
          </a:xfrm>
          <a:prstGeom prst="rect">
            <a:avLst/>
          </a:prstGeom>
          <a:noFill/>
        </p:spPr>
        <p:txBody>
          <a:bodyPr wrap="square" anchor="t" lIns="0" rIns="0" tIns="0" bIns="0">
            <a:spAutoFit/>
          </a:bodyPr>
          <a:lstStyle/>
          <a:p>
            <a:pPr algn="l">
              <a:lnSpc>
                <a:spcPct val="135000"/>
              </a:lnSpc>
              <a:spcAft>
                <a:spcPts val="0"/>
              </a:spcAft>
            </a:pPr>
            <a:r>
              <a:rPr sz="1000" b="1" spc="100">
                <a:solidFill>
                  <a:srgbClr val="4D7C0F"/>
                </a:solidFill>
                <a:latin typeface="Space Grotesk"/>
              </a:rPr>
              <a:t>SAM</a:t>
            </a:r>
          </a:p>
        </p:txBody>
      </p:sp>
      <p:sp>
        <p:nvSpPr>
          <p:cNvPr id="14" name="TextBox 13"/>
          <p:cNvSpPr txBox="1"/>
          <p:nvPr/>
        </p:nvSpPr>
        <p:spPr>
          <a:xfrm>
            <a:off x="1066800" y="3378200"/>
            <a:ext cx="3302000" cy="530860"/>
          </a:xfrm>
          <a:prstGeom prst="rect">
            <a:avLst/>
          </a:prstGeom>
          <a:noFill/>
        </p:spPr>
        <p:txBody>
          <a:bodyPr wrap="square" anchor="t" lIns="0" rIns="0" tIns="0" bIns="0">
            <a:spAutoFit/>
          </a:bodyPr>
          <a:lstStyle/>
          <a:p>
            <a:pPr algn="l">
              <a:lnSpc>
                <a:spcPct val="135000"/>
              </a:lnSpc>
              <a:spcAft>
                <a:spcPts val="0"/>
              </a:spcAft>
            </a:pPr>
            <a:r>
              <a:rPr sz="1900" b="1" spc="-50">
                <a:solidFill>
                  <a:srgbClr val="0E0A1B"/>
                </a:solidFill>
                <a:latin typeface="Space Grotesk"/>
              </a:rPr>
              <a:t>51.9bn UZS / year</a:t>
            </a:r>
          </a:p>
        </p:txBody>
      </p:sp>
      <p:sp>
        <p:nvSpPr>
          <p:cNvPr id="15" name="TextBox 14"/>
          <p:cNvSpPr txBox="1"/>
          <p:nvPr/>
        </p:nvSpPr>
        <p:spPr>
          <a:xfrm>
            <a:off x="4622800" y="3162300"/>
            <a:ext cx="3048000" cy="228600"/>
          </a:xfrm>
          <a:prstGeom prst="rect">
            <a:avLst/>
          </a:prstGeom>
          <a:noFill/>
        </p:spPr>
        <p:txBody>
          <a:bodyPr wrap="square" anchor="t" lIns="0" rIns="0" tIns="0" bIns="0">
            <a:spAutoFit/>
          </a:bodyPr>
          <a:lstStyle/>
          <a:p>
            <a:pPr algn="l">
              <a:lnSpc>
                <a:spcPct val="135000"/>
              </a:lnSpc>
              <a:spcAft>
                <a:spcPts val="0"/>
              </a:spcAft>
            </a:pPr>
            <a:r>
              <a:rPr sz="1000" b="1">
                <a:solidFill>
                  <a:srgbClr val="0E0A1B"/>
                </a:solidFill>
                <a:latin typeface="Space Grotesk"/>
              </a:rPr>
              <a:t>29,000 venues</a:t>
            </a:r>
          </a:p>
        </p:txBody>
      </p:sp>
      <p:sp>
        <p:nvSpPr>
          <p:cNvPr id="16" name="TextBox 15"/>
          <p:cNvSpPr txBox="1"/>
          <p:nvPr/>
        </p:nvSpPr>
        <p:spPr>
          <a:xfrm>
            <a:off x="4622800" y="3403600"/>
            <a:ext cx="3098800" cy="234696"/>
          </a:xfrm>
          <a:prstGeom prst="rect">
            <a:avLst/>
          </a:prstGeom>
          <a:noFill/>
        </p:spPr>
        <p:txBody>
          <a:bodyPr wrap="square" anchor="t" lIns="0" rIns="0" tIns="0" bIns="0">
            <a:spAutoFit/>
          </a:bodyPr>
          <a:lstStyle/>
          <a:p>
            <a:pPr algn="l">
              <a:lnSpc>
                <a:spcPct val="135000"/>
              </a:lnSpc>
              <a:spcAft>
                <a:spcPts val="0"/>
              </a:spcAft>
            </a:pPr>
            <a:r>
              <a:rPr sz="840" b="0">
                <a:solidFill>
                  <a:srgbClr val="5A5566"/>
                </a:solidFill>
                <a:latin typeface="Inter"/>
              </a:rPr>
              <a:t>Tashkent and the regional capitals — what we can reach today</a:t>
            </a:r>
          </a:p>
        </p:txBody>
      </p:sp>
      <p:sp>
        <p:nvSpPr>
          <p:cNvPr id="17" name="Rounded Rectangle 16"/>
          <p:cNvSpPr/>
          <p:nvPr/>
        </p:nvSpPr>
        <p:spPr>
          <a:xfrm>
            <a:off x="812800" y="4064000"/>
            <a:ext cx="7112000" cy="965200"/>
          </a:xfrm>
          <a:prstGeom prst="roundRect">
            <a:avLst>
              <a:gd name="adj" fmla="val 18421"/>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2800" y="4064000"/>
            <a:ext cx="57150" cy="965200"/>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66800" y="4254500"/>
            <a:ext cx="762000" cy="254000"/>
          </a:xfrm>
          <a:prstGeom prst="rect">
            <a:avLst/>
          </a:prstGeom>
          <a:noFill/>
        </p:spPr>
        <p:txBody>
          <a:bodyPr wrap="square" anchor="t" lIns="0" rIns="0" tIns="0" bIns="0">
            <a:spAutoFit/>
          </a:bodyPr>
          <a:lstStyle/>
          <a:p>
            <a:pPr algn="l">
              <a:lnSpc>
                <a:spcPct val="135000"/>
              </a:lnSpc>
              <a:spcAft>
                <a:spcPts val="0"/>
              </a:spcAft>
            </a:pPr>
            <a:r>
              <a:rPr sz="1000" b="1" spc="100">
                <a:solidFill>
                  <a:srgbClr val="4D7C0F"/>
                </a:solidFill>
                <a:latin typeface="Space Grotesk"/>
              </a:rPr>
              <a:t>SOM</a:t>
            </a:r>
          </a:p>
        </p:txBody>
      </p:sp>
      <p:sp>
        <p:nvSpPr>
          <p:cNvPr id="20" name="TextBox 19"/>
          <p:cNvSpPr txBox="1"/>
          <p:nvPr/>
        </p:nvSpPr>
        <p:spPr>
          <a:xfrm>
            <a:off x="1066800" y="4470400"/>
            <a:ext cx="3302000" cy="530860"/>
          </a:xfrm>
          <a:prstGeom prst="rect">
            <a:avLst/>
          </a:prstGeom>
          <a:noFill/>
        </p:spPr>
        <p:txBody>
          <a:bodyPr wrap="square" anchor="t" lIns="0" rIns="0" tIns="0" bIns="0">
            <a:spAutoFit/>
          </a:bodyPr>
          <a:lstStyle/>
          <a:p>
            <a:pPr algn="l">
              <a:lnSpc>
                <a:spcPct val="135000"/>
              </a:lnSpc>
              <a:spcAft>
                <a:spcPts val="0"/>
              </a:spcAft>
            </a:pPr>
            <a:r>
              <a:rPr sz="1900" b="1" spc="-50">
                <a:solidFill>
                  <a:srgbClr val="0E0A1B"/>
                </a:solidFill>
                <a:latin typeface="Space Grotesk"/>
              </a:rPr>
              <a:t>1.79bn UZS / year</a:t>
            </a:r>
          </a:p>
        </p:txBody>
      </p:sp>
      <p:sp>
        <p:nvSpPr>
          <p:cNvPr id="21" name="TextBox 20"/>
          <p:cNvSpPr txBox="1"/>
          <p:nvPr/>
        </p:nvSpPr>
        <p:spPr>
          <a:xfrm>
            <a:off x="4622800" y="4254500"/>
            <a:ext cx="3048000" cy="228600"/>
          </a:xfrm>
          <a:prstGeom prst="rect">
            <a:avLst/>
          </a:prstGeom>
          <a:noFill/>
        </p:spPr>
        <p:txBody>
          <a:bodyPr wrap="square" anchor="t" lIns="0" rIns="0" tIns="0" bIns="0">
            <a:spAutoFit/>
          </a:bodyPr>
          <a:lstStyle/>
          <a:p>
            <a:pPr algn="l">
              <a:lnSpc>
                <a:spcPct val="135000"/>
              </a:lnSpc>
              <a:spcAft>
                <a:spcPts val="0"/>
              </a:spcAft>
            </a:pPr>
            <a:r>
              <a:rPr sz="1000" b="1">
                <a:solidFill>
                  <a:srgbClr val="0E0A1B"/>
                </a:solidFill>
                <a:latin typeface="Space Grotesk"/>
              </a:rPr>
              <a:t>1,000 venues</a:t>
            </a:r>
          </a:p>
        </p:txBody>
      </p:sp>
      <p:sp>
        <p:nvSpPr>
          <p:cNvPr id="22" name="TextBox 21"/>
          <p:cNvSpPr txBox="1"/>
          <p:nvPr/>
        </p:nvSpPr>
        <p:spPr>
          <a:xfrm>
            <a:off x="4622800" y="4495800"/>
            <a:ext cx="3098800" cy="234696"/>
          </a:xfrm>
          <a:prstGeom prst="rect">
            <a:avLst/>
          </a:prstGeom>
          <a:noFill/>
        </p:spPr>
        <p:txBody>
          <a:bodyPr wrap="square" anchor="t" lIns="0" rIns="0" tIns="0" bIns="0">
            <a:spAutoFit/>
          </a:bodyPr>
          <a:lstStyle/>
          <a:p>
            <a:pPr algn="l">
              <a:lnSpc>
                <a:spcPct val="135000"/>
              </a:lnSpc>
              <a:spcAft>
                <a:spcPts val="0"/>
              </a:spcAft>
            </a:pPr>
            <a:r>
              <a:rPr sz="840" b="0">
                <a:solidFill>
                  <a:srgbClr val="5A5566"/>
                </a:solidFill>
                <a:latin typeface="Inter"/>
              </a:rPr>
              <a:t>The three-year target. It is 0.9% of the whole market</a:t>
            </a:r>
          </a:p>
        </p:txBody>
      </p:sp>
      <p:pic>
        <p:nvPicPr>
          <p:cNvPr id="23" name="Picture 22" descr="utensils-crossed-olive.png"/>
          <p:cNvPicPr>
            <a:picLocks noChangeAspect="1"/>
          </p:cNvPicPr>
          <p:nvPr/>
        </p:nvPicPr>
        <p:blipFill>
          <a:blip r:embed="rId2"/>
          <a:stretch>
            <a:fillRect/>
          </a:stretch>
        </p:blipFill>
        <p:spPr>
          <a:xfrm>
            <a:off x="8356600" y="1930400"/>
            <a:ext cx="215900" cy="215900"/>
          </a:xfrm>
          <a:prstGeom prst="rect">
            <a:avLst/>
          </a:prstGeom>
        </p:spPr>
      </p:pic>
      <p:sp>
        <p:nvSpPr>
          <p:cNvPr id="24" name="TextBox 23"/>
          <p:cNvSpPr txBox="1"/>
          <p:nvPr/>
        </p:nvSpPr>
        <p:spPr>
          <a:xfrm>
            <a:off x="8686800" y="1879600"/>
            <a:ext cx="2794000" cy="330200"/>
          </a:xfrm>
          <a:prstGeom prst="rect">
            <a:avLst/>
          </a:prstGeom>
          <a:noFill/>
        </p:spPr>
        <p:txBody>
          <a:bodyPr wrap="square" anchor="t" lIns="0" rIns="0" tIns="0" bIns="0">
            <a:spAutoFit/>
          </a:bodyPr>
          <a:lstStyle/>
          <a:p>
            <a:pPr algn="l">
              <a:lnSpc>
                <a:spcPct val="135000"/>
              </a:lnSpc>
              <a:spcAft>
                <a:spcPts val="0"/>
              </a:spcAft>
            </a:pPr>
            <a:r>
              <a:rPr sz="1600" b="1" spc="-40">
                <a:solidFill>
                  <a:srgbClr val="0E0A1B"/>
                </a:solidFill>
                <a:latin typeface="Space Grotesk"/>
              </a:rPr>
              <a:t>29,582</a:t>
            </a:r>
          </a:p>
        </p:txBody>
      </p:sp>
      <p:sp>
        <p:nvSpPr>
          <p:cNvPr id="25" name="TextBox 24"/>
          <p:cNvSpPr txBox="1"/>
          <p:nvPr/>
        </p:nvSpPr>
        <p:spPr>
          <a:xfrm>
            <a:off x="8686800" y="2159000"/>
            <a:ext cx="2844800" cy="229108"/>
          </a:xfrm>
          <a:prstGeom prst="rect">
            <a:avLst/>
          </a:prstGeom>
          <a:noFill/>
        </p:spPr>
        <p:txBody>
          <a:bodyPr wrap="square" anchor="t" lIns="0" rIns="0" tIns="0" bIns="0">
            <a:spAutoFit/>
          </a:bodyPr>
          <a:lstStyle/>
          <a:p>
            <a:pPr algn="l">
              <a:lnSpc>
                <a:spcPct val="135000"/>
              </a:lnSpc>
              <a:spcAft>
                <a:spcPts val="0"/>
              </a:spcAft>
            </a:pPr>
            <a:r>
              <a:rPr sz="819" b="0">
                <a:solidFill>
                  <a:srgbClr val="5A5566"/>
                </a:solidFill>
                <a:latin typeface="Inter"/>
              </a:rPr>
              <a:t>catering businesses · 01.08.2026</a:t>
            </a:r>
          </a:p>
        </p:txBody>
      </p:sp>
      <p:pic>
        <p:nvPicPr>
          <p:cNvPr id="26" name="Picture 25" descr="store-olive.png"/>
          <p:cNvPicPr>
            <a:picLocks noChangeAspect="1"/>
          </p:cNvPicPr>
          <p:nvPr/>
        </p:nvPicPr>
        <p:blipFill>
          <a:blip r:embed="rId3"/>
          <a:stretch>
            <a:fillRect/>
          </a:stretch>
        </p:blipFill>
        <p:spPr>
          <a:xfrm>
            <a:off x="8356600" y="2692400"/>
            <a:ext cx="215900" cy="215900"/>
          </a:xfrm>
          <a:prstGeom prst="rect">
            <a:avLst/>
          </a:prstGeom>
        </p:spPr>
      </p:pic>
      <p:sp>
        <p:nvSpPr>
          <p:cNvPr id="27" name="TextBox 26"/>
          <p:cNvSpPr txBox="1"/>
          <p:nvPr/>
        </p:nvSpPr>
        <p:spPr>
          <a:xfrm>
            <a:off x="8686800" y="2641600"/>
            <a:ext cx="2794000" cy="330200"/>
          </a:xfrm>
          <a:prstGeom prst="rect">
            <a:avLst/>
          </a:prstGeom>
          <a:noFill/>
        </p:spPr>
        <p:txBody>
          <a:bodyPr wrap="square" anchor="t" lIns="0" rIns="0" tIns="0" bIns="0">
            <a:spAutoFit/>
          </a:bodyPr>
          <a:lstStyle/>
          <a:p>
            <a:pPr algn="l">
              <a:lnSpc>
                <a:spcPct val="135000"/>
              </a:lnSpc>
              <a:spcAft>
                <a:spcPts val="0"/>
              </a:spcAft>
            </a:pPr>
            <a:r>
              <a:rPr sz="1600" b="1" spc="-40">
                <a:solidFill>
                  <a:srgbClr val="0E0A1B"/>
                </a:solidFill>
                <a:latin typeface="Space Grotesk"/>
              </a:rPr>
              <a:t>86,180</a:t>
            </a:r>
          </a:p>
        </p:txBody>
      </p:sp>
      <p:sp>
        <p:nvSpPr>
          <p:cNvPr id="28" name="TextBox 27"/>
          <p:cNvSpPr txBox="1"/>
          <p:nvPr/>
        </p:nvSpPr>
        <p:spPr>
          <a:xfrm>
            <a:off x="8686800" y="2921000"/>
            <a:ext cx="2844800" cy="229108"/>
          </a:xfrm>
          <a:prstGeom prst="rect">
            <a:avLst/>
          </a:prstGeom>
          <a:noFill/>
        </p:spPr>
        <p:txBody>
          <a:bodyPr wrap="square" anchor="t" lIns="0" rIns="0" tIns="0" bIns="0">
            <a:spAutoFit/>
          </a:bodyPr>
          <a:lstStyle/>
          <a:p>
            <a:pPr algn="l">
              <a:lnSpc>
                <a:spcPct val="135000"/>
              </a:lnSpc>
              <a:spcAft>
                <a:spcPts val="0"/>
              </a:spcAft>
            </a:pPr>
            <a:r>
              <a:rPr sz="819" b="0">
                <a:solidFill>
                  <a:srgbClr val="5A5566"/>
                </a:solidFill>
                <a:latin typeface="Inter"/>
              </a:rPr>
              <a:t>retail businesses · 01.01.2026</a:t>
            </a:r>
          </a:p>
        </p:txBody>
      </p:sp>
      <p:pic>
        <p:nvPicPr>
          <p:cNvPr id="29" name="Picture 28" descr="bed-double-olive.png"/>
          <p:cNvPicPr>
            <a:picLocks noChangeAspect="1"/>
          </p:cNvPicPr>
          <p:nvPr/>
        </p:nvPicPr>
        <p:blipFill>
          <a:blip r:embed="rId4"/>
          <a:stretch>
            <a:fillRect/>
          </a:stretch>
        </p:blipFill>
        <p:spPr>
          <a:xfrm>
            <a:off x="8356600" y="3454400"/>
            <a:ext cx="215900" cy="215900"/>
          </a:xfrm>
          <a:prstGeom prst="rect">
            <a:avLst/>
          </a:prstGeom>
        </p:spPr>
      </p:pic>
      <p:sp>
        <p:nvSpPr>
          <p:cNvPr id="30" name="TextBox 29"/>
          <p:cNvSpPr txBox="1"/>
          <p:nvPr/>
        </p:nvSpPr>
        <p:spPr>
          <a:xfrm>
            <a:off x="8686800" y="3403600"/>
            <a:ext cx="2794000" cy="330200"/>
          </a:xfrm>
          <a:prstGeom prst="rect">
            <a:avLst/>
          </a:prstGeom>
          <a:noFill/>
        </p:spPr>
        <p:txBody>
          <a:bodyPr wrap="square" anchor="t" lIns="0" rIns="0" tIns="0" bIns="0">
            <a:spAutoFit/>
          </a:bodyPr>
          <a:lstStyle/>
          <a:p>
            <a:pPr algn="l">
              <a:lnSpc>
                <a:spcPct val="135000"/>
              </a:lnSpc>
              <a:spcAft>
                <a:spcPts val="0"/>
              </a:spcAft>
            </a:pPr>
            <a:r>
              <a:rPr sz="1600" b="1" spc="-40">
                <a:solidFill>
                  <a:srgbClr val="0E0A1B"/>
                </a:solidFill>
                <a:latin typeface="Space Grotesk"/>
              </a:rPr>
              <a:t>1,156</a:t>
            </a:r>
          </a:p>
        </p:txBody>
      </p:sp>
      <p:sp>
        <p:nvSpPr>
          <p:cNvPr id="31" name="TextBox 30"/>
          <p:cNvSpPr txBox="1"/>
          <p:nvPr/>
        </p:nvSpPr>
        <p:spPr>
          <a:xfrm>
            <a:off x="8686800" y="3683000"/>
            <a:ext cx="2844800" cy="229108"/>
          </a:xfrm>
          <a:prstGeom prst="rect">
            <a:avLst/>
          </a:prstGeom>
          <a:noFill/>
        </p:spPr>
        <p:txBody>
          <a:bodyPr wrap="square" anchor="t" lIns="0" rIns="0" tIns="0" bIns="0">
            <a:spAutoFit/>
          </a:bodyPr>
          <a:lstStyle/>
          <a:p>
            <a:pPr algn="l">
              <a:lnSpc>
                <a:spcPct val="135000"/>
              </a:lnSpc>
              <a:spcAft>
                <a:spcPts val="0"/>
              </a:spcAft>
            </a:pPr>
            <a:r>
              <a:rPr sz="819" b="0">
                <a:solidFill>
                  <a:srgbClr val="5A5566"/>
                </a:solidFill>
                <a:latin typeface="Inter"/>
              </a:rPr>
              <a:t>hotels and accommodation · 2021</a:t>
            </a:r>
          </a:p>
        </p:txBody>
      </p:sp>
      <p:pic>
        <p:nvPicPr>
          <p:cNvPr id="32" name="Picture 31" descr="car-olive.png"/>
          <p:cNvPicPr>
            <a:picLocks noChangeAspect="1"/>
          </p:cNvPicPr>
          <p:nvPr/>
        </p:nvPicPr>
        <p:blipFill>
          <a:blip r:embed="rId5"/>
          <a:stretch>
            <a:fillRect/>
          </a:stretch>
        </p:blipFill>
        <p:spPr>
          <a:xfrm>
            <a:off x="8356600" y="4216400"/>
            <a:ext cx="215900" cy="215900"/>
          </a:xfrm>
          <a:prstGeom prst="rect">
            <a:avLst/>
          </a:prstGeom>
        </p:spPr>
      </p:pic>
      <p:sp>
        <p:nvSpPr>
          <p:cNvPr id="33" name="TextBox 32"/>
          <p:cNvSpPr txBox="1"/>
          <p:nvPr/>
        </p:nvSpPr>
        <p:spPr>
          <a:xfrm>
            <a:off x="8686800" y="4165600"/>
            <a:ext cx="2794000" cy="330200"/>
          </a:xfrm>
          <a:prstGeom prst="rect">
            <a:avLst/>
          </a:prstGeom>
          <a:noFill/>
        </p:spPr>
        <p:txBody>
          <a:bodyPr wrap="square" anchor="t" lIns="0" rIns="0" tIns="0" bIns="0">
            <a:spAutoFit/>
          </a:bodyPr>
          <a:lstStyle/>
          <a:p>
            <a:pPr algn="l">
              <a:lnSpc>
                <a:spcPct val="135000"/>
              </a:lnSpc>
              <a:spcAft>
                <a:spcPts val="0"/>
              </a:spcAft>
            </a:pPr>
            <a:r>
              <a:rPr sz="1600" b="1" spc="-40">
                <a:solidFill>
                  <a:srgbClr val="0E0A1B"/>
                </a:solidFill>
                <a:latin typeface="Space Grotesk"/>
              </a:rPr>
              <a:t>4.98m</a:t>
            </a:r>
          </a:p>
        </p:txBody>
      </p:sp>
      <p:sp>
        <p:nvSpPr>
          <p:cNvPr id="34" name="TextBox 33"/>
          <p:cNvSpPr txBox="1"/>
          <p:nvPr/>
        </p:nvSpPr>
        <p:spPr>
          <a:xfrm>
            <a:off x="8686800" y="4445000"/>
            <a:ext cx="2844800" cy="229108"/>
          </a:xfrm>
          <a:prstGeom prst="rect">
            <a:avLst/>
          </a:prstGeom>
          <a:noFill/>
        </p:spPr>
        <p:txBody>
          <a:bodyPr wrap="square" anchor="t" lIns="0" rIns="0" tIns="0" bIns="0">
            <a:spAutoFit/>
          </a:bodyPr>
          <a:lstStyle/>
          <a:p>
            <a:pPr algn="l">
              <a:lnSpc>
                <a:spcPct val="135000"/>
              </a:lnSpc>
              <a:spcAft>
                <a:spcPts val="0"/>
              </a:spcAft>
            </a:pPr>
            <a:r>
              <a:rPr sz="819" b="0">
                <a:solidFill>
                  <a:srgbClr val="5A5566"/>
                </a:solidFill>
                <a:latin typeface="Inter"/>
              </a:rPr>
              <a:t>vehicles owned by individuals · 01.07.2026</a:t>
            </a:r>
          </a:p>
        </p:txBody>
      </p:sp>
      <p:sp>
        <p:nvSpPr>
          <p:cNvPr id="35" name="TextBox 34"/>
          <p:cNvSpPr txBox="1"/>
          <p:nvPr/>
        </p:nvSpPr>
        <p:spPr>
          <a:xfrm>
            <a:off x="812800" y="5994400"/>
            <a:ext cx="8890000" cy="217932"/>
          </a:xfrm>
          <a:prstGeom prst="rect">
            <a:avLst/>
          </a:prstGeom>
          <a:noFill/>
        </p:spPr>
        <p:txBody>
          <a:bodyPr wrap="square" anchor="t" lIns="0" rIns="0" tIns="0" bIns="0">
            <a:spAutoFit/>
          </a:bodyPr>
          <a:lstStyle/>
          <a:p>
            <a:pPr algn="l">
              <a:lnSpc>
                <a:spcPct val="140000"/>
              </a:lnSpc>
              <a:spcAft>
                <a:spcPts val="0"/>
              </a:spcAft>
            </a:pPr>
            <a:r>
              <a:rPr sz="780" b="0">
                <a:solidFill>
                  <a:srgbClr val="5A5566"/>
                </a:solidFill>
                <a:latin typeface="Inter"/>
              </a:rPr>
              <a:t>Source: State Committee on Statistics of the Republic of Uzbekistan (stat.uz). Subscription figures use the lowest tariff, 149,000 UZS a month.</a:t>
            </a:r>
          </a:p>
        </p:txBody>
      </p:sp>
      <p:sp>
        <p:nvSpPr>
          <p:cNvPr id="36" name="TextBox 35"/>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37" name="TextBox 36"/>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COMPETITION</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The competitive picture.</a:t>
            </a:r>
          </a:p>
        </p:txBody>
      </p:sp>
      <p:sp>
        <p:nvSpPr>
          <p:cNvPr id="5" name="TextBox 4"/>
          <p:cNvSpPr txBox="1"/>
          <p:nvPr/>
        </p:nvSpPr>
        <p:spPr>
          <a:xfrm>
            <a:off x="2946400" y="1905000"/>
            <a:ext cx="1559560" cy="330200"/>
          </a:xfrm>
          <a:prstGeom prst="rect">
            <a:avLst/>
          </a:prstGeom>
          <a:noFill/>
        </p:spPr>
        <p:txBody>
          <a:bodyPr wrap="square" anchor="t" lIns="0" rIns="0" tIns="0" bIns="0">
            <a:spAutoFit/>
          </a:bodyPr>
          <a:lstStyle/>
          <a:p>
            <a:pPr algn="l">
              <a:lnSpc>
                <a:spcPct val="125000"/>
              </a:lnSpc>
              <a:spcAft>
                <a:spcPts val="0"/>
              </a:spcAft>
            </a:pPr>
            <a:r>
              <a:rPr sz="800" b="1" spc="100">
                <a:solidFill>
                  <a:srgbClr val="8A849B"/>
                </a:solidFill>
                <a:latin typeface="Inter"/>
              </a:rPr>
              <a:t>PERSONAL NUMBER</a:t>
            </a:r>
          </a:p>
        </p:txBody>
      </p:sp>
      <p:sp>
        <p:nvSpPr>
          <p:cNvPr id="6" name="TextBox 5"/>
          <p:cNvSpPr txBox="1"/>
          <p:nvPr/>
        </p:nvSpPr>
        <p:spPr>
          <a:xfrm>
            <a:off x="4632960" y="1905000"/>
            <a:ext cx="1559560" cy="330200"/>
          </a:xfrm>
          <a:prstGeom prst="rect">
            <a:avLst/>
          </a:prstGeom>
          <a:noFill/>
        </p:spPr>
        <p:txBody>
          <a:bodyPr wrap="square" anchor="t" lIns="0" rIns="0" tIns="0" bIns="0">
            <a:spAutoFit/>
          </a:bodyPr>
          <a:lstStyle/>
          <a:p>
            <a:pPr algn="l">
              <a:lnSpc>
                <a:spcPct val="125000"/>
              </a:lnSpc>
              <a:spcAft>
                <a:spcPts val="0"/>
              </a:spcAft>
            </a:pPr>
            <a:r>
              <a:rPr sz="800" b="1" spc="100">
                <a:solidFill>
                  <a:srgbClr val="8A849B"/>
                </a:solidFill>
                <a:latin typeface="Inter"/>
              </a:rPr>
              <a:t>VENUE HALF</a:t>
            </a:r>
          </a:p>
        </p:txBody>
      </p:sp>
      <p:sp>
        <p:nvSpPr>
          <p:cNvPr id="7" name="TextBox 6"/>
          <p:cNvSpPr txBox="1"/>
          <p:nvPr/>
        </p:nvSpPr>
        <p:spPr>
          <a:xfrm>
            <a:off x="6319520" y="1905000"/>
            <a:ext cx="1559560" cy="330200"/>
          </a:xfrm>
          <a:prstGeom prst="rect">
            <a:avLst/>
          </a:prstGeom>
          <a:noFill/>
        </p:spPr>
        <p:txBody>
          <a:bodyPr wrap="square" anchor="t" lIns="0" rIns="0" tIns="0" bIns="0">
            <a:spAutoFit/>
          </a:bodyPr>
          <a:lstStyle/>
          <a:p>
            <a:pPr algn="l">
              <a:lnSpc>
                <a:spcPct val="125000"/>
              </a:lnSpc>
              <a:spcAft>
                <a:spcPts val="0"/>
              </a:spcAft>
            </a:pPr>
            <a:r>
              <a:rPr sz="800" b="1" spc="100">
                <a:solidFill>
                  <a:srgbClr val="8A849B"/>
                </a:solidFill>
                <a:latin typeface="Inter"/>
              </a:rPr>
              <a:t>LOCAL PAYMENT</a:t>
            </a:r>
          </a:p>
        </p:txBody>
      </p:sp>
      <p:sp>
        <p:nvSpPr>
          <p:cNvPr id="8" name="TextBox 7"/>
          <p:cNvSpPr txBox="1"/>
          <p:nvPr/>
        </p:nvSpPr>
        <p:spPr>
          <a:xfrm>
            <a:off x="8006080" y="1905000"/>
            <a:ext cx="1559560" cy="330200"/>
          </a:xfrm>
          <a:prstGeom prst="rect">
            <a:avLst/>
          </a:prstGeom>
          <a:noFill/>
        </p:spPr>
        <p:txBody>
          <a:bodyPr wrap="square" anchor="t" lIns="0" rIns="0" tIns="0" bIns="0">
            <a:spAutoFit/>
          </a:bodyPr>
          <a:lstStyle/>
          <a:p>
            <a:pPr algn="l">
              <a:lnSpc>
                <a:spcPct val="125000"/>
              </a:lnSpc>
              <a:spcAft>
                <a:spcPts val="0"/>
              </a:spcAft>
            </a:pPr>
            <a:r>
              <a:rPr sz="800" b="1" spc="100">
                <a:solidFill>
                  <a:srgbClr val="8A849B"/>
                </a:solidFill>
                <a:latin typeface="Inter"/>
              </a:rPr>
              <a:t>STATISTICS</a:t>
            </a:r>
          </a:p>
        </p:txBody>
      </p:sp>
      <p:sp>
        <p:nvSpPr>
          <p:cNvPr id="9" name="TextBox 8"/>
          <p:cNvSpPr txBox="1"/>
          <p:nvPr/>
        </p:nvSpPr>
        <p:spPr>
          <a:xfrm>
            <a:off x="9692640" y="1905000"/>
            <a:ext cx="1559560" cy="330200"/>
          </a:xfrm>
          <a:prstGeom prst="rect">
            <a:avLst/>
          </a:prstGeom>
          <a:noFill/>
        </p:spPr>
        <p:txBody>
          <a:bodyPr wrap="square" anchor="t" lIns="0" rIns="0" tIns="0" bIns="0">
            <a:spAutoFit/>
          </a:bodyPr>
          <a:lstStyle/>
          <a:p>
            <a:pPr algn="l">
              <a:lnSpc>
                <a:spcPct val="125000"/>
              </a:lnSpc>
              <a:spcAft>
                <a:spcPts val="0"/>
              </a:spcAft>
            </a:pPr>
            <a:r>
              <a:rPr sz="800" b="1" spc="100">
                <a:solidFill>
                  <a:srgbClr val="8A849B"/>
                </a:solidFill>
                <a:latin typeface="Inter"/>
              </a:rPr>
              <a:t>THREE LANGUAGES</a:t>
            </a:r>
          </a:p>
        </p:txBody>
      </p:sp>
      <p:sp>
        <p:nvSpPr>
          <p:cNvPr id="10" name="Rounded Rectangle 9"/>
          <p:cNvSpPr/>
          <p:nvPr/>
        </p:nvSpPr>
        <p:spPr>
          <a:xfrm>
            <a:off x="660400" y="2260600"/>
            <a:ext cx="10871200" cy="584200"/>
          </a:xfrm>
          <a:prstGeom prst="roundRect">
            <a:avLst>
              <a:gd name="adj" fmla="val 21739"/>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2800" y="2413000"/>
            <a:ext cx="1955800" cy="307340"/>
          </a:xfrm>
          <a:prstGeom prst="rect">
            <a:avLst/>
          </a:prstGeom>
          <a:noFill/>
        </p:spPr>
        <p:txBody>
          <a:bodyPr wrap="square" anchor="t" lIns="0" rIns="0" tIns="0" bIns="0">
            <a:spAutoFit/>
          </a:bodyPr>
          <a:lstStyle/>
          <a:p>
            <a:pPr algn="l">
              <a:lnSpc>
                <a:spcPct val="135000"/>
              </a:lnSpc>
              <a:spcAft>
                <a:spcPts val="0"/>
              </a:spcAft>
            </a:pPr>
            <a:r>
              <a:rPr sz="1100" b="1">
                <a:solidFill>
                  <a:srgbClr val="ABFF09"/>
                </a:solidFill>
                <a:latin typeface="Space Grotesk"/>
              </a:rPr>
              <a:t>flex</a:t>
            </a:r>
          </a:p>
        </p:txBody>
      </p:sp>
      <p:sp>
        <p:nvSpPr>
          <p:cNvPr id="12" name="TextBox 11"/>
          <p:cNvSpPr txBox="1"/>
          <p:nvPr/>
        </p:nvSpPr>
        <p:spPr>
          <a:xfrm>
            <a:off x="2946400" y="24257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C2BECE"/>
                </a:solidFill>
                <a:latin typeface="Inter"/>
              </a:rPr>
              <a:t>Yes · AAA000</a:t>
            </a:r>
          </a:p>
        </p:txBody>
      </p:sp>
      <p:sp>
        <p:nvSpPr>
          <p:cNvPr id="13" name="TextBox 12"/>
          <p:cNvSpPr txBox="1"/>
          <p:nvPr/>
        </p:nvSpPr>
        <p:spPr>
          <a:xfrm>
            <a:off x="4632960" y="24257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C2BECE"/>
                </a:solidFill>
                <a:latin typeface="Inter"/>
              </a:rPr>
              <a:t>Yes</a:t>
            </a:r>
          </a:p>
        </p:txBody>
      </p:sp>
      <p:sp>
        <p:nvSpPr>
          <p:cNvPr id="14" name="TextBox 13"/>
          <p:cNvSpPr txBox="1"/>
          <p:nvPr/>
        </p:nvSpPr>
        <p:spPr>
          <a:xfrm>
            <a:off x="6319520" y="24257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C2BECE"/>
                </a:solidFill>
                <a:latin typeface="Inter"/>
              </a:rPr>
              <a:t>Yes · Payme</a:t>
            </a:r>
          </a:p>
        </p:txBody>
      </p:sp>
      <p:sp>
        <p:nvSpPr>
          <p:cNvPr id="15" name="TextBox 14"/>
          <p:cNvSpPr txBox="1"/>
          <p:nvPr/>
        </p:nvSpPr>
        <p:spPr>
          <a:xfrm>
            <a:off x="8006080" y="24257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C2BECE"/>
                </a:solidFill>
                <a:latin typeface="Inter"/>
              </a:rPr>
              <a:t>Yes</a:t>
            </a:r>
          </a:p>
        </p:txBody>
      </p:sp>
      <p:sp>
        <p:nvSpPr>
          <p:cNvPr id="16" name="TextBox 15"/>
          <p:cNvSpPr txBox="1"/>
          <p:nvPr/>
        </p:nvSpPr>
        <p:spPr>
          <a:xfrm>
            <a:off x="9692640" y="24257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C2BECE"/>
                </a:solidFill>
                <a:latin typeface="Inter"/>
              </a:rPr>
              <a:t>Yes</a:t>
            </a:r>
          </a:p>
        </p:txBody>
      </p:sp>
      <p:sp>
        <p:nvSpPr>
          <p:cNvPr id="17" name="TextBox 16"/>
          <p:cNvSpPr txBox="1"/>
          <p:nvPr/>
        </p:nvSpPr>
        <p:spPr>
          <a:xfrm>
            <a:off x="812800" y="2997200"/>
            <a:ext cx="1955800" cy="307340"/>
          </a:xfrm>
          <a:prstGeom prst="rect">
            <a:avLst/>
          </a:prstGeom>
          <a:noFill/>
        </p:spPr>
        <p:txBody>
          <a:bodyPr wrap="square" anchor="t" lIns="0" rIns="0" tIns="0" bIns="0">
            <a:spAutoFit/>
          </a:bodyPr>
          <a:lstStyle/>
          <a:p>
            <a:pPr algn="l">
              <a:lnSpc>
                <a:spcPct val="135000"/>
              </a:lnSpc>
              <a:spcAft>
                <a:spcPts val="0"/>
              </a:spcAft>
            </a:pPr>
            <a:r>
              <a:rPr sz="1100" b="1">
                <a:solidFill>
                  <a:srgbClr val="FFFFFF"/>
                </a:solidFill>
                <a:latin typeface="Space Grotesk"/>
              </a:rPr>
              <a:t>UNQX</a:t>
            </a:r>
          </a:p>
        </p:txBody>
      </p:sp>
      <p:sp>
        <p:nvSpPr>
          <p:cNvPr id="18" name="TextBox 17"/>
          <p:cNvSpPr txBox="1"/>
          <p:nvPr/>
        </p:nvSpPr>
        <p:spPr>
          <a:xfrm>
            <a:off x="2946400" y="30099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Yes · three letters, three digits</a:t>
            </a:r>
          </a:p>
        </p:txBody>
      </p:sp>
      <p:sp>
        <p:nvSpPr>
          <p:cNvPr id="19" name="TextBox 18"/>
          <p:cNvSpPr txBox="1"/>
          <p:nvPr/>
        </p:nvSpPr>
        <p:spPr>
          <a:xfrm>
            <a:off x="4632960" y="30099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20" name="TextBox 19"/>
          <p:cNvSpPr txBox="1"/>
          <p:nvPr/>
        </p:nvSpPr>
        <p:spPr>
          <a:xfrm>
            <a:off x="6319520" y="30099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Not known</a:t>
            </a:r>
          </a:p>
        </p:txBody>
      </p:sp>
      <p:sp>
        <p:nvSpPr>
          <p:cNvPr id="21" name="TextBox 20"/>
          <p:cNvSpPr txBox="1"/>
          <p:nvPr/>
        </p:nvSpPr>
        <p:spPr>
          <a:xfrm>
            <a:off x="8006080" y="30099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Not known</a:t>
            </a:r>
          </a:p>
        </p:txBody>
      </p:sp>
      <p:sp>
        <p:nvSpPr>
          <p:cNvPr id="22" name="TextBox 21"/>
          <p:cNvSpPr txBox="1"/>
          <p:nvPr/>
        </p:nvSpPr>
        <p:spPr>
          <a:xfrm>
            <a:off x="9692640" y="30099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Not known</a:t>
            </a:r>
          </a:p>
        </p:txBody>
      </p:sp>
      <p:sp>
        <p:nvSpPr>
          <p:cNvPr id="23" name="Rectangle 22"/>
          <p:cNvSpPr/>
          <p:nvPr/>
        </p:nvSpPr>
        <p:spPr>
          <a:xfrm>
            <a:off x="812800" y="3429000"/>
            <a:ext cx="105664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800" y="3581400"/>
            <a:ext cx="1955800" cy="307340"/>
          </a:xfrm>
          <a:prstGeom prst="rect">
            <a:avLst/>
          </a:prstGeom>
          <a:noFill/>
        </p:spPr>
        <p:txBody>
          <a:bodyPr wrap="square" anchor="t" lIns="0" rIns="0" tIns="0" bIns="0">
            <a:spAutoFit/>
          </a:bodyPr>
          <a:lstStyle/>
          <a:p>
            <a:pPr algn="l">
              <a:lnSpc>
                <a:spcPct val="135000"/>
              </a:lnSpc>
              <a:spcAft>
                <a:spcPts val="0"/>
              </a:spcAft>
            </a:pPr>
            <a:r>
              <a:rPr sz="1100" b="1">
                <a:solidFill>
                  <a:srgbClr val="FFFFFF"/>
                </a:solidFill>
                <a:latin typeface="Space Grotesk"/>
              </a:rPr>
              <a:t>Popl, V1CE, Linq</a:t>
            </a:r>
          </a:p>
        </p:txBody>
      </p:sp>
      <p:sp>
        <p:nvSpPr>
          <p:cNvPr id="25" name="TextBox 24"/>
          <p:cNvSpPr txBox="1"/>
          <p:nvPr/>
        </p:nvSpPr>
        <p:spPr>
          <a:xfrm>
            <a:off x="2946400" y="35941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Yes · a link</a:t>
            </a:r>
          </a:p>
        </p:txBody>
      </p:sp>
      <p:sp>
        <p:nvSpPr>
          <p:cNvPr id="26" name="TextBox 25"/>
          <p:cNvSpPr txBox="1"/>
          <p:nvPr/>
        </p:nvSpPr>
        <p:spPr>
          <a:xfrm>
            <a:off x="4632960" y="35941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27" name="TextBox 26"/>
          <p:cNvSpPr txBox="1"/>
          <p:nvPr/>
        </p:nvSpPr>
        <p:spPr>
          <a:xfrm>
            <a:off x="6319520" y="35941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28" name="TextBox 27"/>
          <p:cNvSpPr txBox="1"/>
          <p:nvPr/>
        </p:nvSpPr>
        <p:spPr>
          <a:xfrm>
            <a:off x="8006080" y="35941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Yes</a:t>
            </a:r>
          </a:p>
        </p:txBody>
      </p:sp>
      <p:sp>
        <p:nvSpPr>
          <p:cNvPr id="29" name="TextBox 28"/>
          <p:cNvSpPr txBox="1"/>
          <p:nvPr/>
        </p:nvSpPr>
        <p:spPr>
          <a:xfrm>
            <a:off x="9692640" y="35941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Partly</a:t>
            </a:r>
          </a:p>
        </p:txBody>
      </p:sp>
      <p:sp>
        <p:nvSpPr>
          <p:cNvPr id="30" name="Rectangle 29"/>
          <p:cNvSpPr/>
          <p:nvPr/>
        </p:nvSpPr>
        <p:spPr>
          <a:xfrm>
            <a:off x="812800" y="4013200"/>
            <a:ext cx="105664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800" y="4165600"/>
            <a:ext cx="1955800" cy="307340"/>
          </a:xfrm>
          <a:prstGeom prst="rect">
            <a:avLst/>
          </a:prstGeom>
          <a:noFill/>
        </p:spPr>
        <p:txBody>
          <a:bodyPr wrap="square" anchor="t" lIns="0" rIns="0" tIns="0" bIns="0">
            <a:spAutoFit/>
          </a:bodyPr>
          <a:lstStyle/>
          <a:p>
            <a:pPr algn="l">
              <a:lnSpc>
                <a:spcPct val="135000"/>
              </a:lnSpc>
              <a:spcAft>
                <a:spcPts val="0"/>
              </a:spcAft>
            </a:pPr>
            <a:r>
              <a:rPr sz="1100" b="1">
                <a:solidFill>
                  <a:srgbClr val="FFFFFF"/>
                </a:solidFill>
                <a:latin typeface="Space Grotesk"/>
              </a:rPr>
              <a:t>QR menu services</a:t>
            </a:r>
          </a:p>
        </p:txBody>
      </p:sp>
      <p:sp>
        <p:nvSpPr>
          <p:cNvPr id="32" name="TextBox 31"/>
          <p:cNvSpPr txBox="1"/>
          <p:nvPr/>
        </p:nvSpPr>
        <p:spPr>
          <a:xfrm>
            <a:off x="2946400" y="41783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33" name="TextBox 32"/>
          <p:cNvSpPr txBox="1"/>
          <p:nvPr/>
        </p:nvSpPr>
        <p:spPr>
          <a:xfrm>
            <a:off x="4632960" y="41783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Menu only</a:t>
            </a:r>
          </a:p>
        </p:txBody>
      </p:sp>
      <p:sp>
        <p:nvSpPr>
          <p:cNvPr id="34" name="TextBox 33"/>
          <p:cNvSpPr txBox="1"/>
          <p:nvPr/>
        </p:nvSpPr>
        <p:spPr>
          <a:xfrm>
            <a:off x="6319520" y="41783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Partly</a:t>
            </a:r>
          </a:p>
        </p:txBody>
      </p:sp>
      <p:sp>
        <p:nvSpPr>
          <p:cNvPr id="35" name="TextBox 34"/>
          <p:cNvSpPr txBox="1"/>
          <p:nvPr/>
        </p:nvSpPr>
        <p:spPr>
          <a:xfrm>
            <a:off x="8006080" y="41783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Partly</a:t>
            </a:r>
          </a:p>
        </p:txBody>
      </p:sp>
      <p:sp>
        <p:nvSpPr>
          <p:cNvPr id="36" name="TextBox 35"/>
          <p:cNvSpPr txBox="1"/>
          <p:nvPr/>
        </p:nvSpPr>
        <p:spPr>
          <a:xfrm>
            <a:off x="9692640" y="41783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Yes</a:t>
            </a:r>
          </a:p>
        </p:txBody>
      </p:sp>
      <p:sp>
        <p:nvSpPr>
          <p:cNvPr id="37" name="Rectangle 36"/>
          <p:cNvSpPr/>
          <p:nvPr/>
        </p:nvSpPr>
        <p:spPr>
          <a:xfrm>
            <a:off x="812800" y="4597400"/>
            <a:ext cx="105664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2800" y="4749800"/>
            <a:ext cx="1955800" cy="307340"/>
          </a:xfrm>
          <a:prstGeom prst="rect">
            <a:avLst/>
          </a:prstGeom>
          <a:noFill/>
        </p:spPr>
        <p:txBody>
          <a:bodyPr wrap="square" anchor="t" lIns="0" rIns="0" tIns="0" bIns="0">
            <a:spAutoFit/>
          </a:bodyPr>
          <a:lstStyle/>
          <a:p>
            <a:pPr algn="l">
              <a:lnSpc>
                <a:spcPct val="135000"/>
              </a:lnSpc>
              <a:spcAft>
                <a:spcPts val="0"/>
              </a:spcAft>
            </a:pPr>
            <a:r>
              <a:rPr sz="1100" b="1">
                <a:solidFill>
                  <a:srgbClr val="FFFFFF"/>
                </a:solidFill>
                <a:latin typeface="Space Grotesk"/>
              </a:rPr>
              <a:t>A paper card</a:t>
            </a:r>
          </a:p>
        </p:txBody>
      </p:sp>
      <p:sp>
        <p:nvSpPr>
          <p:cNvPr id="39" name="TextBox 38"/>
          <p:cNvSpPr txBox="1"/>
          <p:nvPr/>
        </p:nvSpPr>
        <p:spPr>
          <a:xfrm>
            <a:off x="2946400" y="47625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40" name="TextBox 39"/>
          <p:cNvSpPr txBox="1"/>
          <p:nvPr/>
        </p:nvSpPr>
        <p:spPr>
          <a:xfrm>
            <a:off x="4632960" y="47625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41" name="TextBox 40"/>
          <p:cNvSpPr txBox="1"/>
          <p:nvPr/>
        </p:nvSpPr>
        <p:spPr>
          <a:xfrm>
            <a:off x="6319520" y="47625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42" name="TextBox 41"/>
          <p:cNvSpPr txBox="1"/>
          <p:nvPr/>
        </p:nvSpPr>
        <p:spPr>
          <a:xfrm>
            <a:off x="8006080" y="47625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43" name="TextBox 42"/>
          <p:cNvSpPr txBox="1"/>
          <p:nvPr/>
        </p:nvSpPr>
        <p:spPr>
          <a:xfrm>
            <a:off x="9692640" y="4762500"/>
            <a:ext cx="153416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No</a:t>
            </a:r>
          </a:p>
        </p:txBody>
      </p:sp>
      <p:sp>
        <p:nvSpPr>
          <p:cNvPr id="44" name="Rectangle 43"/>
          <p:cNvSpPr/>
          <p:nvPr/>
        </p:nvSpPr>
        <p:spPr>
          <a:xfrm>
            <a:off x="812800" y="5181600"/>
            <a:ext cx="105664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2800" y="5918200"/>
            <a:ext cx="96520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UNQX is live in the Fergana Valley with personal profiles. Nobody local sells the venue half: menu, table requests, counter screen and a monthly report in one system.</a:t>
            </a:r>
          </a:p>
        </p:txBody>
      </p:sp>
      <p:sp>
        <p:nvSpPr>
          <p:cNvPr id="46" name="TextBox 45"/>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47" name="TextBox 46"/>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HOW IT WORKS</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The half a printed menu cannot do.</a:t>
            </a:r>
          </a:p>
        </p:txBody>
      </p:sp>
      <p:pic>
        <p:nvPicPr>
          <p:cNvPr id="5" name="Picture 4" descr="restoran.jpg"/>
          <p:cNvPicPr>
            <a:picLocks noChangeAspect="1"/>
          </p:cNvPicPr>
          <p:nvPr/>
        </p:nvPicPr>
        <p:blipFill>
          <a:blip r:embed="rId2"/>
          <a:srcRect l="33091" r="33091"/>
          <a:stretch>
            <a:fillRect/>
          </a:stretch>
        </p:blipFill>
        <p:spPr>
          <a:xfrm>
            <a:off x="812800" y="1905000"/>
            <a:ext cx="2362200" cy="3810000"/>
          </a:xfrm>
          <a:prstGeom prst="rect">
            <a:avLst/>
          </a:prstGeom>
        </p:spPr>
      </p:pic>
      <p:pic>
        <p:nvPicPr>
          <p:cNvPr id="6" name="Picture 5" descr="counter.png"/>
          <p:cNvPicPr>
            <a:picLocks noChangeAspect="1"/>
          </p:cNvPicPr>
          <p:nvPr/>
        </p:nvPicPr>
        <p:blipFill>
          <a:blip r:embed="rId3"/>
          <a:stretch>
            <a:fillRect/>
          </a:stretch>
        </p:blipFill>
        <p:spPr>
          <a:xfrm>
            <a:off x="3378200" y="2378408"/>
            <a:ext cx="2260600" cy="2863183"/>
          </a:xfrm>
          <a:prstGeom prst="rect">
            <a:avLst/>
          </a:prstGeom>
        </p:spPr>
      </p:pic>
      <p:sp>
        <p:nvSpPr>
          <p:cNvPr id="7" name="Rounded Rectangle 6"/>
          <p:cNvSpPr/>
          <p:nvPr/>
        </p:nvSpPr>
        <p:spPr>
          <a:xfrm>
            <a:off x="5892800" y="1905000"/>
            <a:ext cx="304800" cy="304800"/>
          </a:xfrm>
          <a:prstGeom prst="roundRect">
            <a:avLst>
              <a:gd name="adj" fmla="val 33333"/>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892800" y="1968500"/>
            <a:ext cx="304800" cy="203200"/>
          </a:xfrm>
          <a:prstGeom prst="rect">
            <a:avLst/>
          </a:prstGeom>
          <a:noFill/>
        </p:spPr>
        <p:txBody>
          <a:bodyPr wrap="square" anchor="t" lIns="0" rIns="0" tIns="0" bIns="0">
            <a:spAutoFit/>
          </a:bodyPr>
          <a:lstStyle/>
          <a:p>
            <a:pPr algn="ctr">
              <a:lnSpc>
                <a:spcPct val="135000"/>
              </a:lnSpc>
              <a:spcAft>
                <a:spcPts val="0"/>
              </a:spcAft>
            </a:pPr>
            <a:r>
              <a:rPr sz="1000" b="1">
                <a:solidFill>
                  <a:srgbClr val="0E0A1B"/>
                </a:solidFill>
                <a:latin typeface="Space Grotesk"/>
              </a:rPr>
              <a:t>1</a:t>
            </a:r>
          </a:p>
        </p:txBody>
      </p:sp>
      <p:sp>
        <p:nvSpPr>
          <p:cNvPr id="9" name="TextBox 8"/>
          <p:cNvSpPr txBox="1"/>
          <p:nvPr/>
        </p:nvSpPr>
        <p:spPr>
          <a:xfrm>
            <a:off x="6350000" y="1943100"/>
            <a:ext cx="50292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Every table has its own QR code and its own NFC tag</a:t>
            </a:r>
          </a:p>
        </p:txBody>
      </p:sp>
      <p:sp>
        <p:nvSpPr>
          <p:cNvPr id="10" name="Rounded Rectangle 9"/>
          <p:cNvSpPr/>
          <p:nvPr/>
        </p:nvSpPr>
        <p:spPr>
          <a:xfrm>
            <a:off x="5892800" y="2616200"/>
            <a:ext cx="304800" cy="304800"/>
          </a:xfrm>
          <a:prstGeom prst="roundRect">
            <a:avLst>
              <a:gd name="adj" fmla="val 33333"/>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892800" y="2679700"/>
            <a:ext cx="304800" cy="203200"/>
          </a:xfrm>
          <a:prstGeom prst="rect">
            <a:avLst/>
          </a:prstGeom>
          <a:noFill/>
        </p:spPr>
        <p:txBody>
          <a:bodyPr wrap="square" anchor="t" lIns="0" rIns="0" tIns="0" bIns="0">
            <a:spAutoFit/>
          </a:bodyPr>
          <a:lstStyle/>
          <a:p>
            <a:pPr algn="ctr">
              <a:lnSpc>
                <a:spcPct val="135000"/>
              </a:lnSpc>
              <a:spcAft>
                <a:spcPts val="0"/>
              </a:spcAft>
            </a:pPr>
            <a:r>
              <a:rPr sz="1000" b="1">
                <a:solidFill>
                  <a:srgbClr val="0E0A1B"/>
                </a:solidFill>
                <a:latin typeface="Space Grotesk"/>
              </a:rPr>
              <a:t>2</a:t>
            </a:r>
          </a:p>
        </p:txBody>
      </p:sp>
      <p:sp>
        <p:nvSpPr>
          <p:cNvPr id="12" name="TextBox 11"/>
          <p:cNvSpPr txBox="1"/>
          <p:nvPr/>
        </p:nvSpPr>
        <p:spPr>
          <a:xfrm>
            <a:off x="6350000" y="2654300"/>
            <a:ext cx="50292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The guest taps it — the menu opens in their language</a:t>
            </a:r>
          </a:p>
        </p:txBody>
      </p:sp>
      <p:sp>
        <p:nvSpPr>
          <p:cNvPr id="13" name="Rounded Rectangle 12"/>
          <p:cNvSpPr/>
          <p:nvPr/>
        </p:nvSpPr>
        <p:spPr>
          <a:xfrm>
            <a:off x="5892800" y="3327400"/>
            <a:ext cx="304800" cy="304800"/>
          </a:xfrm>
          <a:prstGeom prst="roundRect">
            <a:avLst>
              <a:gd name="adj" fmla="val 33333"/>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892800" y="3390900"/>
            <a:ext cx="304800" cy="203200"/>
          </a:xfrm>
          <a:prstGeom prst="rect">
            <a:avLst/>
          </a:prstGeom>
          <a:noFill/>
        </p:spPr>
        <p:txBody>
          <a:bodyPr wrap="square" anchor="t" lIns="0" rIns="0" tIns="0" bIns="0">
            <a:spAutoFit/>
          </a:bodyPr>
          <a:lstStyle/>
          <a:p>
            <a:pPr algn="ctr">
              <a:lnSpc>
                <a:spcPct val="135000"/>
              </a:lnSpc>
              <a:spcAft>
                <a:spcPts val="0"/>
              </a:spcAft>
            </a:pPr>
            <a:r>
              <a:rPr sz="1000" b="1">
                <a:solidFill>
                  <a:srgbClr val="0E0A1B"/>
                </a:solidFill>
                <a:latin typeface="Space Grotesk"/>
              </a:rPr>
              <a:t>3</a:t>
            </a:r>
          </a:p>
        </p:txBody>
      </p:sp>
      <p:sp>
        <p:nvSpPr>
          <p:cNvPr id="15" name="TextBox 14"/>
          <p:cNvSpPr txBox="1"/>
          <p:nvPr/>
        </p:nvSpPr>
        <p:spPr>
          <a:xfrm>
            <a:off x="6350000" y="3365500"/>
            <a:ext cx="50292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One tap: a waiter, the bill, or a review</a:t>
            </a:r>
          </a:p>
        </p:txBody>
      </p:sp>
      <p:sp>
        <p:nvSpPr>
          <p:cNvPr id="16" name="Rounded Rectangle 15"/>
          <p:cNvSpPr/>
          <p:nvPr/>
        </p:nvSpPr>
        <p:spPr>
          <a:xfrm>
            <a:off x="5892800" y="4038600"/>
            <a:ext cx="304800" cy="304800"/>
          </a:xfrm>
          <a:prstGeom prst="roundRect">
            <a:avLst>
              <a:gd name="adj" fmla="val 33333"/>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892800" y="4102100"/>
            <a:ext cx="304800" cy="203200"/>
          </a:xfrm>
          <a:prstGeom prst="rect">
            <a:avLst/>
          </a:prstGeom>
          <a:noFill/>
        </p:spPr>
        <p:txBody>
          <a:bodyPr wrap="square" anchor="t" lIns="0" rIns="0" tIns="0" bIns="0">
            <a:spAutoFit/>
          </a:bodyPr>
          <a:lstStyle/>
          <a:p>
            <a:pPr algn="ctr">
              <a:lnSpc>
                <a:spcPct val="135000"/>
              </a:lnSpc>
              <a:spcAft>
                <a:spcPts val="0"/>
              </a:spcAft>
            </a:pPr>
            <a:r>
              <a:rPr sz="1000" b="1">
                <a:solidFill>
                  <a:srgbClr val="0E0A1B"/>
                </a:solidFill>
                <a:latin typeface="Space Grotesk"/>
              </a:rPr>
              <a:t>4</a:t>
            </a:r>
          </a:p>
        </p:txBody>
      </p:sp>
      <p:sp>
        <p:nvSpPr>
          <p:cNvPr id="18" name="TextBox 17"/>
          <p:cNvSpPr txBox="1"/>
          <p:nvPr/>
        </p:nvSpPr>
        <p:spPr>
          <a:xfrm>
            <a:off x="6350000" y="4076700"/>
            <a:ext cx="50292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It lands on the phone by the till with the table number, and it rings</a:t>
            </a:r>
          </a:p>
        </p:txBody>
      </p:sp>
      <p:sp>
        <p:nvSpPr>
          <p:cNvPr id="19" name="Rounded Rectangle 18"/>
          <p:cNvSpPr/>
          <p:nvPr/>
        </p:nvSpPr>
        <p:spPr>
          <a:xfrm>
            <a:off x="5892800" y="4749800"/>
            <a:ext cx="304800" cy="304800"/>
          </a:xfrm>
          <a:prstGeom prst="roundRect">
            <a:avLst>
              <a:gd name="adj" fmla="val 33333"/>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892800" y="4813300"/>
            <a:ext cx="304800" cy="203200"/>
          </a:xfrm>
          <a:prstGeom prst="rect">
            <a:avLst/>
          </a:prstGeom>
          <a:noFill/>
        </p:spPr>
        <p:txBody>
          <a:bodyPr wrap="square" anchor="t" lIns="0" rIns="0" tIns="0" bIns="0">
            <a:spAutoFit/>
          </a:bodyPr>
          <a:lstStyle/>
          <a:p>
            <a:pPr algn="ctr">
              <a:lnSpc>
                <a:spcPct val="135000"/>
              </a:lnSpc>
              <a:spcAft>
                <a:spcPts val="0"/>
              </a:spcAft>
            </a:pPr>
            <a:r>
              <a:rPr sz="1000" b="1">
                <a:solidFill>
                  <a:srgbClr val="0E0A1B"/>
                </a:solidFill>
                <a:latin typeface="Space Grotesk"/>
              </a:rPr>
              <a:t>5</a:t>
            </a:r>
          </a:p>
        </p:txBody>
      </p:sp>
      <p:sp>
        <p:nvSpPr>
          <p:cNvPr id="21" name="TextBox 20"/>
          <p:cNvSpPr txBox="1"/>
          <p:nvPr/>
        </p:nvSpPr>
        <p:spPr>
          <a:xfrm>
            <a:off x="6350000" y="4787900"/>
            <a:ext cx="50292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Nobody signs in — the phone stays on one link</a:t>
            </a:r>
          </a:p>
        </p:txBody>
      </p:sp>
      <p:sp>
        <p:nvSpPr>
          <p:cNvPr id="22" name="TextBox 21"/>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23" name="TextBox 22"/>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WHAT A VENUE RECEIVES</a:t>
            </a:r>
          </a:p>
        </p:txBody>
      </p:sp>
      <p:sp>
        <p:nvSpPr>
          <p:cNvPr id="4" name="TextBox 3"/>
          <p:cNvSpPr txBox="1"/>
          <p:nvPr/>
        </p:nvSpPr>
        <p:spPr>
          <a:xfrm>
            <a:off x="812800" y="889000"/>
            <a:ext cx="8890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Printed on Monday, answering by Tuesday.</a:t>
            </a:r>
          </a:p>
        </p:txBody>
      </p:sp>
      <p:pic>
        <p:nvPicPr>
          <p:cNvPr id="5" name="Picture 4" descr="cards.png"/>
          <p:cNvPicPr>
            <a:picLocks noChangeAspect="1"/>
          </p:cNvPicPr>
          <p:nvPr/>
        </p:nvPicPr>
        <p:blipFill>
          <a:blip r:embed="rId2"/>
          <a:srcRect b="9630"/>
          <a:stretch>
            <a:fillRect/>
          </a:stretch>
        </p:blipFill>
        <p:spPr>
          <a:xfrm>
            <a:off x="812800" y="2006600"/>
            <a:ext cx="5334000" cy="3098800"/>
          </a:xfrm>
          <a:prstGeom prst="rect">
            <a:avLst/>
          </a:prstGeom>
        </p:spPr>
      </p:pic>
      <p:sp>
        <p:nvSpPr>
          <p:cNvPr id="6" name="TextBox 5"/>
          <p:cNvSpPr txBox="1"/>
          <p:nvPr/>
        </p:nvSpPr>
        <p:spPr>
          <a:xfrm>
            <a:off x="812800" y="5283200"/>
            <a:ext cx="5334000" cy="262636"/>
          </a:xfrm>
          <a:prstGeom prst="rect">
            <a:avLst/>
          </a:prstGeom>
          <a:noFill/>
        </p:spPr>
        <p:txBody>
          <a:bodyPr wrap="square" anchor="t" lIns="0" rIns="0" tIns="0" bIns="0">
            <a:spAutoFit/>
          </a:bodyPr>
          <a:lstStyle/>
          <a:p>
            <a:pPr algn="l">
              <a:lnSpc>
                <a:spcPct val="145000"/>
              </a:lnSpc>
              <a:spcAft>
                <a:spcPts val="0"/>
              </a:spcAft>
            </a:pPr>
            <a:r>
              <a:rPr sz="940" b="0">
                <a:solidFill>
                  <a:srgbClr val="5A5566"/>
                </a:solidFill>
                <a:latin typeface="Inter"/>
              </a:rPr>
              <a:t>The owner types the tables, prints the sheet and puts a card on each one. Every code carries its own table number.</a:t>
            </a:r>
          </a:p>
        </p:txBody>
      </p:sp>
      <p:sp>
        <p:nvSpPr>
          <p:cNvPr id="7" name="Rounded Rectangle 6"/>
          <p:cNvSpPr/>
          <p:nvPr/>
        </p:nvSpPr>
        <p:spPr>
          <a:xfrm>
            <a:off x="6553200" y="2006600"/>
            <a:ext cx="4826000" cy="508000"/>
          </a:xfrm>
          <a:prstGeom prst="roundRect">
            <a:avLst>
              <a:gd name="adj" fmla="val 35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qr-code-olive.png"/>
          <p:cNvPicPr>
            <a:picLocks noChangeAspect="1"/>
          </p:cNvPicPr>
          <p:nvPr/>
        </p:nvPicPr>
        <p:blipFill>
          <a:blip r:embed="rId3"/>
          <a:stretch>
            <a:fillRect/>
          </a:stretch>
        </p:blipFill>
        <p:spPr>
          <a:xfrm>
            <a:off x="6756400" y="2146300"/>
            <a:ext cx="228600" cy="228600"/>
          </a:xfrm>
          <a:prstGeom prst="rect">
            <a:avLst/>
          </a:prstGeom>
        </p:spPr>
      </p:pic>
      <p:sp>
        <p:nvSpPr>
          <p:cNvPr id="9" name="TextBox 8"/>
          <p:cNvSpPr txBox="1"/>
          <p:nvPr/>
        </p:nvSpPr>
        <p:spPr>
          <a:xfrm>
            <a:off x="7112000" y="2171700"/>
            <a:ext cx="4089400" cy="268224"/>
          </a:xfrm>
          <a:prstGeom prst="rect">
            <a:avLst/>
          </a:prstGeom>
          <a:noFill/>
        </p:spPr>
        <p:txBody>
          <a:bodyPr wrap="square" anchor="t" lIns="0" rIns="0" tIns="0" bIns="0">
            <a:spAutoFit/>
          </a:bodyPr>
          <a:lstStyle/>
          <a:p>
            <a:pPr algn="l">
              <a:lnSpc>
                <a:spcPct val="135000"/>
              </a:lnSpc>
              <a:spcAft>
                <a:spcPts val="0"/>
              </a:spcAft>
            </a:pPr>
            <a:r>
              <a:rPr sz="960" b="1">
                <a:solidFill>
                  <a:srgbClr val="0E0A1B"/>
                </a:solidFill>
                <a:latin typeface="Space Grotesk"/>
              </a:rPr>
              <a:t>A QR and NFC tag per table</a:t>
            </a:r>
          </a:p>
        </p:txBody>
      </p:sp>
      <p:sp>
        <p:nvSpPr>
          <p:cNvPr id="10" name="Rounded Rectangle 9"/>
          <p:cNvSpPr/>
          <p:nvPr/>
        </p:nvSpPr>
        <p:spPr>
          <a:xfrm>
            <a:off x="6553200" y="2641600"/>
            <a:ext cx="4826000" cy="508000"/>
          </a:xfrm>
          <a:prstGeom prst="roundRect">
            <a:avLst>
              <a:gd name="adj" fmla="val 35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rinter-olive.png"/>
          <p:cNvPicPr>
            <a:picLocks noChangeAspect="1"/>
          </p:cNvPicPr>
          <p:nvPr/>
        </p:nvPicPr>
        <p:blipFill>
          <a:blip r:embed="rId4"/>
          <a:stretch>
            <a:fillRect/>
          </a:stretch>
        </p:blipFill>
        <p:spPr>
          <a:xfrm>
            <a:off x="6756400" y="2781300"/>
            <a:ext cx="228600" cy="228600"/>
          </a:xfrm>
          <a:prstGeom prst="rect">
            <a:avLst/>
          </a:prstGeom>
        </p:spPr>
      </p:pic>
      <p:sp>
        <p:nvSpPr>
          <p:cNvPr id="12" name="TextBox 11"/>
          <p:cNvSpPr txBox="1"/>
          <p:nvPr/>
        </p:nvSpPr>
        <p:spPr>
          <a:xfrm>
            <a:off x="7112000" y="2806700"/>
            <a:ext cx="4089400" cy="268224"/>
          </a:xfrm>
          <a:prstGeom prst="rect">
            <a:avLst/>
          </a:prstGeom>
          <a:noFill/>
        </p:spPr>
        <p:txBody>
          <a:bodyPr wrap="square" anchor="t" lIns="0" rIns="0" tIns="0" bIns="0">
            <a:spAutoFit/>
          </a:bodyPr>
          <a:lstStyle/>
          <a:p>
            <a:pPr algn="l">
              <a:lnSpc>
                <a:spcPct val="135000"/>
              </a:lnSpc>
              <a:spcAft>
                <a:spcPts val="0"/>
              </a:spcAft>
            </a:pPr>
            <a:r>
              <a:rPr sz="960" b="1">
                <a:solidFill>
                  <a:srgbClr val="0E0A1B"/>
                </a:solidFill>
                <a:latin typeface="Space Grotesk"/>
              </a:rPr>
              <a:t>A sheet ready to print and cut</a:t>
            </a:r>
          </a:p>
        </p:txBody>
      </p:sp>
      <p:sp>
        <p:nvSpPr>
          <p:cNvPr id="13" name="Rounded Rectangle 12"/>
          <p:cNvSpPr/>
          <p:nvPr/>
        </p:nvSpPr>
        <p:spPr>
          <a:xfrm>
            <a:off x="6553200" y="3276600"/>
            <a:ext cx="4826000" cy="508000"/>
          </a:xfrm>
          <a:prstGeom prst="roundRect">
            <a:avLst>
              <a:gd name="adj" fmla="val 35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bell-ring-olive.png"/>
          <p:cNvPicPr>
            <a:picLocks noChangeAspect="1"/>
          </p:cNvPicPr>
          <p:nvPr/>
        </p:nvPicPr>
        <p:blipFill>
          <a:blip r:embed="rId5"/>
          <a:stretch>
            <a:fillRect/>
          </a:stretch>
        </p:blipFill>
        <p:spPr>
          <a:xfrm>
            <a:off x="6756400" y="3416300"/>
            <a:ext cx="228600" cy="228600"/>
          </a:xfrm>
          <a:prstGeom prst="rect">
            <a:avLst/>
          </a:prstGeom>
        </p:spPr>
      </p:pic>
      <p:sp>
        <p:nvSpPr>
          <p:cNvPr id="15" name="TextBox 14"/>
          <p:cNvSpPr txBox="1"/>
          <p:nvPr/>
        </p:nvSpPr>
        <p:spPr>
          <a:xfrm>
            <a:off x="7112000" y="3441700"/>
            <a:ext cx="4089400" cy="268224"/>
          </a:xfrm>
          <a:prstGeom prst="rect">
            <a:avLst/>
          </a:prstGeom>
          <a:noFill/>
        </p:spPr>
        <p:txBody>
          <a:bodyPr wrap="square" anchor="t" lIns="0" rIns="0" tIns="0" bIns="0">
            <a:spAutoFit/>
          </a:bodyPr>
          <a:lstStyle/>
          <a:p>
            <a:pPr algn="l">
              <a:lnSpc>
                <a:spcPct val="135000"/>
              </a:lnSpc>
              <a:spcAft>
                <a:spcPts val="0"/>
              </a:spcAft>
            </a:pPr>
            <a:r>
              <a:rPr sz="960" b="1">
                <a:solidFill>
                  <a:srgbClr val="0E0A1B"/>
                </a:solidFill>
                <a:latin typeface="Space Grotesk"/>
              </a:rPr>
              <a:t>A counter screen with sound</a:t>
            </a:r>
          </a:p>
        </p:txBody>
      </p:sp>
      <p:sp>
        <p:nvSpPr>
          <p:cNvPr id="16" name="Rounded Rectangle 15"/>
          <p:cNvSpPr/>
          <p:nvPr/>
        </p:nvSpPr>
        <p:spPr>
          <a:xfrm>
            <a:off x="6553200" y="3911600"/>
            <a:ext cx="4826000" cy="508000"/>
          </a:xfrm>
          <a:prstGeom prst="roundRect">
            <a:avLst>
              <a:gd name="adj" fmla="val 35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olive.png"/>
          <p:cNvPicPr>
            <a:picLocks noChangeAspect="1"/>
          </p:cNvPicPr>
          <p:nvPr/>
        </p:nvPicPr>
        <p:blipFill>
          <a:blip r:embed="rId6"/>
          <a:stretch>
            <a:fillRect/>
          </a:stretch>
        </p:blipFill>
        <p:spPr>
          <a:xfrm>
            <a:off x="6756400" y="4051300"/>
            <a:ext cx="228600" cy="228600"/>
          </a:xfrm>
          <a:prstGeom prst="rect">
            <a:avLst/>
          </a:prstGeom>
        </p:spPr>
      </p:pic>
      <p:sp>
        <p:nvSpPr>
          <p:cNvPr id="18" name="TextBox 17"/>
          <p:cNvSpPr txBox="1"/>
          <p:nvPr/>
        </p:nvSpPr>
        <p:spPr>
          <a:xfrm>
            <a:off x="7112000" y="4076700"/>
            <a:ext cx="4089400" cy="268224"/>
          </a:xfrm>
          <a:prstGeom prst="rect">
            <a:avLst/>
          </a:prstGeom>
          <a:noFill/>
        </p:spPr>
        <p:txBody>
          <a:bodyPr wrap="square" anchor="t" lIns="0" rIns="0" tIns="0" bIns="0">
            <a:spAutoFit/>
          </a:bodyPr>
          <a:lstStyle/>
          <a:p>
            <a:pPr algn="l">
              <a:lnSpc>
                <a:spcPct val="135000"/>
              </a:lnSpc>
              <a:spcAft>
                <a:spcPts val="0"/>
              </a:spcAft>
            </a:pPr>
            <a:r>
              <a:rPr sz="960" b="1">
                <a:solidFill>
                  <a:srgbClr val="0E0A1B"/>
                </a:solidFill>
                <a:latin typeface="Space Grotesk"/>
              </a:rPr>
              <a:t>A monthly report</a:t>
            </a:r>
          </a:p>
        </p:txBody>
      </p:sp>
      <p:sp>
        <p:nvSpPr>
          <p:cNvPr id="19" name="Rounded Rectangle 18"/>
          <p:cNvSpPr/>
          <p:nvPr/>
        </p:nvSpPr>
        <p:spPr>
          <a:xfrm>
            <a:off x="6553200" y="4546600"/>
            <a:ext cx="4826000" cy="508000"/>
          </a:xfrm>
          <a:prstGeom prst="roundRect">
            <a:avLst>
              <a:gd name="adj" fmla="val 35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languages-olive.png"/>
          <p:cNvPicPr>
            <a:picLocks noChangeAspect="1"/>
          </p:cNvPicPr>
          <p:nvPr/>
        </p:nvPicPr>
        <p:blipFill>
          <a:blip r:embed="rId7"/>
          <a:stretch>
            <a:fillRect/>
          </a:stretch>
        </p:blipFill>
        <p:spPr>
          <a:xfrm>
            <a:off x="6756400" y="4686300"/>
            <a:ext cx="228600" cy="228600"/>
          </a:xfrm>
          <a:prstGeom prst="rect">
            <a:avLst/>
          </a:prstGeom>
        </p:spPr>
      </p:pic>
      <p:sp>
        <p:nvSpPr>
          <p:cNvPr id="21" name="TextBox 20"/>
          <p:cNvSpPr txBox="1"/>
          <p:nvPr/>
        </p:nvSpPr>
        <p:spPr>
          <a:xfrm>
            <a:off x="7112000" y="4711700"/>
            <a:ext cx="4089400" cy="268224"/>
          </a:xfrm>
          <a:prstGeom prst="rect">
            <a:avLst/>
          </a:prstGeom>
          <a:noFill/>
        </p:spPr>
        <p:txBody>
          <a:bodyPr wrap="square" anchor="t" lIns="0" rIns="0" tIns="0" bIns="0">
            <a:spAutoFit/>
          </a:bodyPr>
          <a:lstStyle/>
          <a:p>
            <a:pPr algn="l">
              <a:lnSpc>
                <a:spcPct val="135000"/>
              </a:lnSpc>
              <a:spcAft>
                <a:spcPts val="0"/>
              </a:spcAft>
            </a:pPr>
            <a:r>
              <a:rPr sz="960" b="1">
                <a:solidFill>
                  <a:srgbClr val="0E0A1B"/>
                </a:solidFill>
                <a:latin typeface="Space Grotesk"/>
              </a:rPr>
              <a:t>Uzbek, Russian, English</a:t>
            </a:r>
          </a:p>
        </p:txBody>
      </p:sp>
      <p:sp>
        <p:nvSpPr>
          <p:cNvPr id="22" name="TextBox 21"/>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23" name="TextBox 22"/>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BUSINESS MODEL</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A number once.</a:t>
            </a:r>
          </a:p>
          <a:p>
            <a:pPr algn="l">
              <a:lnSpc>
                <a:spcPct val="106000"/>
              </a:lnSpc>
              <a:spcAft>
                <a:spcPts val="0"/>
              </a:spcAft>
            </a:pPr>
            <a:r>
              <a:rPr sz="3000" b="1" spc="-60">
                <a:solidFill>
                  <a:srgbClr val="FFFFFF"/>
                </a:solidFill>
                <a:latin typeface="Space Grotesk"/>
              </a:rPr>
              <a:t>A venue every month.</a:t>
            </a:r>
          </a:p>
        </p:txBody>
      </p:sp>
      <p:sp>
        <p:nvSpPr>
          <p:cNvPr id="5" name="TextBox 4"/>
          <p:cNvSpPr txBox="1"/>
          <p:nvPr/>
        </p:nvSpPr>
        <p:spPr>
          <a:xfrm>
            <a:off x="812800" y="2235200"/>
            <a:ext cx="3810000" cy="321310"/>
          </a:xfrm>
          <a:prstGeom prst="rect">
            <a:avLst/>
          </a:prstGeom>
          <a:noFill/>
        </p:spPr>
        <p:txBody>
          <a:bodyPr wrap="square" anchor="t" lIns="0" rIns="0" tIns="0" bIns="0">
            <a:spAutoFit/>
          </a:bodyPr>
          <a:lstStyle/>
          <a:p>
            <a:pPr algn="l">
              <a:lnSpc>
                <a:spcPct val="135000"/>
              </a:lnSpc>
              <a:spcAft>
                <a:spcPts val="0"/>
              </a:spcAft>
            </a:pPr>
            <a:r>
              <a:rPr sz="1150" b="1">
                <a:solidFill>
                  <a:srgbClr val="FFFFFF"/>
                </a:solidFill>
                <a:latin typeface="Space Grotesk"/>
              </a:rPr>
              <a:t>Personal number</a:t>
            </a:r>
          </a:p>
        </p:txBody>
      </p:sp>
      <p:sp>
        <p:nvSpPr>
          <p:cNvPr id="6" name="TextBox 5"/>
          <p:cNvSpPr txBox="1"/>
          <p:nvPr/>
        </p:nvSpPr>
        <p:spPr>
          <a:xfrm>
            <a:off x="812800" y="2489200"/>
            <a:ext cx="381000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Priced by rarity · paid once</a:t>
            </a:r>
          </a:p>
        </p:txBody>
      </p:sp>
      <p:sp>
        <p:nvSpPr>
          <p:cNvPr id="7" name="TextBox 6"/>
          <p:cNvSpPr txBox="1"/>
          <p:nvPr/>
        </p:nvSpPr>
        <p:spPr>
          <a:xfrm>
            <a:off x="4876800" y="2260600"/>
            <a:ext cx="3048000" cy="381000"/>
          </a:xfrm>
          <a:prstGeom prst="rect">
            <a:avLst/>
          </a:prstGeom>
          <a:noFill/>
        </p:spPr>
        <p:txBody>
          <a:bodyPr wrap="square" anchor="t" lIns="0" rIns="0" tIns="0" bIns="0">
            <a:spAutoFit/>
          </a:bodyPr>
          <a:lstStyle/>
          <a:p>
            <a:pPr algn="r">
              <a:lnSpc>
                <a:spcPct val="135000"/>
              </a:lnSpc>
              <a:spcAft>
                <a:spcPts val="0"/>
              </a:spcAft>
            </a:pPr>
            <a:r>
              <a:rPr sz="1500" b="1" spc="-30">
                <a:solidFill>
                  <a:srgbClr val="ABFF09"/>
                </a:solidFill>
                <a:latin typeface="Space Grotesk"/>
              </a:rPr>
              <a:t>from 100,000 UZS</a:t>
            </a:r>
          </a:p>
        </p:txBody>
      </p:sp>
      <p:sp>
        <p:nvSpPr>
          <p:cNvPr id="8" name="Rectangle 7"/>
          <p:cNvSpPr/>
          <p:nvPr/>
        </p:nvSpPr>
        <p:spPr>
          <a:xfrm>
            <a:off x="812800" y="2819400"/>
            <a:ext cx="71120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12800" y="3022600"/>
            <a:ext cx="3810000" cy="321310"/>
          </a:xfrm>
          <a:prstGeom prst="rect">
            <a:avLst/>
          </a:prstGeom>
          <a:noFill/>
        </p:spPr>
        <p:txBody>
          <a:bodyPr wrap="square" anchor="t" lIns="0" rIns="0" tIns="0" bIns="0">
            <a:spAutoFit/>
          </a:bodyPr>
          <a:lstStyle/>
          <a:p>
            <a:pPr algn="l">
              <a:lnSpc>
                <a:spcPct val="135000"/>
              </a:lnSpc>
              <a:spcAft>
                <a:spcPts val="0"/>
              </a:spcAft>
            </a:pPr>
            <a:r>
              <a:rPr sz="1150" b="1">
                <a:solidFill>
                  <a:srgbClr val="FFFFFF"/>
                </a:solidFill>
                <a:latin typeface="Space Grotesk"/>
              </a:rPr>
              <a:t>Device</a:t>
            </a:r>
          </a:p>
        </p:txBody>
      </p:sp>
      <p:sp>
        <p:nvSpPr>
          <p:cNvPr id="10" name="TextBox 9"/>
          <p:cNvSpPr txBox="1"/>
          <p:nvPr/>
        </p:nvSpPr>
        <p:spPr>
          <a:xfrm>
            <a:off x="812800" y="3276600"/>
            <a:ext cx="381000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Card, ring or bracelet · paid once</a:t>
            </a:r>
          </a:p>
        </p:txBody>
      </p:sp>
      <p:sp>
        <p:nvSpPr>
          <p:cNvPr id="11" name="TextBox 10"/>
          <p:cNvSpPr txBox="1"/>
          <p:nvPr/>
        </p:nvSpPr>
        <p:spPr>
          <a:xfrm>
            <a:off x="4876800" y="3048000"/>
            <a:ext cx="3048000" cy="381000"/>
          </a:xfrm>
          <a:prstGeom prst="rect">
            <a:avLst/>
          </a:prstGeom>
          <a:noFill/>
        </p:spPr>
        <p:txBody>
          <a:bodyPr wrap="square" anchor="t" lIns="0" rIns="0" tIns="0" bIns="0">
            <a:spAutoFit/>
          </a:bodyPr>
          <a:lstStyle/>
          <a:p>
            <a:pPr algn="r">
              <a:lnSpc>
                <a:spcPct val="135000"/>
              </a:lnSpc>
              <a:spcAft>
                <a:spcPts val="0"/>
              </a:spcAft>
            </a:pPr>
            <a:r>
              <a:rPr sz="1500" b="1" spc="-30">
                <a:solidFill>
                  <a:srgbClr val="ABFF09"/>
                </a:solidFill>
                <a:latin typeface="Space Grotesk"/>
              </a:rPr>
              <a:t>200,000 – 350,000</a:t>
            </a:r>
          </a:p>
        </p:txBody>
      </p:sp>
      <p:sp>
        <p:nvSpPr>
          <p:cNvPr id="12" name="Rectangle 11"/>
          <p:cNvSpPr/>
          <p:nvPr/>
        </p:nvSpPr>
        <p:spPr>
          <a:xfrm>
            <a:off x="812800" y="3606800"/>
            <a:ext cx="71120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2800" y="3810000"/>
            <a:ext cx="3810000" cy="321310"/>
          </a:xfrm>
          <a:prstGeom prst="rect">
            <a:avLst/>
          </a:prstGeom>
          <a:noFill/>
        </p:spPr>
        <p:txBody>
          <a:bodyPr wrap="square" anchor="t" lIns="0" rIns="0" tIns="0" bIns="0">
            <a:spAutoFit/>
          </a:bodyPr>
          <a:lstStyle/>
          <a:p>
            <a:pPr algn="l">
              <a:lnSpc>
                <a:spcPct val="135000"/>
              </a:lnSpc>
              <a:spcAft>
                <a:spcPts val="0"/>
              </a:spcAft>
            </a:pPr>
            <a:r>
              <a:rPr sz="1150" b="1">
                <a:solidFill>
                  <a:srgbClr val="FFFFFF"/>
                </a:solidFill>
                <a:latin typeface="Space Grotesk"/>
              </a:rPr>
              <a:t>Venue, up to 15 points</a:t>
            </a:r>
          </a:p>
        </p:txBody>
      </p:sp>
      <p:sp>
        <p:nvSpPr>
          <p:cNvPr id="14" name="TextBox 13"/>
          <p:cNvSpPr txBox="1"/>
          <p:nvPr/>
        </p:nvSpPr>
        <p:spPr>
          <a:xfrm>
            <a:off x="812800" y="4064000"/>
            <a:ext cx="381000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A cafe with twelve tables</a:t>
            </a:r>
          </a:p>
        </p:txBody>
      </p:sp>
      <p:sp>
        <p:nvSpPr>
          <p:cNvPr id="15" name="TextBox 14"/>
          <p:cNvSpPr txBox="1"/>
          <p:nvPr/>
        </p:nvSpPr>
        <p:spPr>
          <a:xfrm>
            <a:off x="4876800" y="3835400"/>
            <a:ext cx="3048000" cy="381000"/>
          </a:xfrm>
          <a:prstGeom prst="rect">
            <a:avLst/>
          </a:prstGeom>
          <a:noFill/>
        </p:spPr>
        <p:txBody>
          <a:bodyPr wrap="square" anchor="t" lIns="0" rIns="0" tIns="0" bIns="0">
            <a:spAutoFit/>
          </a:bodyPr>
          <a:lstStyle/>
          <a:p>
            <a:pPr algn="r">
              <a:lnSpc>
                <a:spcPct val="135000"/>
              </a:lnSpc>
              <a:spcAft>
                <a:spcPts val="0"/>
              </a:spcAft>
            </a:pPr>
            <a:r>
              <a:rPr sz="1500" b="1" spc="-30">
                <a:solidFill>
                  <a:srgbClr val="ABFF09"/>
                </a:solidFill>
                <a:latin typeface="Space Grotesk"/>
              </a:rPr>
              <a:t>149,000 / mo</a:t>
            </a:r>
          </a:p>
        </p:txBody>
      </p:sp>
      <p:sp>
        <p:nvSpPr>
          <p:cNvPr id="16" name="Rectangle 15"/>
          <p:cNvSpPr/>
          <p:nvPr/>
        </p:nvSpPr>
        <p:spPr>
          <a:xfrm>
            <a:off x="812800" y="4394200"/>
            <a:ext cx="71120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2800" y="4597400"/>
            <a:ext cx="3810000" cy="321310"/>
          </a:xfrm>
          <a:prstGeom prst="rect">
            <a:avLst/>
          </a:prstGeom>
          <a:noFill/>
        </p:spPr>
        <p:txBody>
          <a:bodyPr wrap="square" anchor="t" lIns="0" rIns="0" tIns="0" bIns="0">
            <a:spAutoFit/>
          </a:bodyPr>
          <a:lstStyle/>
          <a:p>
            <a:pPr algn="l">
              <a:lnSpc>
                <a:spcPct val="135000"/>
              </a:lnSpc>
              <a:spcAft>
                <a:spcPts val="0"/>
              </a:spcAft>
            </a:pPr>
            <a:r>
              <a:rPr sz="1150" b="1">
                <a:solidFill>
                  <a:srgbClr val="FFFFFF"/>
                </a:solidFill>
                <a:latin typeface="Space Grotesk"/>
              </a:rPr>
              <a:t>Venue, up to 40 points</a:t>
            </a:r>
          </a:p>
        </p:txBody>
      </p:sp>
      <p:sp>
        <p:nvSpPr>
          <p:cNvPr id="18" name="TextBox 17"/>
          <p:cNvSpPr txBox="1"/>
          <p:nvPr/>
        </p:nvSpPr>
        <p:spPr>
          <a:xfrm>
            <a:off x="812800" y="4851400"/>
            <a:ext cx="3810000" cy="234696"/>
          </a:xfrm>
          <a:prstGeom prst="rect">
            <a:avLst/>
          </a:prstGeom>
          <a:noFill/>
        </p:spPr>
        <p:txBody>
          <a:bodyPr wrap="square" anchor="t" lIns="0" rIns="0" tIns="0" bIns="0">
            <a:spAutoFit/>
          </a:bodyPr>
          <a:lstStyle/>
          <a:p>
            <a:pPr algn="l">
              <a:lnSpc>
                <a:spcPct val="135000"/>
              </a:lnSpc>
              <a:spcAft>
                <a:spcPts val="0"/>
              </a:spcAft>
            </a:pPr>
            <a:r>
              <a:rPr sz="840" b="0">
                <a:solidFill>
                  <a:srgbClr val="8A849B"/>
                </a:solidFill>
                <a:latin typeface="Inter"/>
              </a:rPr>
              <a:t>A hotel with thirty rooms</a:t>
            </a:r>
          </a:p>
        </p:txBody>
      </p:sp>
      <p:sp>
        <p:nvSpPr>
          <p:cNvPr id="19" name="TextBox 18"/>
          <p:cNvSpPr txBox="1"/>
          <p:nvPr/>
        </p:nvSpPr>
        <p:spPr>
          <a:xfrm>
            <a:off x="4876800" y="4622800"/>
            <a:ext cx="3048000" cy="381000"/>
          </a:xfrm>
          <a:prstGeom prst="rect">
            <a:avLst/>
          </a:prstGeom>
          <a:noFill/>
        </p:spPr>
        <p:txBody>
          <a:bodyPr wrap="square" anchor="t" lIns="0" rIns="0" tIns="0" bIns="0">
            <a:spAutoFit/>
          </a:bodyPr>
          <a:lstStyle/>
          <a:p>
            <a:pPr algn="r">
              <a:lnSpc>
                <a:spcPct val="135000"/>
              </a:lnSpc>
              <a:spcAft>
                <a:spcPts val="0"/>
              </a:spcAft>
            </a:pPr>
            <a:r>
              <a:rPr sz="1500" b="1" spc="-30">
                <a:solidFill>
                  <a:srgbClr val="ABFF09"/>
                </a:solidFill>
                <a:latin typeface="Space Grotesk"/>
              </a:rPr>
              <a:t>299,000 / mo</a:t>
            </a:r>
          </a:p>
        </p:txBody>
      </p:sp>
      <p:sp>
        <p:nvSpPr>
          <p:cNvPr id="20" name="Rectangle 19"/>
          <p:cNvSpPr/>
          <p:nvPr/>
        </p:nvSpPr>
        <p:spPr>
          <a:xfrm>
            <a:off x="812800" y="5181600"/>
            <a:ext cx="7112000" cy="9525"/>
          </a:xfrm>
          <a:prstGeom prst="rect">
            <a:avLst/>
          </a:prstGeom>
          <a:solidFill>
            <a:srgbClr val="2A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8509000" y="2133600"/>
            <a:ext cx="2870200" cy="3225800"/>
          </a:xfrm>
          <a:prstGeom prst="roundRect">
            <a:avLst>
              <a:gd name="adj" fmla="val 6194"/>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file-text-lime.png"/>
          <p:cNvPicPr>
            <a:picLocks noChangeAspect="1"/>
          </p:cNvPicPr>
          <p:nvPr/>
        </p:nvPicPr>
        <p:blipFill>
          <a:blip r:embed="rId2"/>
          <a:stretch>
            <a:fillRect/>
          </a:stretch>
        </p:blipFill>
        <p:spPr>
          <a:xfrm>
            <a:off x="8788400" y="2438400"/>
            <a:ext cx="279400" cy="279400"/>
          </a:xfrm>
          <a:prstGeom prst="rect">
            <a:avLst/>
          </a:prstGeom>
        </p:spPr>
      </p:pic>
      <p:sp>
        <p:nvSpPr>
          <p:cNvPr id="23" name="TextBox 22"/>
          <p:cNvSpPr txBox="1"/>
          <p:nvPr/>
        </p:nvSpPr>
        <p:spPr>
          <a:xfrm>
            <a:off x="8788400" y="2844800"/>
            <a:ext cx="23114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How they pay</a:t>
            </a:r>
          </a:p>
        </p:txBody>
      </p:sp>
      <p:sp>
        <p:nvSpPr>
          <p:cNvPr id="24" name="TextBox 23"/>
          <p:cNvSpPr txBox="1"/>
          <p:nvPr/>
        </p:nvSpPr>
        <p:spPr>
          <a:xfrm>
            <a:off x="8788400" y="3175000"/>
            <a:ext cx="2311400" cy="257047"/>
          </a:xfrm>
          <a:prstGeom prst="rect">
            <a:avLst/>
          </a:prstGeom>
          <a:noFill/>
        </p:spPr>
        <p:txBody>
          <a:bodyPr wrap="square" anchor="t" lIns="0" rIns="0" tIns="0" bIns="0">
            <a:spAutoFit/>
          </a:bodyPr>
          <a:lstStyle/>
          <a:p>
            <a:pPr algn="l">
              <a:lnSpc>
                <a:spcPct val="150000"/>
              </a:lnSpc>
              <a:spcAft>
                <a:spcPts val="0"/>
              </a:spcAft>
            </a:pPr>
            <a:r>
              <a:rPr sz="919" b="0">
                <a:solidFill>
                  <a:srgbClr val="8A849B"/>
                </a:solidFill>
                <a:latin typeface="Inter"/>
              </a:rPr>
              <a:t>Individuals pay by card through Payme. Venues and companies pay by invoice and bank transfer, which is how a business here actually pays.</a:t>
            </a:r>
          </a:p>
        </p:txBody>
      </p:sp>
      <p:sp>
        <p:nvSpPr>
          <p:cNvPr id="25" name="TextBox 24"/>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26" name="TextBox 25"/>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THE ARITHMETIC</a:t>
            </a:r>
          </a:p>
        </p:txBody>
      </p:sp>
      <p:sp>
        <p:nvSpPr>
          <p:cNvPr id="4" name="TextBox 3"/>
          <p:cNvSpPr txBox="1"/>
          <p:nvPr/>
        </p:nvSpPr>
        <p:spPr>
          <a:xfrm>
            <a:off x="812800" y="889000"/>
            <a:ext cx="8890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Recurring revenue, at the smallest band.</a:t>
            </a:r>
          </a:p>
        </p:txBody>
      </p:sp>
      <p:sp>
        <p:nvSpPr>
          <p:cNvPr id="5" name="Rounded Rectangle 4"/>
          <p:cNvSpPr/>
          <p:nvPr/>
        </p:nvSpPr>
        <p:spPr>
          <a:xfrm>
            <a:off x="812800" y="2133600"/>
            <a:ext cx="3378200" cy="2667000"/>
          </a:xfrm>
          <a:prstGeom prst="roundRect">
            <a:avLst>
              <a:gd name="adj" fmla="val 6666"/>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17600" y="2463800"/>
            <a:ext cx="2768600" cy="228600"/>
          </a:xfrm>
          <a:prstGeom prst="rect">
            <a:avLst/>
          </a:prstGeom>
          <a:noFill/>
        </p:spPr>
        <p:txBody>
          <a:bodyPr wrap="square" anchor="t" lIns="0" rIns="0" tIns="0" bIns="0">
            <a:spAutoFit/>
          </a:bodyPr>
          <a:lstStyle/>
          <a:p>
            <a:pPr algn="l">
              <a:lnSpc>
                <a:spcPct val="135000"/>
              </a:lnSpc>
              <a:spcAft>
                <a:spcPts val="0"/>
              </a:spcAft>
            </a:pPr>
            <a:r>
              <a:rPr sz="819" b="1" spc="120">
                <a:solidFill>
                  <a:srgbClr val="5A5566"/>
                </a:solidFill>
                <a:latin typeface="Inter"/>
              </a:rPr>
              <a:t>100 VENUES</a:t>
            </a:r>
          </a:p>
        </p:txBody>
      </p:sp>
      <p:sp>
        <p:nvSpPr>
          <p:cNvPr id="7" name="TextBox 6"/>
          <p:cNvSpPr txBox="1"/>
          <p:nvPr/>
        </p:nvSpPr>
        <p:spPr>
          <a:xfrm>
            <a:off x="1117600" y="2921000"/>
            <a:ext cx="2768600" cy="736600"/>
          </a:xfrm>
          <a:prstGeom prst="rect">
            <a:avLst/>
          </a:prstGeom>
          <a:noFill/>
        </p:spPr>
        <p:txBody>
          <a:bodyPr wrap="square" anchor="t" lIns="0" rIns="0" tIns="0" bIns="0">
            <a:spAutoFit/>
          </a:bodyPr>
          <a:lstStyle/>
          <a:p>
            <a:pPr algn="l">
              <a:lnSpc>
                <a:spcPct val="135000"/>
              </a:lnSpc>
              <a:spcAft>
                <a:spcPts val="0"/>
              </a:spcAft>
            </a:pPr>
            <a:r>
              <a:rPr sz="4200" b="1" spc="-160">
                <a:solidFill>
                  <a:srgbClr val="0E0A1B"/>
                </a:solidFill>
                <a:latin typeface="Space Grotesk"/>
              </a:rPr>
              <a:t>14.9M</a:t>
            </a:r>
          </a:p>
        </p:txBody>
      </p:sp>
      <p:sp>
        <p:nvSpPr>
          <p:cNvPr id="8" name="TextBox 7"/>
          <p:cNvSpPr txBox="1"/>
          <p:nvPr/>
        </p:nvSpPr>
        <p:spPr>
          <a:xfrm>
            <a:off x="1117600" y="3810000"/>
            <a:ext cx="2768600" cy="265430"/>
          </a:xfrm>
          <a:prstGeom prst="rect">
            <a:avLst/>
          </a:prstGeom>
          <a:noFill/>
        </p:spPr>
        <p:txBody>
          <a:bodyPr wrap="square" anchor="t" lIns="0" rIns="0" tIns="0" bIns="0">
            <a:spAutoFit/>
          </a:bodyPr>
          <a:lstStyle/>
          <a:p>
            <a:pPr algn="l">
              <a:lnSpc>
                <a:spcPct val="140000"/>
              </a:lnSpc>
              <a:spcAft>
                <a:spcPts val="0"/>
              </a:spcAft>
            </a:pPr>
            <a:r>
              <a:rPr sz="950" b="0">
                <a:solidFill>
                  <a:srgbClr val="5A5566"/>
                </a:solidFill>
                <a:latin typeface="Inter"/>
              </a:rPr>
              <a:t>a month · ≈ 179M UZS a year</a:t>
            </a:r>
          </a:p>
        </p:txBody>
      </p:sp>
      <p:sp>
        <p:nvSpPr>
          <p:cNvPr id="9" name="Rectangle 8"/>
          <p:cNvSpPr/>
          <p:nvPr/>
        </p:nvSpPr>
        <p:spPr>
          <a:xfrm>
            <a:off x="1117600" y="4343400"/>
            <a:ext cx="4318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368800" y="2133600"/>
            <a:ext cx="3378200" cy="2667000"/>
          </a:xfrm>
          <a:prstGeom prst="roundRect">
            <a:avLst>
              <a:gd name="adj" fmla="val 6666"/>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673600" y="2463800"/>
            <a:ext cx="2768600" cy="228600"/>
          </a:xfrm>
          <a:prstGeom prst="rect">
            <a:avLst/>
          </a:prstGeom>
          <a:noFill/>
        </p:spPr>
        <p:txBody>
          <a:bodyPr wrap="square" anchor="t" lIns="0" rIns="0" tIns="0" bIns="0">
            <a:spAutoFit/>
          </a:bodyPr>
          <a:lstStyle/>
          <a:p>
            <a:pPr algn="l">
              <a:lnSpc>
                <a:spcPct val="135000"/>
              </a:lnSpc>
              <a:spcAft>
                <a:spcPts val="0"/>
              </a:spcAft>
            </a:pPr>
            <a:r>
              <a:rPr sz="819" b="1" spc="120">
                <a:solidFill>
                  <a:srgbClr val="5A5566"/>
                </a:solidFill>
                <a:latin typeface="Inter"/>
              </a:rPr>
              <a:t>500 VENUES</a:t>
            </a:r>
          </a:p>
        </p:txBody>
      </p:sp>
      <p:sp>
        <p:nvSpPr>
          <p:cNvPr id="12" name="TextBox 11"/>
          <p:cNvSpPr txBox="1"/>
          <p:nvPr/>
        </p:nvSpPr>
        <p:spPr>
          <a:xfrm>
            <a:off x="4673600" y="2921000"/>
            <a:ext cx="2768600" cy="736600"/>
          </a:xfrm>
          <a:prstGeom prst="rect">
            <a:avLst/>
          </a:prstGeom>
          <a:noFill/>
        </p:spPr>
        <p:txBody>
          <a:bodyPr wrap="square" anchor="t" lIns="0" rIns="0" tIns="0" bIns="0">
            <a:spAutoFit/>
          </a:bodyPr>
          <a:lstStyle/>
          <a:p>
            <a:pPr algn="l">
              <a:lnSpc>
                <a:spcPct val="135000"/>
              </a:lnSpc>
              <a:spcAft>
                <a:spcPts val="0"/>
              </a:spcAft>
            </a:pPr>
            <a:r>
              <a:rPr sz="4200" b="1" spc="-160">
                <a:solidFill>
                  <a:srgbClr val="0E0A1B"/>
                </a:solidFill>
                <a:latin typeface="Space Grotesk"/>
              </a:rPr>
              <a:t>74.5M</a:t>
            </a:r>
          </a:p>
        </p:txBody>
      </p:sp>
      <p:sp>
        <p:nvSpPr>
          <p:cNvPr id="13" name="TextBox 12"/>
          <p:cNvSpPr txBox="1"/>
          <p:nvPr/>
        </p:nvSpPr>
        <p:spPr>
          <a:xfrm>
            <a:off x="4673600" y="3810000"/>
            <a:ext cx="2768600" cy="265430"/>
          </a:xfrm>
          <a:prstGeom prst="rect">
            <a:avLst/>
          </a:prstGeom>
          <a:noFill/>
        </p:spPr>
        <p:txBody>
          <a:bodyPr wrap="square" anchor="t" lIns="0" rIns="0" tIns="0" bIns="0">
            <a:spAutoFit/>
          </a:bodyPr>
          <a:lstStyle/>
          <a:p>
            <a:pPr algn="l">
              <a:lnSpc>
                <a:spcPct val="140000"/>
              </a:lnSpc>
              <a:spcAft>
                <a:spcPts val="0"/>
              </a:spcAft>
            </a:pPr>
            <a:r>
              <a:rPr sz="950" b="0">
                <a:solidFill>
                  <a:srgbClr val="5A5566"/>
                </a:solidFill>
                <a:latin typeface="Inter"/>
              </a:rPr>
              <a:t>a month · ≈ 894M UZS a year</a:t>
            </a:r>
          </a:p>
        </p:txBody>
      </p:sp>
      <p:sp>
        <p:nvSpPr>
          <p:cNvPr id="14" name="Rectangle 13"/>
          <p:cNvSpPr/>
          <p:nvPr/>
        </p:nvSpPr>
        <p:spPr>
          <a:xfrm>
            <a:off x="4673600" y="4343400"/>
            <a:ext cx="4318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924800" y="2133600"/>
            <a:ext cx="3378200" cy="2667000"/>
          </a:xfrm>
          <a:prstGeom prst="roundRect">
            <a:avLst>
              <a:gd name="adj" fmla="val 6666"/>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29600" y="2463800"/>
            <a:ext cx="2768600" cy="228600"/>
          </a:xfrm>
          <a:prstGeom prst="rect">
            <a:avLst/>
          </a:prstGeom>
          <a:noFill/>
        </p:spPr>
        <p:txBody>
          <a:bodyPr wrap="square" anchor="t" lIns="0" rIns="0" tIns="0" bIns="0">
            <a:spAutoFit/>
          </a:bodyPr>
          <a:lstStyle/>
          <a:p>
            <a:pPr algn="l">
              <a:lnSpc>
                <a:spcPct val="135000"/>
              </a:lnSpc>
              <a:spcAft>
                <a:spcPts val="0"/>
              </a:spcAft>
            </a:pPr>
            <a:r>
              <a:rPr sz="819" b="1" spc="120">
                <a:solidFill>
                  <a:srgbClr val="5A5566"/>
                </a:solidFill>
                <a:latin typeface="Inter"/>
              </a:rPr>
              <a:t>1,000 VENUES</a:t>
            </a:r>
          </a:p>
        </p:txBody>
      </p:sp>
      <p:sp>
        <p:nvSpPr>
          <p:cNvPr id="17" name="TextBox 16"/>
          <p:cNvSpPr txBox="1"/>
          <p:nvPr/>
        </p:nvSpPr>
        <p:spPr>
          <a:xfrm>
            <a:off x="8229600" y="2921000"/>
            <a:ext cx="2768600" cy="736600"/>
          </a:xfrm>
          <a:prstGeom prst="rect">
            <a:avLst/>
          </a:prstGeom>
          <a:noFill/>
        </p:spPr>
        <p:txBody>
          <a:bodyPr wrap="square" anchor="t" lIns="0" rIns="0" tIns="0" bIns="0">
            <a:spAutoFit/>
          </a:bodyPr>
          <a:lstStyle/>
          <a:p>
            <a:pPr algn="l">
              <a:lnSpc>
                <a:spcPct val="135000"/>
              </a:lnSpc>
              <a:spcAft>
                <a:spcPts val="0"/>
              </a:spcAft>
            </a:pPr>
            <a:r>
              <a:rPr sz="4200" b="1" spc="-160">
                <a:solidFill>
                  <a:srgbClr val="0E0A1B"/>
                </a:solidFill>
                <a:latin typeface="Space Grotesk"/>
              </a:rPr>
              <a:t>149M</a:t>
            </a:r>
          </a:p>
        </p:txBody>
      </p:sp>
      <p:sp>
        <p:nvSpPr>
          <p:cNvPr id="18" name="TextBox 17"/>
          <p:cNvSpPr txBox="1"/>
          <p:nvPr/>
        </p:nvSpPr>
        <p:spPr>
          <a:xfrm>
            <a:off x="8229600" y="3810000"/>
            <a:ext cx="2768600" cy="265430"/>
          </a:xfrm>
          <a:prstGeom prst="rect">
            <a:avLst/>
          </a:prstGeom>
          <a:noFill/>
        </p:spPr>
        <p:txBody>
          <a:bodyPr wrap="square" anchor="t" lIns="0" rIns="0" tIns="0" bIns="0">
            <a:spAutoFit/>
          </a:bodyPr>
          <a:lstStyle/>
          <a:p>
            <a:pPr algn="l">
              <a:lnSpc>
                <a:spcPct val="140000"/>
              </a:lnSpc>
              <a:spcAft>
                <a:spcPts val="0"/>
              </a:spcAft>
            </a:pPr>
            <a:r>
              <a:rPr sz="950" b="0">
                <a:solidFill>
                  <a:srgbClr val="5A5566"/>
                </a:solidFill>
                <a:latin typeface="Inter"/>
              </a:rPr>
              <a:t>a month · ≈ 1.79B UZS a year</a:t>
            </a:r>
          </a:p>
        </p:txBody>
      </p:sp>
      <p:sp>
        <p:nvSpPr>
          <p:cNvPr id="19" name="Rectangle 18"/>
          <p:cNvSpPr/>
          <p:nvPr/>
        </p:nvSpPr>
        <p:spPr>
          <a:xfrm>
            <a:off x="8229600" y="4343400"/>
            <a:ext cx="4318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2800" y="5130800"/>
            <a:ext cx="9906000" cy="257047"/>
          </a:xfrm>
          <a:prstGeom prst="rect">
            <a:avLst/>
          </a:prstGeom>
          <a:noFill/>
        </p:spPr>
        <p:txBody>
          <a:bodyPr wrap="square" anchor="t" lIns="0" rIns="0" tIns="0" bIns="0">
            <a:spAutoFit/>
          </a:bodyPr>
          <a:lstStyle/>
          <a:p>
            <a:pPr algn="l">
              <a:lnSpc>
                <a:spcPct val="150000"/>
              </a:lnSpc>
              <a:spcAft>
                <a:spcPts val="0"/>
              </a:spcAft>
            </a:pPr>
            <a:r>
              <a:rPr sz="919" b="0">
                <a:solidFill>
                  <a:srgbClr val="5A5566"/>
                </a:solidFill>
                <a:latin typeface="Inter"/>
              </a:rPr>
              <a:t>At the entry band of 149,000 UZS and nothing above it — a hotel or a larger restaurant pays twice that. Devices and personal numbers are not counted here at all. These are venue counts, not a market size.</a:t>
            </a:r>
          </a:p>
        </p:txBody>
      </p:sp>
      <p:sp>
        <p:nvSpPr>
          <p:cNvPr id="21" name="TextBox 20"/>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22" name="TextBox 21"/>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WHO WE ARE</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This is not a first attempt.</a:t>
            </a:r>
          </a:p>
        </p:txBody>
      </p:sp>
      <p:sp>
        <p:nvSpPr>
          <p:cNvPr id="5" name="Rounded Rectangle 4"/>
          <p:cNvSpPr/>
          <p:nvPr/>
        </p:nvSpPr>
        <p:spPr>
          <a:xfrm>
            <a:off x="812800" y="22606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ward-lime.png"/>
          <p:cNvPicPr>
            <a:picLocks noChangeAspect="1"/>
          </p:cNvPicPr>
          <p:nvPr/>
        </p:nvPicPr>
        <p:blipFill>
          <a:blip r:embed="rId2"/>
          <a:stretch>
            <a:fillRect/>
          </a:stretch>
        </p:blipFill>
        <p:spPr>
          <a:xfrm>
            <a:off x="1066800" y="2489200"/>
            <a:ext cx="279400" cy="279400"/>
          </a:xfrm>
          <a:prstGeom prst="rect">
            <a:avLst/>
          </a:prstGeom>
        </p:spPr>
      </p:pic>
      <p:sp>
        <p:nvSpPr>
          <p:cNvPr id="7" name="TextBox 6"/>
          <p:cNvSpPr txBox="1"/>
          <p:nvPr/>
        </p:nvSpPr>
        <p:spPr>
          <a:xfrm>
            <a:off x="1066800" y="28956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IT Park resident</a:t>
            </a:r>
          </a:p>
        </p:txBody>
      </p:sp>
      <p:sp>
        <p:nvSpPr>
          <p:cNvPr id="8" name="TextBox 7"/>
          <p:cNvSpPr txBox="1"/>
          <p:nvPr/>
        </p:nvSpPr>
        <p:spPr>
          <a:xfrm>
            <a:off x="1066800" y="32004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Official status, with its tax and export regime.</a:t>
            </a:r>
          </a:p>
        </p:txBody>
      </p:sp>
      <p:sp>
        <p:nvSpPr>
          <p:cNvPr id="9" name="Rounded Rectangle 8"/>
          <p:cNvSpPr/>
          <p:nvPr/>
        </p:nvSpPr>
        <p:spPr>
          <a:xfrm>
            <a:off x="4368800" y="22606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rocket-lime.png"/>
          <p:cNvPicPr>
            <a:picLocks noChangeAspect="1"/>
          </p:cNvPicPr>
          <p:nvPr/>
        </p:nvPicPr>
        <p:blipFill>
          <a:blip r:embed="rId3"/>
          <a:stretch>
            <a:fillRect/>
          </a:stretch>
        </p:blipFill>
        <p:spPr>
          <a:xfrm>
            <a:off x="4622800" y="2489200"/>
            <a:ext cx="279400" cy="279400"/>
          </a:xfrm>
          <a:prstGeom prst="rect">
            <a:avLst/>
          </a:prstGeom>
        </p:spPr>
      </p:pic>
      <p:sp>
        <p:nvSpPr>
          <p:cNvPr id="11" name="TextBox 10"/>
          <p:cNvSpPr txBox="1"/>
          <p:nvPr/>
        </p:nvSpPr>
        <p:spPr>
          <a:xfrm>
            <a:off x="4622800" y="28956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Accelerators</a:t>
            </a:r>
          </a:p>
        </p:txBody>
      </p:sp>
      <p:sp>
        <p:nvSpPr>
          <p:cNvPr id="12" name="TextBox 11"/>
          <p:cNvSpPr txBox="1"/>
          <p:nvPr/>
        </p:nvSpPr>
        <p:spPr>
          <a:xfrm>
            <a:off x="4622800" y="32004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We have been through several accelerator programmes.</a:t>
            </a:r>
          </a:p>
        </p:txBody>
      </p:sp>
      <p:sp>
        <p:nvSpPr>
          <p:cNvPr id="13" name="Rounded Rectangle 12"/>
          <p:cNvSpPr/>
          <p:nvPr/>
        </p:nvSpPr>
        <p:spPr>
          <a:xfrm>
            <a:off x="7924800" y="22606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users-lime.png"/>
          <p:cNvPicPr>
            <a:picLocks noChangeAspect="1"/>
          </p:cNvPicPr>
          <p:nvPr/>
        </p:nvPicPr>
        <p:blipFill>
          <a:blip r:embed="rId4"/>
          <a:stretch>
            <a:fillRect/>
          </a:stretch>
        </p:blipFill>
        <p:spPr>
          <a:xfrm>
            <a:off x="8178800" y="2489200"/>
            <a:ext cx="279400" cy="279400"/>
          </a:xfrm>
          <a:prstGeom prst="rect">
            <a:avLst/>
          </a:prstGeom>
        </p:spPr>
      </p:pic>
      <p:sp>
        <p:nvSpPr>
          <p:cNvPr id="15" name="TextBox 14"/>
          <p:cNvSpPr txBox="1"/>
          <p:nvPr/>
        </p:nvSpPr>
        <p:spPr>
          <a:xfrm>
            <a:off x="8178800" y="28956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Public figures</a:t>
            </a:r>
          </a:p>
        </p:txBody>
      </p:sp>
      <p:sp>
        <p:nvSpPr>
          <p:cNvPr id="16" name="TextBox 15"/>
          <p:cNvSpPr txBox="1"/>
          <p:nvPr/>
        </p:nvSpPr>
        <p:spPr>
          <a:xfrm>
            <a:off x="8178800" y="32004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Our NFC cards are carried by well-known people.</a:t>
            </a:r>
          </a:p>
        </p:txBody>
      </p:sp>
      <p:sp>
        <p:nvSpPr>
          <p:cNvPr id="17" name="Rounded Rectangle 16"/>
          <p:cNvSpPr/>
          <p:nvPr/>
        </p:nvSpPr>
        <p:spPr>
          <a:xfrm>
            <a:off x="812800" y="41148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ar-lime.png"/>
          <p:cNvPicPr>
            <a:picLocks noChangeAspect="1"/>
          </p:cNvPicPr>
          <p:nvPr/>
        </p:nvPicPr>
        <p:blipFill>
          <a:blip r:embed="rId5"/>
          <a:stretch>
            <a:fillRect/>
          </a:stretch>
        </p:blipFill>
        <p:spPr>
          <a:xfrm>
            <a:off x="1066800" y="4343400"/>
            <a:ext cx="279400" cy="279400"/>
          </a:xfrm>
          <a:prstGeom prst="rect">
            <a:avLst/>
          </a:prstGeom>
        </p:spPr>
      </p:pic>
      <p:sp>
        <p:nvSpPr>
          <p:cNvPr id="19" name="TextBox 18"/>
          <p:cNvSpPr txBox="1"/>
          <p:nvPr/>
        </p:nvSpPr>
        <p:spPr>
          <a:xfrm>
            <a:off x="1066800" y="47498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For cars</a:t>
            </a:r>
          </a:p>
        </p:txBody>
      </p:sp>
      <p:sp>
        <p:nvSpPr>
          <p:cNvPr id="20" name="TextBox 19"/>
          <p:cNvSpPr txBox="1"/>
          <p:nvPr/>
        </p:nvSpPr>
        <p:spPr>
          <a:xfrm>
            <a:off x="1066800" y="50546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A car-tag series has been manufactured and sold.</a:t>
            </a:r>
          </a:p>
        </p:txBody>
      </p:sp>
      <p:sp>
        <p:nvSpPr>
          <p:cNvPr id="21" name="Rounded Rectangle 20"/>
          <p:cNvSpPr/>
          <p:nvPr/>
        </p:nvSpPr>
        <p:spPr>
          <a:xfrm>
            <a:off x="4368800" y="41148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building-2-lime.png"/>
          <p:cNvPicPr>
            <a:picLocks noChangeAspect="1"/>
          </p:cNvPicPr>
          <p:nvPr/>
        </p:nvPicPr>
        <p:blipFill>
          <a:blip r:embed="rId6"/>
          <a:stretch>
            <a:fillRect/>
          </a:stretch>
        </p:blipFill>
        <p:spPr>
          <a:xfrm>
            <a:off x="4622800" y="4343400"/>
            <a:ext cx="279400" cy="279400"/>
          </a:xfrm>
          <a:prstGeom prst="rect">
            <a:avLst/>
          </a:prstGeom>
        </p:spPr>
      </p:pic>
      <p:sp>
        <p:nvSpPr>
          <p:cNvPr id="23" name="TextBox 22"/>
          <p:cNvSpPr txBox="1"/>
          <p:nvPr/>
        </p:nvSpPr>
        <p:spPr>
          <a:xfrm>
            <a:off x="4622800" y="47498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B2B sales</a:t>
            </a:r>
          </a:p>
        </p:txBody>
      </p:sp>
      <p:sp>
        <p:nvSpPr>
          <p:cNvPr id="24" name="TextBox 23"/>
          <p:cNvSpPr txBox="1"/>
          <p:nvPr/>
        </p:nvSpPr>
        <p:spPr>
          <a:xfrm>
            <a:off x="4622800" y="50546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We have sold NFC hardware, sites and apps to cafes, shops, clothing stores and clinics.</a:t>
            </a:r>
          </a:p>
        </p:txBody>
      </p:sp>
      <p:sp>
        <p:nvSpPr>
          <p:cNvPr id="25" name="Rounded Rectangle 24"/>
          <p:cNvSpPr/>
          <p:nvPr/>
        </p:nvSpPr>
        <p:spPr>
          <a:xfrm>
            <a:off x="7924800" y="4114800"/>
            <a:ext cx="3378200" cy="1676400"/>
          </a:xfrm>
          <a:prstGeom prst="roundRect">
            <a:avLst>
              <a:gd name="adj" fmla="val 10606"/>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truck-lime.png"/>
          <p:cNvPicPr>
            <a:picLocks noChangeAspect="1"/>
          </p:cNvPicPr>
          <p:nvPr/>
        </p:nvPicPr>
        <p:blipFill>
          <a:blip r:embed="rId7"/>
          <a:stretch>
            <a:fillRect/>
          </a:stretch>
        </p:blipFill>
        <p:spPr>
          <a:xfrm>
            <a:off x="8178800" y="4343400"/>
            <a:ext cx="279400" cy="279400"/>
          </a:xfrm>
          <a:prstGeom prst="rect">
            <a:avLst/>
          </a:prstGeom>
        </p:spPr>
      </p:pic>
      <p:sp>
        <p:nvSpPr>
          <p:cNvPr id="27" name="TextBox 26"/>
          <p:cNvSpPr txBox="1"/>
          <p:nvPr/>
        </p:nvSpPr>
        <p:spPr>
          <a:xfrm>
            <a:off x="8178800" y="4749800"/>
            <a:ext cx="2870200" cy="33528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Manufacturers</a:t>
            </a:r>
          </a:p>
        </p:txBody>
      </p:sp>
      <p:sp>
        <p:nvSpPr>
          <p:cNvPr id="28" name="TextBox 27"/>
          <p:cNvSpPr txBox="1"/>
          <p:nvPr/>
        </p:nvSpPr>
        <p:spPr>
          <a:xfrm>
            <a:off x="8178800" y="50546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We work directly with the firms that make the hardware.</a:t>
            </a:r>
          </a:p>
        </p:txBody>
      </p:sp>
      <p:sp>
        <p:nvSpPr>
          <p:cNvPr id="29" name="TextBox 28"/>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30" name="TextBox 29"/>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WHERE IT STANDS</a:t>
            </a:r>
          </a:p>
        </p:txBody>
      </p:sp>
      <p:sp>
        <p:nvSpPr>
          <p:cNvPr id="4" name="TextBox 3"/>
          <p:cNvSpPr txBox="1"/>
          <p:nvPr/>
        </p:nvSpPr>
        <p:spPr>
          <a:xfrm>
            <a:off x="812800" y="889000"/>
            <a:ext cx="8890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Built, deployed, and running.</a:t>
            </a:r>
          </a:p>
        </p:txBody>
      </p:sp>
      <p:sp>
        <p:nvSpPr>
          <p:cNvPr id="5" name="TextBox 4"/>
          <p:cNvSpPr txBox="1"/>
          <p:nvPr/>
        </p:nvSpPr>
        <p:spPr>
          <a:xfrm>
            <a:off x="812800" y="1879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6" name="TextBox 5"/>
          <p:cNvSpPr txBox="1"/>
          <p:nvPr/>
        </p:nvSpPr>
        <p:spPr>
          <a:xfrm>
            <a:off x="952500" y="1905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Personal profiles, devices, QR codes and analytics</a:t>
            </a:r>
          </a:p>
        </p:txBody>
      </p:sp>
      <p:sp>
        <p:nvSpPr>
          <p:cNvPr id="7" name="TextBox 6"/>
          <p:cNvSpPr txBox="1"/>
          <p:nvPr/>
        </p:nvSpPr>
        <p:spPr>
          <a:xfrm>
            <a:off x="812800" y="2260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8" name="TextBox 7"/>
          <p:cNvSpPr txBox="1"/>
          <p:nvPr/>
        </p:nvSpPr>
        <p:spPr>
          <a:xfrm>
            <a:off x="952500" y="2286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Venue menu and service list — in three languages</a:t>
            </a:r>
          </a:p>
        </p:txBody>
      </p:sp>
      <p:sp>
        <p:nvSpPr>
          <p:cNvPr id="9" name="TextBox 8"/>
          <p:cNvSpPr txBox="1"/>
          <p:nvPr/>
        </p:nvSpPr>
        <p:spPr>
          <a:xfrm>
            <a:off x="812800" y="2641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0" name="TextBox 9"/>
          <p:cNvSpPr txBox="1"/>
          <p:nvPr/>
        </p:nvSpPr>
        <p:spPr>
          <a:xfrm>
            <a:off x="952500" y="2667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A separate QR and NFC tag per table, with a printable sheet</a:t>
            </a:r>
          </a:p>
        </p:txBody>
      </p:sp>
      <p:sp>
        <p:nvSpPr>
          <p:cNvPr id="11" name="TextBox 10"/>
          <p:cNvSpPr txBox="1"/>
          <p:nvPr/>
        </p:nvSpPr>
        <p:spPr>
          <a:xfrm>
            <a:off x="812800" y="3022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2" name="TextBox 11"/>
          <p:cNvSpPr txBox="1"/>
          <p:nvPr/>
        </p:nvSpPr>
        <p:spPr>
          <a:xfrm>
            <a:off x="952500" y="3048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Guest requests: waiter, bill, housekeeping, reviews</a:t>
            </a:r>
          </a:p>
        </p:txBody>
      </p:sp>
      <p:sp>
        <p:nvSpPr>
          <p:cNvPr id="13" name="TextBox 12"/>
          <p:cNvSpPr txBox="1"/>
          <p:nvPr/>
        </p:nvSpPr>
        <p:spPr>
          <a:xfrm>
            <a:off x="812800" y="3403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4" name="TextBox 13"/>
          <p:cNvSpPr txBox="1"/>
          <p:nvPr/>
        </p:nvSpPr>
        <p:spPr>
          <a:xfrm>
            <a:off x="952500" y="3429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Counter screen with sound, and a screen that stays awake</a:t>
            </a:r>
          </a:p>
        </p:txBody>
      </p:sp>
      <p:sp>
        <p:nvSpPr>
          <p:cNvPr id="15" name="TextBox 14"/>
          <p:cNvSpPr txBox="1"/>
          <p:nvPr/>
        </p:nvSpPr>
        <p:spPr>
          <a:xfrm>
            <a:off x="812800" y="3784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6" name="TextBox 15"/>
          <p:cNvSpPr txBox="1"/>
          <p:nvPr/>
        </p:nvSpPr>
        <p:spPr>
          <a:xfrm>
            <a:off x="952500" y="3810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Monthly report: response time, busiest tables and hours</a:t>
            </a:r>
          </a:p>
        </p:txBody>
      </p:sp>
      <p:sp>
        <p:nvSpPr>
          <p:cNvPr id="17" name="TextBox 16"/>
          <p:cNvSpPr txBox="1"/>
          <p:nvPr/>
        </p:nvSpPr>
        <p:spPr>
          <a:xfrm>
            <a:off x="812800" y="4165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8" name="TextBox 17"/>
          <p:cNvSpPr txBox="1"/>
          <p:nvPr/>
        </p:nvSpPr>
        <p:spPr>
          <a:xfrm>
            <a:off x="952500" y="4191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Subscriptions, invoices and expiry reminders</a:t>
            </a:r>
          </a:p>
        </p:txBody>
      </p:sp>
      <p:sp>
        <p:nvSpPr>
          <p:cNvPr id="19" name="TextBox 18"/>
          <p:cNvSpPr txBox="1"/>
          <p:nvPr/>
        </p:nvSpPr>
        <p:spPr>
          <a:xfrm>
            <a:off x="812800" y="4546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20" name="TextBox 19"/>
          <p:cNvSpPr txBox="1"/>
          <p:nvPr/>
        </p:nvSpPr>
        <p:spPr>
          <a:xfrm>
            <a:off x="952500" y="4572000"/>
            <a:ext cx="5321300" cy="268224"/>
          </a:xfrm>
          <a:prstGeom prst="rect">
            <a:avLst/>
          </a:prstGeom>
          <a:noFill/>
        </p:spPr>
        <p:txBody>
          <a:bodyPr wrap="square" anchor="t" lIns="0" rIns="0" tIns="0" bIns="0">
            <a:spAutoFit/>
          </a:bodyPr>
          <a:lstStyle/>
          <a:p>
            <a:pPr algn="l">
              <a:lnSpc>
                <a:spcPct val="140000"/>
              </a:lnSpc>
              <a:spcAft>
                <a:spcPts val="0"/>
              </a:spcAft>
            </a:pPr>
            <a:r>
              <a:rPr sz="960" b="0">
                <a:solidFill>
                  <a:srgbClr val="5A5566"/>
                </a:solidFill>
                <a:latin typeface="Inter"/>
              </a:rPr>
              <a:t>Telegram sign-in · Payme integrated</a:t>
            </a:r>
          </a:p>
        </p:txBody>
      </p:sp>
      <p:sp>
        <p:nvSpPr>
          <p:cNvPr id="21" name="Rounded Rectangle 20"/>
          <p:cNvSpPr/>
          <p:nvPr/>
        </p:nvSpPr>
        <p:spPr>
          <a:xfrm>
            <a:off x="6781800" y="1854200"/>
            <a:ext cx="2413000" cy="3810000"/>
          </a:xfrm>
          <a:prstGeom prst="roundRect">
            <a:avLst>
              <a:gd name="adj" fmla="val 7368"/>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81800" y="1854200"/>
            <a:ext cx="2413000" cy="3810000"/>
          </a:xfrm>
          <a:prstGeom prst="roundRect">
            <a:avLst>
              <a:gd name="adj" fmla="val 7368"/>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martphone-ink.png"/>
          <p:cNvPicPr>
            <a:picLocks noChangeAspect="1"/>
          </p:cNvPicPr>
          <p:nvPr/>
        </p:nvPicPr>
        <p:blipFill>
          <a:blip r:embed="rId2"/>
          <a:stretch>
            <a:fillRect/>
          </a:stretch>
        </p:blipFill>
        <p:spPr>
          <a:xfrm>
            <a:off x="7061200" y="2184400"/>
            <a:ext cx="279400" cy="279400"/>
          </a:xfrm>
          <a:prstGeom prst="rect">
            <a:avLst/>
          </a:prstGeom>
        </p:spPr>
      </p:pic>
      <p:sp>
        <p:nvSpPr>
          <p:cNvPr id="24" name="TextBox 23"/>
          <p:cNvSpPr txBox="1"/>
          <p:nvPr/>
        </p:nvSpPr>
        <p:spPr>
          <a:xfrm>
            <a:off x="7061200" y="2641600"/>
            <a:ext cx="1879600" cy="321310"/>
          </a:xfrm>
          <a:prstGeom prst="rect">
            <a:avLst/>
          </a:prstGeom>
          <a:noFill/>
        </p:spPr>
        <p:txBody>
          <a:bodyPr wrap="square" anchor="t" lIns="0" rIns="0" tIns="0" bIns="0">
            <a:spAutoFit/>
          </a:bodyPr>
          <a:lstStyle/>
          <a:p>
            <a:pPr algn="l">
              <a:lnSpc>
                <a:spcPct val="120000"/>
              </a:lnSpc>
              <a:spcAft>
                <a:spcPts val="0"/>
              </a:spcAft>
            </a:pPr>
            <a:r>
              <a:rPr sz="1150" b="1">
                <a:solidFill>
                  <a:srgbClr val="0E0A1B"/>
                </a:solidFill>
                <a:latin typeface="Space Grotesk"/>
              </a:rPr>
              <a:t>Open to anyone, today</a:t>
            </a:r>
          </a:p>
        </p:txBody>
      </p:sp>
      <p:sp>
        <p:nvSpPr>
          <p:cNvPr id="25" name="TextBox 24"/>
          <p:cNvSpPr txBox="1"/>
          <p:nvPr/>
        </p:nvSpPr>
        <p:spPr>
          <a:xfrm>
            <a:off x="7061200" y="3149600"/>
            <a:ext cx="1879600" cy="245872"/>
          </a:xfrm>
          <a:prstGeom prst="rect">
            <a:avLst/>
          </a:prstGeom>
          <a:noFill/>
        </p:spPr>
        <p:txBody>
          <a:bodyPr wrap="square" anchor="t" lIns="0" rIns="0" tIns="0" bIns="0">
            <a:spAutoFit/>
          </a:bodyPr>
          <a:lstStyle/>
          <a:p>
            <a:pPr algn="l">
              <a:lnSpc>
                <a:spcPct val="150000"/>
              </a:lnSpc>
              <a:spcAft>
                <a:spcPts val="0"/>
              </a:spcAft>
            </a:pPr>
            <a:r>
              <a:rPr sz="880" b="0">
                <a:solidFill>
                  <a:srgbClr val="5A5566"/>
                </a:solidFill>
                <a:latin typeface="Inter"/>
              </a:rPr>
              <a:t>flex.com.uz/NAV001 is a real venue. Open it on your phone, read the menu, call a waiter, and watch it arrive at the till.</a:t>
            </a:r>
          </a:p>
        </p:txBody>
      </p:sp>
      <p:pic>
        <p:nvPicPr>
          <p:cNvPr id="26" name="Picture 25" descr="haqiqiy-kafe.jpg"/>
          <p:cNvPicPr>
            <a:picLocks noChangeAspect="1"/>
          </p:cNvPicPr>
          <p:nvPr/>
        </p:nvPicPr>
        <p:blipFill>
          <a:blip r:embed="rId3"/>
          <a:srcRect t="9460" b="5798"/>
          <a:stretch>
            <a:fillRect/>
          </a:stretch>
        </p:blipFill>
        <p:spPr>
          <a:xfrm>
            <a:off x="9499600" y="1854200"/>
            <a:ext cx="1879600" cy="3530600"/>
          </a:xfrm>
          <a:prstGeom prst="rect">
            <a:avLst/>
          </a:prstGeom>
        </p:spPr>
      </p:pic>
      <p:sp>
        <p:nvSpPr>
          <p:cNvPr id="27" name="TextBox 26"/>
          <p:cNvSpPr txBox="1"/>
          <p:nvPr/>
        </p:nvSpPr>
        <p:spPr>
          <a:xfrm>
            <a:off x="9499600" y="5511800"/>
            <a:ext cx="1879600" cy="203200"/>
          </a:xfrm>
          <a:prstGeom prst="rect">
            <a:avLst/>
          </a:prstGeom>
          <a:noFill/>
        </p:spPr>
        <p:txBody>
          <a:bodyPr wrap="square" anchor="t" lIns="0" rIns="0" tIns="0" bIns="0">
            <a:spAutoFit/>
          </a:bodyPr>
          <a:lstStyle/>
          <a:p>
            <a:pPr algn="l">
              <a:lnSpc>
                <a:spcPct val="135000"/>
              </a:lnSpc>
              <a:spcAft>
                <a:spcPts val="0"/>
              </a:spcAft>
            </a:pPr>
            <a:r>
              <a:rPr sz="760" b="1" spc="110">
                <a:solidFill>
                  <a:srgbClr val="5A5566"/>
                </a:solidFill>
                <a:latin typeface="Inter"/>
              </a:rPr>
              <a:t>IN A REAL VENUE, TODAY</a:t>
            </a:r>
          </a:p>
        </p:txBody>
      </p:sp>
      <p:sp>
        <p:nvSpPr>
          <p:cNvPr id="28" name="TextBox 27"/>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29" name="TextBox 28"/>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ROADMAP</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The next eighteen months.</a:t>
            </a:r>
          </a:p>
        </p:txBody>
      </p:sp>
      <p:sp>
        <p:nvSpPr>
          <p:cNvPr id="5" name="Rectangle 4"/>
          <p:cNvSpPr/>
          <p:nvPr/>
        </p:nvSpPr>
        <p:spPr>
          <a:xfrm>
            <a:off x="812800" y="2298700"/>
            <a:ext cx="10566400" cy="19050"/>
          </a:xfrm>
          <a:prstGeom prst="rect">
            <a:avLst/>
          </a:prstGeom>
          <a:solidFill>
            <a:srgbClr val="E6E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12800" y="2235200"/>
            <a:ext cx="152400" cy="152400"/>
          </a:xfrm>
          <a:prstGeom prst="roundRect">
            <a:avLst>
              <a:gd name="adj" fmla="val 50000"/>
            </a:avLst>
          </a:prstGeom>
          <a:solidFill>
            <a:srgbClr val="ABFF09"/>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2800" y="2565400"/>
            <a:ext cx="2406650" cy="228600"/>
          </a:xfrm>
          <a:prstGeom prst="rect">
            <a:avLst/>
          </a:prstGeom>
          <a:noFill/>
        </p:spPr>
        <p:txBody>
          <a:bodyPr wrap="square" anchor="t" lIns="0" rIns="0" tIns="0" bIns="0">
            <a:spAutoFit/>
          </a:bodyPr>
          <a:lstStyle/>
          <a:p>
            <a:pPr algn="l">
              <a:lnSpc>
                <a:spcPct val="135000"/>
              </a:lnSpc>
              <a:spcAft>
                <a:spcPts val="0"/>
              </a:spcAft>
            </a:pPr>
            <a:r>
              <a:rPr sz="840" b="1" spc="110">
                <a:solidFill>
                  <a:srgbClr val="4D7C0F"/>
                </a:solidFill>
                <a:latin typeface="Inter"/>
              </a:rPr>
              <a:t>2026 · Q4</a:t>
            </a:r>
          </a:p>
        </p:txBody>
      </p:sp>
      <p:sp>
        <p:nvSpPr>
          <p:cNvPr id="8" name="TextBox 7"/>
          <p:cNvSpPr txBox="1"/>
          <p:nvPr/>
        </p:nvSpPr>
        <p:spPr>
          <a:xfrm>
            <a:off x="812800" y="2819400"/>
            <a:ext cx="2406650" cy="363220"/>
          </a:xfrm>
          <a:prstGeom prst="rect">
            <a:avLst/>
          </a:prstGeom>
          <a:noFill/>
        </p:spPr>
        <p:txBody>
          <a:bodyPr wrap="square" anchor="t" lIns="0" rIns="0" tIns="0" bIns="0">
            <a:spAutoFit/>
          </a:bodyPr>
          <a:lstStyle/>
          <a:p>
            <a:pPr algn="l">
              <a:lnSpc>
                <a:spcPct val="115000"/>
              </a:lnSpc>
              <a:spcAft>
                <a:spcPts val="0"/>
              </a:spcAft>
            </a:pPr>
            <a:r>
              <a:rPr sz="1300" b="1">
                <a:solidFill>
                  <a:srgbClr val="0E0A1B"/>
                </a:solidFill>
                <a:latin typeface="Space Grotesk"/>
              </a:rPr>
              <a:t>Go live</a:t>
            </a:r>
          </a:p>
        </p:txBody>
      </p:sp>
      <p:sp>
        <p:nvSpPr>
          <p:cNvPr id="9" name="TextBox 8"/>
          <p:cNvSpPr txBox="1"/>
          <p:nvPr/>
        </p:nvSpPr>
        <p:spPr>
          <a:xfrm>
            <a:off x="812800" y="32258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0" name="TextBox 9"/>
          <p:cNvSpPr txBox="1"/>
          <p:nvPr/>
        </p:nvSpPr>
        <p:spPr>
          <a:xfrm>
            <a:off x="952500" y="32512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flex.com.uz and Payme certification</a:t>
            </a:r>
          </a:p>
        </p:txBody>
      </p:sp>
      <p:sp>
        <p:nvSpPr>
          <p:cNvPr id="11" name="TextBox 10"/>
          <p:cNvSpPr txBox="1"/>
          <p:nvPr/>
        </p:nvSpPr>
        <p:spPr>
          <a:xfrm>
            <a:off x="812800" y="37592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2" name="TextBox 11"/>
          <p:cNvSpPr txBox="1"/>
          <p:nvPr/>
        </p:nvSpPr>
        <p:spPr>
          <a:xfrm>
            <a:off x="952500" y="37846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First 100 venues: cafes, salons, clinics</a:t>
            </a:r>
          </a:p>
        </p:txBody>
      </p:sp>
      <p:sp>
        <p:nvSpPr>
          <p:cNvPr id="13" name="TextBox 12"/>
          <p:cNvSpPr txBox="1"/>
          <p:nvPr/>
        </p:nvSpPr>
        <p:spPr>
          <a:xfrm>
            <a:off x="812800" y="4292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4" name="TextBox 13"/>
          <p:cNvSpPr txBox="1"/>
          <p:nvPr/>
        </p:nvSpPr>
        <p:spPr>
          <a:xfrm>
            <a:off x="952500" y="43180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Car tags and object tags on sale</a:t>
            </a:r>
          </a:p>
        </p:txBody>
      </p:sp>
      <p:sp>
        <p:nvSpPr>
          <p:cNvPr id="15" name="Rounded Rectangle 14"/>
          <p:cNvSpPr/>
          <p:nvPr/>
        </p:nvSpPr>
        <p:spPr>
          <a:xfrm>
            <a:off x="3498850" y="2235200"/>
            <a:ext cx="152400" cy="152400"/>
          </a:xfrm>
          <a:prstGeom prst="roundRect">
            <a:avLst>
              <a:gd name="adj" fmla="val 50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98850" y="2565400"/>
            <a:ext cx="2406650" cy="228600"/>
          </a:xfrm>
          <a:prstGeom prst="rect">
            <a:avLst/>
          </a:prstGeom>
          <a:noFill/>
        </p:spPr>
        <p:txBody>
          <a:bodyPr wrap="square" anchor="t" lIns="0" rIns="0" tIns="0" bIns="0">
            <a:spAutoFit/>
          </a:bodyPr>
          <a:lstStyle/>
          <a:p>
            <a:pPr algn="l">
              <a:lnSpc>
                <a:spcPct val="135000"/>
              </a:lnSpc>
              <a:spcAft>
                <a:spcPts val="0"/>
              </a:spcAft>
            </a:pPr>
            <a:r>
              <a:rPr sz="840" b="1" spc="110">
                <a:solidFill>
                  <a:srgbClr val="4D7C0F"/>
                </a:solidFill>
                <a:latin typeface="Inter"/>
              </a:rPr>
              <a:t>2027 · Q1</a:t>
            </a:r>
          </a:p>
        </p:txBody>
      </p:sp>
      <p:sp>
        <p:nvSpPr>
          <p:cNvPr id="17" name="TextBox 16"/>
          <p:cNvSpPr txBox="1"/>
          <p:nvPr/>
        </p:nvSpPr>
        <p:spPr>
          <a:xfrm>
            <a:off x="3498850" y="2819400"/>
            <a:ext cx="2406650" cy="363220"/>
          </a:xfrm>
          <a:prstGeom prst="rect">
            <a:avLst/>
          </a:prstGeom>
          <a:noFill/>
        </p:spPr>
        <p:txBody>
          <a:bodyPr wrap="square" anchor="t" lIns="0" rIns="0" tIns="0" bIns="0">
            <a:spAutoFit/>
          </a:bodyPr>
          <a:lstStyle/>
          <a:p>
            <a:pPr algn="l">
              <a:lnSpc>
                <a:spcPct val="115000"/>
              </a:lnSpc>
              <a:spcAft>
                <a:spcPts val="0"/>
              </a:spcAft>
            </a:pPr>
            <a:r>
              <a:rPr sz="1300" b="1">
                <a:solidFill>
                  <a:srgbClr val="0E0A1B"/>
                </a:solidFill>
                <a:latin typeface="Space Grotesk"/>
              </a:rPr>
              <a:t>Widen the product</a:t>
            </a:r>
          </a:p>
        </p:txBody>
      </p:sp>
      <p:sp>
        <p:nvSpPr>
          <p:cNvPr id="18" name="TextBox 17"/>
          <p:cNvSpPr txBox="1"/>
          <p:nvPr/>
        </p:nvSpPr>
        <p:spPr>
          <a:xfrm>
            <a:off x="3498850" y="32258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19" name="TextBox 18"/>
          <p:cNvSpPr txBox="1"/>
          <p:nvPr/>
        </p:nvSpPr>
        <p:spPr>
          <a:xfrm>
            <a:off x="3638550" y="32512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Mobile app, with the partner team</a:t>
            </a:r>
          </a:p>
        </p:txBody>
      </p:sp>
      <p:sp>
        <p:nvSpPr>
          <p:cNvPr id="20" name="TextBox 19"/>
          <p:cNvSpPr txBox="1"/>
          <p:nvPr/>
        </p:nvSpPr>
        <p:spPr>
          <a:xfrm>
            <a:off x="3498850" y="37592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21" name="TextBox 20"/>
          <p:cNvSpPr txBox="1"/>
          <p:nvPr/>
        </p:nvSpPr>
        <p:spPr>
          <a:xfrm>
            <a:off x="3638550" y="37846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Pet tags and the CV page</a:t>
            </a:r>
          </a:p>
        </p:txBody>
      </p:sp>
      <p:sp>
        <p:nvSpPr>
          <p:cNvPr id="22" name="TextBox 21"/>
          <p:cNvSpPr txBox="1"/>
          <p:nvPr/>
        </p:nvSpPr>
        <p:spPr>
          <a:xfrm>
            <a:off x="3498850" y="4292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23" name="TextBox 22"/>
          <p:cNvSpPr txBox="1"/>
          <p:nvPr/>
        </p:nvSpPr>
        <p:spPr>
          <a:xfrm>
            <a:off x="3638550" y="43180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Invoicing and the monthly report automated</a:t>
            </a:r>
          </a:p>
        </p:txBody>
      </p:sp>
      <p:sp>
        <p:nvSpPr>
          <p:cNvPr id="24" name="Rounded Rectangle 23"/>
          <p:cNvSpPr/>
          <p:nvPr/>
        </p:nvSpPr>
        <p:spPr>
          <a:xfrm>
            <a:off x="6184900" y="2235200"/>
            <a:ext cx="152400" cy="152400"/>
          </a:xfrm>
          <a:prstGeom prst="roundRect">
            <a:avLst>
              <a:gd name="adj" fmla="val 50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84900" y="2565400"/>
            <a:ext cx="2406650" cy="228600"/>
          </a:xfrm>
          <a:prstGeom prst="rect">
            <a:avLst/>
          </a:prstGeom>
          <a:noFill/>
        </p:spPr>
        <p:txBody>
          <a:bodyPr wrap="square" anchor="t" lIns="0" rIns="0" tIns="0" bIns="0">
            <a:spAutoFit/>
          </a:bodyPr>
          <a:lstStyle/>
          <a:p>
            <a:pPr algn="l">
              <a:lnSpc>
                <a:spcPct val="135000"/>
              </a:lnSpc>
              <a:spcAft>
                <a:spcPts val="0"/>
              </a:spcAft>
            </a:pPr>
            <a:r>
              <a:rPr sz="840" b="1" spc="110">
                <a:solidFill>
                  <a:srgbClr val="4D7C0F"/>
                </a:solidFill>
                <a:latin typeface="Inter"/>
              </a:rPr>
              <a:t>2027 · Q2</a:t>
            </a:r>
          </a:p>
        </p:txBody>
      </p:sp>
      <p:sp>
        <p:nvSpPr>
          <p:cNvPr id="26" name="TextBox 25"/>
          <p:cNvSpPr txBox="1"/>
          <p:nvPr/>
        </p:nvSpPr>
        <p:spPr>
          <a:xfrm>
            <a:off x="6184900" y="2819400"/>
            <a:ext cx="2406650" cy="363220"/>
          </a:xfrm>
          <a:prstGeom prst="rect">
            <a:avLst/>
          </a:prstGeom>
          <a:noFill/>
        </p:spPr>
        <p:txBody>
          <a:bodyPr wrap="square" anchor="t" lIns="0" rIns="0" tIns="0" bIns="0">
            <a:spAutoFit/>
          </a:bodyPr>
          <a:lstStyle/>
          <a:p>
            <a:pPr algn="l">
              <a:lnSpc>
                <a:spcPct val="115000"/>
              </a:lnSpc>
              <a:spcAft>
                <a:spcPts val="0"/>
              </a:spcAft>
            </a:pPr>
            <a:r>
              <a:rPr sz="1300" b="1">
                <a:solidFill>
                  <a:srgbClr val="0E0A1B"/>
                </a:solidFill>
                <a:latin typeface="Space Grotesk"/>
              </a:rPr>
              <a:t>Scale the selling</a:t>
            </a:r>
          </a:p>
        </p:txBody>
      </p:sp>
      <p:sp>
        <p:nvSpPr>
          <p:cNvPr id="27" name="TextBox 26"/>
          <p:cNvSpPr txBox="1"/>
          <p:nvPr/>
        </p:nvSpPr>
        <p:spPr>
          <a:xfrm>
            <a:off x="6184900" y="32258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28" name="TextBox 27"/>
          <p:cNvSpPr txBox="1"/>
          <p:nvPr/>
        </p:nvSpPr>
        <p:spPr>
          <a:xfrm>
            <a:off x="6324600" y="32512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500 venues</a:t>
            </a:r>
          </a:p>
        </p:txBody>
      </p:sp>
      <p:sp>
        <p:nvSpPr>
          <p:cNvPr id="29" name="TextBox 28"/>
          <p:cNvSpPr txBox="1"/>
          <p:nvPr/>
        </p:nvSpPr>
        <p:spPr>
          <a:xfrm>
            <a:off x="6184900" y="37592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30" name="TextBox 29"/>
          <p:cNvSpPr txBox="1"/>
          <p:nvPr/>
        </p:nvSpPr>
        <p:spPr>
          <a:xfrm>
            <a:off x="6324600" y="37846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A dealer network in the regional capitals</a:t>
            </a:r>
          </a:p>
        </p:txBody>
      </p:sp>
      <p:sp>
        <p:nvSpPr>
          <p:cNvPr id="31" name="TextBox 30"/>
          <p:cNvSpPr txBox="1"/>
          <p:nvPr/>
        </p:nvSpPr>
        <p:spPr>
          <a:xfrm>
            <a:off x="6184900" y="4292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32" name="TextBox 31"/>
          <p:cNvSpPr txBox="1"/>
          <p:nvPr/>
        </p:nvSpPr>
        <p:spPr>
          <a:xfrm>
            <a:off x="6324600" y="43180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Volume agreements with manufacturers</a:t>
            </a:r>
          </a:p>
        </p:txBody>
      </p:sp>
      <p:sp>
        <p:nvSpPr>
          <p:cNvPr id="33" name="Rounded Rectangle 32"/>
          <p:cNvSpPr/>
          <p:nvPr/>
        </p:nvSpPr>
        <p:spPr>
          <a:xfrm>
            <a:off x="8870950" y="2235200"/>
            <a:ext cx="152400" cy="152400"/>
          </a:xfrm>
          <a:prstGeom prst="roundRect">
            <a:avLst>
              <a:gd name="adj" fmla="val 50000"/>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70950" y="2565400"/>
            <a:ext cx="2406650" cy="228600"/>
          </a:xfrm>
          <a:prstGeom prst="rect">
            <a:avLst/>
          </a:prstGeom>
          <a:noFill/>
        </p:spPr>
        <p:txBody>
          <a:bodyPr wrap="square" anchor="t" lIns="0" rIns="0" tIns="0" bIns="0">
            <a:spAutoFit/>
          </a:bodyPr>
          <a:lstStyle/>
          <a:p>
            <a:pPr algn="l">
              <a:lnSpc>
                <a:spcPct val="135000"/>
              </a:lnSpc>
              <a:spcAft>
                <a:spcPts val="0"/>
              </a:spcAft>
            </a:pPr>
            <a:r>
              <a:rPr sz="840" b="1" spc="110">
                <a:solidFill>
                  <a:srgbClr val="4D7C0F"/>
                </a:solidFill>
                <a:latin typeface="Inter"/>
              </a:rPr>
              <a:t>2027 · Q3–Q4</a:t>
            </a:r>
          </a:p>
        </p:txBody>
      </p:sp>
      <p:sp>
        <p:nvSpPr>
          <p:cNvPr id="35" name="TextBox 34"/>
          <p:cNvSpPr txBox="1"/>
          <p:nvPr/>
        </p:nvSpPr>
        <p:spPr>
          <a:xfrm>
            <a:off x="8870950" y="2819400"/>
            <a:ext cx="2406650" cy="363220"/>
          </a:xfrm>
          <a:prstGeom prst="rect">
            <a:avLst/>
          </a:prstGeom>
          <a:noFill/>
        </p:spPr>
        <p:txBody>
          <a:bodyPr wrap="square" anchor="t" lIns="0" rIns="0" tIns="0" bIns="0">
            <a:spAutoFit/>
          </a:bodyPr>
          <a:lstStyle/>
          <a:p>
            <a:pPr algn="l">
              <a:lnSpc>
                <a:spcPct val="115000"/>
              </a:lnSpc>
              <a:spcAft>
                <a:spcPts val="0"/>
              </a:spcAft>
            </a:pPr>
            <a:r>
              <a:rPr sz="1300" b="1">
                <a:solidFill>
                  <a:srgbClr val="0E0A1B"/>
                </a:solidFill>
                <a:latin typeface="Space Grotesk"/>
              </a:rPr>
              <a:t>Across the border</a:t>
            </a:r>
          </a:p>
        </p:txBody>
      </p:sp>
      <p:sp>
        <p:nvSpPr>
          <p:cNvPr id="36" name="TextBox 35"/>
          <p:cNvSpPr txBox="1"/>
          <p:nvPr/>
        </p:nvSpPr>
        <p:spPr>
          <a:xfrm>
            <a:off x="8870950" y="32258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37" name="TextBox 36"/>
          <p:cNvSpPr txBox="1"/>
          <p:nvPr/>
        </p:nvSpPr>
        <p:spPr>
          <a:xfrm>
            <a:off x="9010650" y="32512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1,000 venues — the SOM target</a:t>
            </a:r>
          </a:p>
        </p:txBody>
      </p:sp>
      <p:sp>
        <p:nvSpPr>
          <p:cNvPr id="38" name="TextBox 37"/>
          <p:cNvSpPr txBox="1"/>
          <p:nvPr/>
        </p:nvSpPr>
        <p:spPr>
          <a:xfrm>
            <a:off x="8870950" y="37592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39" name="TextBox 38"/>
          <p:cNvSpPr txBox="1"/>
          <p:nvPr/>
        </p:nvSpPr>
        <p:spPr>
          <a:xfrm>
            <a:off x="9010650" y="37846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A pilot in Kazakhstan and Kyrgyzstan</a:t>
            </a:r>
          </a:p>
        </p:txBody>
      </p:sp>
      <p:sp>
        <p:nvSpPr>
          <p:cNvPr id="40" name="TextBox 39"/>
          <p:cNvSpPr txBox="1"/>
          <p:nvPr/>
        </p:nvSpPr>
        <p:spPr>
          <a:xfrm>
            <a:off x="8870950" y="4292600"/>
            <a:ext cx="127000" cy="203200"/>
          </a:xfrm>
          <a:prstGeom prst="rect">
            <a:avLst/>
          </a:prstGeom>
          <a:noFill/>
        </p:spPr>
        <p:txBody>
          <a:bodyPr wrap="square" anchor="t" lIns="0" rIns="0" tIns="0" bIns="0">
            <a:spAutoFit/>
          </a:bodyPr>
          <a:lstStyle/>
          <a:p>
            <a:pPr algn="l">
              <a:lnSpc>
                <a:spcPct val="135000"/>
              </a:lnSpc>
              <a:spcAft>
                <a:spcPts val="0"/>
              </a:spcAft>
            </a:pPr>
            <a:r>
              <a:rPr sz="1400" b="1">
                <a:solidFill>
                  <a:srgbClr val="4D7C0F"/>
                </a:solidFill>
                <a:latin typeface="Inter"/>
              </a:rPr>
              <a:t>·</a:t>
            </a:r>
          </a:p>
        </p:txBody>
      </p:sp>
      <p:sp>
        <p:nvSpPr>
          <p:cNvPr id="41" name="TextBox 40"/>
          <p:cNvSpPr txBox="1"/>
          <p:nvPr/>
        </p:nvSpPr>
        <p:spPr>
          <a:xfrm>
            <a:off x="9010650" y="4318000"/>
            <a:ext cx="2266950" cy="251460"/>
          </a:xfrm>
          <a:prstGeom prst="rect">
            <a:avLst/>
          </a:prstGeom>
          <a:noFill/>
        </p:spPr>
        <p:txBody>
          <a:bodyPr wrap="square" anchor="t" lIns="0" rIns="0" tIns="0" bIns="0">
            <a:spAutoFit/>
          </a:bodyPr>
          <a:lstStyle/>
          <a:p>
            <a:pPr algn="l">
              <a:lnSpc>
                <a:spcPct val="140000"/>
              </a:lnSpc>
              <a:spcAft>
                <a:spcPts val="0"/>
              </a:spcAft>
            </a:pPr>
            <a:r>
              <a:rPr sz="900" b="0">
                <a:solidFill>
                  <a:srgbClr val="5A5566"/>
                </a:solidFill>
                <a:latin typeface="Inter"/>
              </a:rPr>
              <a:t>Raise the seed round</a:t>
            </a:r>
          </a:p>
        </p:txBody>
      </p:sp>
      <p:sp>
        <p:nvSpPr>
          <p:cNvPr id="42" name="TextBox 41"/>
          <p:cNvSpPr txBox="1"/>
          <p:nvPr/>
        </p:nvSpPr>
        <p:spPr>
          <a:xfrm>
            <a:off x="812800" y="6019800"/>
            <a:ext cx="7620000" cy="234696"/>
          </a:xfrm>
          <a:prstGeom prst="rect">
            <a:avLst/>
          </a:prstGeom>
          <a:noFill/>
        </p:spPr>
        <p:txBody>
          <a:bodyPr wrap="square" anchor="t" lIns="0" rIns="0" tIns="0" bIns="0">
            <a:spAutoFit/>
          </a:bodyPr>
          <a:lstStyle/>
          <a:p>
            <a:pPr algn="l">
              <a:lnSpc>
                <a:spcPct val="135000"/>
              </a:lnSpc>
              <a:spcAft>
                <a:spcPts val="0"/>
              </a:spcAft>
            </a:pPr>
            <a:r>
              <a:rPr sz="840" b="0">
                <a:solidFill>
                  <a:srgbClr val="5A5566"/>
                </a:solidFill>
                <a:latin typeface="Inter"/>
              </a:rPr>
              <a:t>Dates run from the close of the round.</a:t>
            </a:r>
          </a:p>
        </p:txBody>
      </p:sp>
      <p:sp>
        <p:nvSpPr>
          <p:cNvPr id="43" name="TextBox 42"/>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44" name="TextBox 43"/>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sp>
        <p:nvSpPr>
          <p:cNvPr id="2" name="Rectangle 1"/>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WHY NOW</a:t>
            </a:r>
          </a:p>
        </p:txBody>
      </p:sp>
      <p:sp>
        <p:nvSpPr>
          <p:cNvPr id="4" name="TextBox 3"/>
          <p:cNvSpPr txBox="1"/>
          <p:nvPr/>
        </p:nvSpPr>
        <p:spPr>
          <a:xfrm>
            <a:off x="812800" y="889000"/>
            <a:ext cx="7874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FFFFFF"/>
                </a:solidFill>
                <a:latin typeface="Space Grotesk"/>
              </a:rPr>
              <a:t>Three things are true at once.</a:t>
            </a:r>
          </a:p>
        </p:txBody>
      </p:sp>
      <p:sp>
        <p:nvSpPr>
          <p:cNvPr id="5" name="Rounded Rectangle 4"/>
          <p:cNvSpPr/>
          <p:nvPr/>
        </p:nvSpPr>
        <p:spPr>
          <a:xfrm>
            <a:off x="812800" y="2362200"/>
            <a:ext cx="3378200" cy="2413000"/>
          </a:xfrm>
          <a:prstGeom prst="roundRect">
            <a:avLst>
              <a:gd name="adj" fmla="val 7368"/>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smartphone-lime.png"/>
          <p:cNvPicPr>
            <a:picLocks noChangeAspect="1"/>
          </p:cNvPicPr>
          <p:nvPr/>
        </p:nvPicPr>
        <p:blipFill>
          <a:blip r:embed="rId2"/>
          <a:stretch>
            <a:fillRect/>
          </a:stretch>
        </p:blipFill>
        <p:spPr>
          <a:xfrm>
            <a:off x="1066800" y="2616200"/>
            <a:ext cx="279400" cy="279400"/>
          </a:xfrm>
          <a:prstGeom prst="rect">
            <a:avLst/>
          </a:prstGeom>
        </p:spPr>
      </p:pic>
      <p:sp>
        <p:nvSpPr>
          <p:cNvPr id="7" name="TextBox 6"/>
          <p:cNvSpPr txBox="1"/>
          <p:nvPr/>
        </p:nvSpPr>
        <p:spPr>
          <a:xfrm>
            <a:off x="1066800" y="3048000"/>
            <a:ext cx="287020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The phones are ready</a:t>
            </a:r>
          </a:p>
        </p:txBody>
      </p:sp>
      <p:sp>
        <p:nvSpPr>
          <p:cNvPr id="8" name="TextBox 7"/>
          <p:cNvSpPr txBox="1"/>
          <p:nvPr/>
        </p:nvSpPr>
        <p:spPr>
          <a:xfrm>
            <a:off x="1066800" y="33782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Every phone sold in recent years reads NFC, and after 2020 a QR code on a table needs no explaining to anyone.</a:t>
            </a:r>
          </a:p>
        </p:txBody>
      </p:sp>
      <p:sp>
        <p:nvSpPr>
          <p:cNvPr id="9" name="Rounded Rectangle 8"/>
          <p:cNvSpPr/>
          <p:nvPr/>
        </p:nvSpPr>
        <p:spPr>
          <a:xfrm>
            <a:off x="4368800" y="2362200"/>
            <a:ext cx="3378200" cy="2413000"/>
          </a:xfrm>
          <a:prstGeom prst="roundRect">
            <a:avLst>
              <a:gd name="adj" fmla="val 7368"/>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trending-up-lime.png"/>
          <p:cNvPicPr>
            <a:picLocks noChangeAspect="1"/>
          </p:cNvPicPr>
          <p:nvPr/>
        </p:nvPicPr>
        <p:blipFill>
          <a:blip r:embed="rId3"/>
          <a:stretch>
            <a:fillRect/>
          </a:stretch>
        </p:blipFill>
        <p:spPr>
          <a:xfrm>
            <a:off x="4622800" y="2616200"/>
            <a:ext cx="279400" cy="279400"/>
          </a:xfrm>
          <a:prstGeom prst="rect">
            <a:avLst/>
          </a:prstGeom>
        </p:spPr>
      </p:pic>
      <p:sp>
        <p:nvSpPr>
          <p:cNvPr id="11" name="TextBox 10"/>
          <p:cNvSpPr txBox="1"/>
          <p:nvPr/>
        </p:nvSpPr>
        <p:spPr>
          <a:xfrm>
            <a:off x="4622800" y="3048000"/>
            <a:ext cx="287020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Service is the battleground</a:t>
            </a:r>
          </a:p>
        </p:txBody>
      </p:sp>
      <p:sp>
        <p:nvSpPr>
          <p:cNvPr id="12" name="TextBox 11"/>
          <p:cNvSpPr txBox="1"/>
          <p:nvPr/>
        </p:nvSpPr>
        <p:spPr>
          <a:xfrm>
            <a:off x="4622800" y="33782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Cafes and hotels no longer compete on price alone. How fast somebody answers a table is a thing guests notice.</a:t>
            </a:r>
          </a:p>
        </p:txBody>
      </p:sp>
      <p:sp>
        <p:nvSpPr>
          <p:cNvPr id="13" name="Rounded Rectangle 12"/>
          <p:cNvSpPr/>
          <p:nvPr/>
        </p:nvSpPr>
        <p:spPr>
          <a:xfrm>
            <a:off x="7924800" y="2362200"/>
            <a:ext cx="3378200" cy="2413000"/>
          </a:xfrm>
          <a:prstGeom prst="roundRect">
            <a:avLst>
              <a:gd name="adj" fmla="val 7368"/>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credit-card-lime.png"/>
          <p:cNvPicPr>
            <a:picLocks noChangeAspect="1"/>
          </p:cNvPicPr>
          <p:nvPr/>
        </p:nvPicPr>
        <p:blipFill>
          <a:blip r:embed="rId4"/>
          <a:stretch>
            <a:fillRect/>
          </a:stretch>
        </p:blipFill>
        <p:spPr>
          <a:xfrm>
            <a:off x="8178800" y="2616200"/>
            <a:ext cx="279400" cy="279400"/>
          </a:xfrm>
          <a:prstGeom prst="rect">
            <a:avLst/>
          </a:prstGeom>
        </p:spPr>
      </p:pic>
      <p:sp>
        <p:nvSpPr>
          <p:cNvPr id="15" name="TextBox 14"/>
          <p:cNvSpPr txBox="1"/>
          <p:nvPr/>
        </p:nvSpPr>
        <p:spPr>
          <a:xfrm>
            <a:off x="8178800" y="3048000"/>
            <a:ext cx="2870200" cy="349250"/>
          </a:xfrm>
          <a:prstGeom prst="rect">
            <a:avLst/>
          </a:prstGeom>
          <a:noFill/>
        </p:spPr>
        <p:txBody>
          <a:bodyPr wrap="square" anchor="t" lIns="0" rIns="0" tIns="0" bIns="0">
            <a:spAutoFit/>
          </a:bodyPr>
          <a:lstStyle/>
          <a:p>
            <a:pPr algn="l">
              <a:lnSpc>
                <a:spcPct val="135000"/>
              </a:lnSpc>
              <a:spcAft>
                <a:spcPts val="0"/>
              </a:spcAft>
            </a:pPr>
            <a:r>
              <a:rPr sz="1250" b="1">
                <a:solidFill>
                  <a:srgbClr val="FFFFFF"/>
                </a:solidFill>
                <a:latin typeface="Space Grotesk"/>
              </a:rPr>
              <a:t>The rails exist</a:t>
            </a:r>
          </a:p>
        </p:txBody>
      </p:sp>
      <p:sp>
        <p:nvSpPr>
          <p:cNvPr id="16" name="TextBox 15"/>
          <p:cNvSpPr txBox="1"/>
          <p:nvPr/>
        </p:nvSpPr>
        <p:spPr>
          <a:xfrm>
            <a:off x="8178800" y="3378200"/>
            <a:ext cx="2870200" cy="251460"/>
          </a:xfrm>
          <a:prstGeom prst="rect">
            <a:avLst/>
          </a:prstGeom>
          <a:noFill/>
        </p:spPr>
        <p:txBody>
          <a:bodyPr wrap="square" anchor="t" lIns="0" rIns="0" tIns="0" bIns="0">
            <a:spAutoFit/>
          </a:bodyPr>
          <a:lstStyle/>
          <a:p>
            <a:pPr algn="l">
              <a:lnSpc>
                <a:spcPct val="145000"/>
              </a:lnSpc>
              <a:spcAft>
                <a:spcPts val="0"/>
              </a:spcAft>
            </a:pPr>
            <a:r>
              <a:rPr sz="900" b="0">
                <a:solidFill>
                  <a:srgbClr val="8A849B"/>
                </a:solidFill>
                <a:latin typeface="Inter"/>
              </a:rPr>
              <a:t>Payme and bank transfer make a monthly subscription collectable from a business — what turns this from a gadget into revenue.</a:t>
            </a:r>
          </a:p>
        </p:txBody>
      </p:sp>
      <p:sp>
        <p:nvSpPr>
          <p:cNvPr id="17" name="TextBox 16"/>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8A849B"/>
                </a:solidFill>
                <a:latin typeface="Inter"/>
              </a:rPr>
              <a:t>flex.com.uz</a:t>
            </a:r>
          </a:p>
        </p:txBody>
      </p:sp>
      <p:sp>
        <p:nvSpPr>
          <p:cNvPr id="18" name="TextBox 17"/>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8A849B"/>
                </a:solidFill>
                <a:latin typeface="Inter"/>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Rectangle 1"/>
          <p:cNvSpPr/>
          <p:nvPr/>
        </p:nvSpPr>
        <p:spPr>
          <a:xfrm>
            <a:off x="812800" y="23050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143000" y="22352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5A5566"/>
                </a:solidFill>
                <a:latin typeface="Inter"/>
              </a:rPr>
              <a:t>TEAM</a:t>
            </a:r>
          </a:p>
        </p:txBody>
      </p:sp>
      <p:sp>
        <p:nvSpPr>
          <p:cNvPr id="4" name="TextBox 3"/>
          <p:cNvSpPr txBox="1"/>
          <p:nvPr/>
        </p:nvSpPr>
        <p:spPr>
          <a:xfrm>
            <a:off x="812800" y="2514600"/>
            <a:ext cx="4191000" cy="838200"/>
          </a:xfrm>
          <a:prstGeom prst="rect">
            <a:avLst/>
          </a:prstGeom>
          <a:noFill/>
        </p:spPr>
        <p:txBody>
          <a:bodyPr wrap="square" anchor="t" lIns="0" rIns="0" tIns="0" bIns="0">
            <a:spAutoFit/>
          </a:bodyPr>
          <a:lstStyle/>
          <a:p>
            <a:pPr algn="l">
              <a:lnSpc>
                <a:spcPct val="106000"/>
              </a:lnSpc>
              <a:spcAft>
                <a:spcPts val="0"/>
              </a:spcAft>
            </a:pPr>
            <a:r>
              <a:rPr sz="3000" b="1" spc="-60">
                <a:solidFill>
                  <a:srgbClr val="0E0A1B"/>
                </a:solidFill>
                <a:latin typeface="Space Grotesk"/>
              </a:rPr>
              <a:t>Who is building it.</a:t>
            </a:r>
          </a:p>
        </p:txBody>
      </p:sp>
      <p:sp>
        <p:nvSpPr>
          <p:cNvPr id="5" name="TextBox 4"/>
          <p:cNvSpPr txBox="1"/>
          <p:nvPr/>
        </p:nvSpPr>
        <p:spPr>
          <a:xfrm>
            <a:off x="812800" y="3327400"/>
            <a:ext cx="4191000" cy="307340"/>
          </a:xfrm>
          <a:prstGeom prst="rect">
            <a:avLst/>
          </a:prstGeom>
          <a:noFill/>
        </p:spPr>
        <p:txBody>
          <a:bodyPr wrap="square" anchor="t" lIns="0" rIns="0" tIns="0" bIns="0">
            <a:spAutoFit/>
          </a:bodyPr>
          <a:lstStyle/>
          <a:p>
            <a:pPr algn="l">
              <a:lnSpc>
                <a:spcPct val="155000"/>
              </a:lnSpc>
              <a:spcAft>
                <a:spcPts val="0"/>
              </a:spcAft>
            </a:pPr>
            <a:r>
              <a:rPr sz="1100" b="0">
                <a:solidFill>
                  <a:srgbClr val="5A5566"/>
                </a:solidFill>
                <a:latin typeface="Inter"/>
              </a:rPr>
              <a:t>Three people. Product, web and sales, all in-house. The first version was built without an outside team, and it is running today.</a:t>
            </a:r>
          </a:p>
        </p:txBody>
      </p:sp>
      <p:sp>
        <p:nvSpPr>
          <p:cNvPr id="6" name="Rounded Rectangle 5"/>
          <p:cNvSpPr/>
          <p:nvPr/>
        </p:nvSpPr>
        <p:spPr>
          <a:xfrm>
            <a:off x="5842000" y="2006600"/>
            <a:ext cx="5537200" cy="812800"/>
          </a:xfrm>
          <a:prstGeom prst="roundRect">
            <a:avLst>
              <a:gd name="adj" fmla="val 21875"/>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070600" y="2184400"/>
            <a:ext cx="457200" cy="457200"/>
          </a:xfrm>
          <a:prstGeom prst="roundRect">
            <a:avLst>
              <a:gd name="adj" fmla="val 30555"/>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70600" y="2311400"/>
            <a:ext cx="457200" cy="228600"/>
          </a:xfrm>
          <a:prstGeom prst="rect">
            <a:avLst/>
          </a:prstGeom>
          <a:noFill/>
        </p:spPr>
        <p:txBody>
          <a:bodyPr wrap="square" anchor="t" lIns="0" rIns="0" tIns="0" bIns="0">
            <a:spAutoFit/>
          </a:bodyPr>
          <a:lstStyle/>
          <a:p>
            <a:pPr algn="ctr">
              <a:lnSpc>
                <a:spcPct val="135000"/>
              </a:lnSpc>
              <a:spcAft>
                <a:spcPts val="0"/>
              </a:spcAft>
            </a:pPr>
            <a:r>
              <a:rPr sz="1100" b="1">
                <a:solidFill>
                  <a:srgbClr val="0E0A1B"/>
                </a:solidFill>
                <a:latin typeface="Space Grotesk"/>
              </a:rPr>
              <a:t>JA</a:t>
            </a:r>
          </a:p>
        </p:txBody>
      </p:sp>
      <p:sp>
        <p:nvSpPr>
          <p:cNvPr id="9" name="TextBox 8"/>
          <p:cNvSpPr txBox="1"/>
          <p:nvPr/>
        </p:nvSpPr>
        <p:spPr>
          <a:xfrm>
            <a:off x="6680200" y="2222500"/>
            <a:ext cx="3048000" cy="321310"/>
          </a:xfrm>
          <a:prstGeom prst="rect">
            <a:avLst/>
          </a:prstGeom>
          <a:noFill/>
        </p:spPr>
        <p:txBody>
          <a:bodyPr wrap="square" anchor="t" lIns="0" rIns="0" tIns="0" bIns="0">
            <a:spAutoFit/>
          </a:bodyPr>
          <a:lstStyle/>
          <a:p>
            <a:pPr algn="l">
              <a:lnSpc>
                <a:spcPct val="135000"/>
              </a:lnSpc>
              <a:spcAft>
                <a:spcPts val="0"/>
              </a:spcAft>
            </a:pPr>
            <a:r>
              <a:rPr sz="1150" b="1">
                <a:solidFill>
                  <a:srgbClr val="0E0A1B"/>
                </a:solidFill>
                <a:latin typeface="Space Grotesk"/>
              </a:rPr>
              <a:t>Javohir Abrorov</a:t>
            </a:r>
          </a:p>
        </p:txBody>
      </p:sp>
      <p:sp>
        <p:nvSpPr>
          <p:cNvPr id="10" name="TextBox 9"/>
          <p:cNvSpPr txBox="1"/>
          <p:nvPr/>
        </p:nvSpPr>
        <p:spPr>
          <a:xfrm>
            <a:off x="6680200" y="2463800"/>
            <a:ext cx="3048000" cy="251460"/>
          </a:xfrm>
          <a:prstGeom prst="rect">
            <a:avLst/>
          </a:prstGeom>
          <a:noFill/>
        </p:spPr>
        <p:txBody>
          <a:bodyPr wrap="square" anchor="t" lIns="0" rIns="0" tIns="0" bIns="0">
            <a:spAutoFit/>
          </a:bodyPr>
          <a:lstStyle/>
          <a:p>
            <a:pPr algn="l">
              <a:lnSpc>
                <a:spcPct val="135000"/>
              </a:lnSpc>
              <a:spcAft>
                <a:spcPts val="0"/>
              </a:spcAft>
            </a:pPr>
            <a:r>
              <a:rPr sz="900" b="1">
                <a:solidFill>
                  <a:srgbClr val="4D7C0F"/>
                </a:solidFill>
                <a:latin typeface="Inter"/>
              </a:rPr>
              <a:t>Founder · AI engineer</a:t>
            </a:r>
          </a:p>
        </p:txBody>
      </p:sp>
      <p:sp>
        <p:nvSpPr>
          <p:cNvPr id="11" name="TextBox 10"/>
          <p:cNvSpPr txBox="1"/>
          <p:nvPr/>
        </p:nvSpPr>
        <p:spPr>
          <a:xfrm>
            <a:off x="9474200" y="2336800"/>
            <a:ext cx="1676400" cy="251460"/>
          </a:xfrm>
          <a:prstGeom prst="rect">
            <a:avLst/>
          </a:prstGeom>
          <a:noFill/>
        </p:spPr>
        <p:txBody>
          <a:bodyPr wrap="square" anchor="t" lIns="0" rIns="0" tIns="0" bIns="0">
            <a:spAutoFit/>
          </a:bodyPr>
          <a:lstStyle/>
          <a:p>
            <a:pPr algn="r">
              <a:lnSpc>
                <a:spcPct val="135000"/>
              </a:lnSpc>
              <a:spcAft>
                <a:spcPts val="0"/>
              </a:spcAft>
            </a:pPr>
            <a:r>
              <a:rPr sz="900" b="0">
                <a:solidFill>
                  <a:srgbClr val="5A5566"/>
                </a:solidFill>
                <a:latin typeface="Inter"/>
              </a:rPr>
              <a:t>MC LEGAL</a:t>
            </a:r>
          </a:p>
        </p:txBody>
      </p:sp>
      <p:sp>
        <p:nvSpPr>
          <p:cNvPr id="12" name="Rounded Rectangle 11"/>
          <p:cNvSpPr/>
          <p:nvPr/>
        </p:nvSpPr>
        <p:spPr>
          <a:xfrm>
            <a:off x="5842000" y="2997200"/>
            <a:ext cx="5537200" cy="812800"/>
          </a:xfrm>
          <a:prstGeom prst="roundRect">
            <a:avLst>
              <a:gd name="adj" fmla="val 21875"/>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070600" y="3175000"/>
            <a:ext cx="457200" cy="457200"/>
          </a:xfrm>
          <a:prstGeom prst="roundRect">
            <a:avLst>
              <a:gd name="adj" fmla="val 30555"/>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70600" y="3302000"/>
            <a:ext cx="457200" cy="228600"/>
          </a:xfrm>
          <a:prstGeom prst="rect">
            <a:avLst/>
          </a:prstGeom>
          <a:noFill/>
        </p:spPr>
        <p:txBody>
          <a:bodyPr wrap="square" anchor="t" lIns="0" rIns="0" tIns="0" bIns="0">
            <a:spAutoFit/>
          </a:bodyPr>
          <a:lstStyle/>
          <a:p>
            <a:pPr algn="ctr">
              <a:lnSpc>
                <a:spcPct val="135000"/>
              </a:lnSpc>
              <a:spcAft>
                <a:spcPts val="0"/>
              </a:spcAft>
            </a:pPr>
            <a:r>
              <a:rPr sz="1100" b="1">
                <a:solidFill>
                  <a:srgbClr val="0E0A1B"/>
                </a:solidFill>
                <a:latin typeface="Space Grotesk"/>
              </a:rPr>
              <a:t>ZA</a:t>
            </a:r>
          </a:p>
        </p:txBody>
      </p:sp>
      <p:sp>
        <p:nvSpPr>
          <p:cNvPr id="15" name="TextBox 14"/>
          <p:cNvSpPr txBox="1"/>
          <p:nvPr/>
        </p:nvSpPr>
        <p:spPr>
          <a:xfrm>
            <a:off x="6680200" y="3213100"/>
            <a:ext cx="3048000" cy="321310"/>
          </a:xfrm>
          <a:prstGeom prst="rect">
            <a:avLst/>
          </a:prstGeom>
          <a:noFill/>
        </p:spPr>
        <p:txBody>
          <a:bodyPr wrap="square" anchor="t" lIns="0" rIns="0" tIns="0" bIns="0">
            <a:spAutoFit/>
          </a:bodyPr>
          <a:lstStyle/>
          <a:p>
            <a:pPr algn="l">
              <a:lnSpc>
                <a:spcPct val="135000"/>
              </a:lnSpc>
              <a:spcAft>
                <a:spcPts val="0"/>
              </a:spcAft>
            </a:pPr>
            <a:r>
              <a:rPr sz="1150" b="1">
                <a:solidFill>
                  <a:srgbClr val="0E0A1B"/>
                </a:solidFill>
                <a:latin typeface="Space Grotesk"/>
              </a:rPr>
              <a:t>Zoirjon Abduvohidov</a:t>
            </a:r>
          </a:p>
        </p:txBody>
      </p:sp>
      <p:sp>
        <p:nvSpPr>
          <p:cNvPr id="16" name="TextBox 15"/>
          <p:cNvSpPr txBox="1"/>
          <p:nvPr/>
        </p:nvSpPr>
        <p:spPr>
          <a:xfrm>
            <a:off x="6680200" y="3454400"/>
            <a:ext cx="3048000" cy="251460"/>
          </a:xfrm>
          <a:prstGeom prst="rect">
            <a:avLst/>
          </a:prstGeom>
          <a:noFill/>
        </p:spPr>
        <p:txBody>
          <a:bodyPr wrap="square" anchor="t" lIns="0" rIns="0" tIns="0" bIns="0">
            <a:spAutoFit/>
          </a:bodyPr>
          <a:lstStyle/>
          <a:p>
            <a:pPr algn="l">
              <a:lnSpc>
                <a:spcPct val="135000"/>
              </a:lnSpc>
              <a:spcAft>
                <a:spcPts val="0"/>
              </a:spcAft>
            </a:pPr>
            <a:r>
              <a:rPr sz="900" b="1">
                <a:solidFill>
                  <a:srgbClr val="4D7C0F"/>
                </a:solidFill>
                <a:latin typeface="Inter"/>
              </a:rPr>
              <a:t>Web developer</a:t>
            </a:r>
          </a:p>
        </p:txBody>
      </p:sp>
      <p:sp>
        <p:nvSpPr>
          <p:cNvPr id="17" name="TextBox 16"/>
          <p:cNvSpPr txBox="1"/>
          <p:nvPr/>
        </p:nvSpPr>
        <p:spPr>
          <a:xfrm>
            <a:off x="9474200" y="3327400"/>
            <a:ext cx="1676400" cy="251460"/>
          </a:xfrm>
          <a:prstGeom prst="rect">
            <a:avLst/>
          </a:prstGeom>
          <a:noFill/>
        </p:spPr>
        <p:txBody>
          <a:bodyPr wrap="square" anchor="t" lIns="0" rIns="0" tIns="0" bIns="0">
            <a:spAutoFit/>
          </a:bodyPr>
          <a:lstStyle/>
          <a:p>
            <a:pPr algn="r">
              <a:lnSpc>
                <a:spcPct val="135000"/>
              </a:lnSpc>
              <a:spcAft>
                <a:spcPts val="0"/>
              </a:spcAft>
            </a:pPr>
            <a:r>
              <a:rPr sz="900" b="0">
                <a:solidFill>
                  <a:srgbClr val="5A5566"/>
                </a:solidFill>
                <a:latin typeface="Inter"/>
              </a:rPr>
              <a:t>Tompson School</a:t>
            </a:r>
          </a:p>
        </p:txBody>
      </p:sp>
      <p:sp>
        <p:nvSpPr>
          <p:cNvPr id="18" name="Rounded Rectangle 17"/>
          <p:cNvSpPr/>
          <p:nvPr/>
        </p:nvSpPr>
        <p:spPr>
          <a:xfrm>
            <a:off x="5842000" y="3987800"/>
            <a:ext cx="5537200" cy="812800"/>
          </a:xfrm>
          <a:prstGeom prst="roundRect">
            <a:avLst>
              <a:gd name="adj" fmla="val 21875"/>
            </a:avLst>
          </a:prstGeom>
          <a:solidFill>
            <a:srgbClr val="FFFFFF"/>
          </a:solidFill>
          <a:ln w="9525">
            <a:solidFill>
              <a:srgbClr val="E6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070600" y="4165600"/>
            <a:ext cx="457200" cy="457200"/>
          </a:xfrm>
          <a:prstGeom prst="roundRect">
            <a:avLst>
              <a:gd name="adj" fmla="val 30555"/>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70600" y="4292600"/>
            <a:ext cx="457200" cy="228600"/>
          </a:xfrm>
          <a:prstGeom prst="rect">
            <a:avLst/>
          </a:prstGeom>
          <a:noFill/>
        </p:spPr>
        <p:txBody>
          <a:bodyPr wrap="square" anchor="t" lIns="0" rIns="0" tIns="0" bIns="0">
            <a:spAutoFit/>
          </a:bodyPr>
          <a:lstStyle/>
          <a:p>
            <a:pPr algn="ctr">
              <a:lnSpc>
                <a:spcPct val="135000"/>
              </a:lnSpc>
              <a:spcAft>
                <a:spcPts val="0"/>
              </a:spcAft>
            </a:pPr>
            <a:r>
              <a:rPr sz="1100" b="1">
                <a:solidFill>
                  <a:srgbClr val="0E0A1B"/>
                </a:solidFill>
                <a:latin typeface="Space Grotesk"/>
              </a:rPr>
              <a:t>AA</a:t>
            </a:r>
          </a:p>
        </p:txBody>
      </p:sp>
      <p:sp>
        <p:nvSpPr>
          <p:cNvPr id="21" name="TextBox 20"/>
          <p:cNvSpPr txBox="1"/>
          <p:nvPr/>
        </p:nvSpPr>
        <p:spPr>
          <a:xfrm>
            <a:off x="6680200" y="4203700"/>
            <a:ext cx="3048000" cy="321310"/>
          </a:xfrm>
          <a:prstGeom prst="rect">
            <a:avLst/>
          </a:prstGeom>
          <a:noFill/>
        </p:spPr>
        <p:txBody>
          <a:bodyPr wrap="square" anchor="t" lIns="0" rIns="0" tIns="0" bIns="0">
            <a:spAutoFit/>
          </a:bodyPr>
          <a:lstStyle/>
          <a:p>
            <a:pPr algn="l">
              <a:lnSpc>
                <a:spcPct val="135000"/>
              </a:lnSpc>
              <a:spcAft>
                <a:spcPts val="0"/>
              </a:spcAft>
            </a:pPr>
            <a:r>
              <a:rPr sz="1150" b="1">
                <a:solidFill>
                  <a:srgbClr val="0E0A1B"/>
                </a:solidFill>
                <a:latin typeface="Space Grotesk"/>
              </a:rPr>
              <a:t>Abdujabbor Ahmadjonov</a:t>
            </a:r>
          </a:p>
        </p:txBody>
      </p:sp>
      <p:sp>
        <p:nvSpPr>
          <p:cNvPr id="22" name="TextBox 21"/>
          <p:cNvSpPr txBox="1"/>
          <p:nvPr/>
        </p:nvSpPr>
        <p:spPr>
          <a:xfrm>
            <a:off x="6680200" y="4445000"/>
            <a:ext cx="3048000" cy="251460"/>
          </a:xfrm>
          <a:prstGeom prst="rect">
            <a:avLst/>
          </a:prstGeom>
          <a:noFill/>
        </p:spPr>
        <p:txBody>
          <a:bodyPr wrap="square" anchor="t" lIns="0" rIns="0" tIns="0" bIns="0">
            <a:spAutoFit/>
          </a:bodyPr>
          <a:lstStyle/>
          <a:p>
            <a:pPr algn="l">
              <a:lnSpc>
                <a:spcPct val="135000"/>
              </a:lnSpc>
              <a:spcAft>
                <a:spcPts val="0"/>
              </a:spcAft>
            </a:pPr>
            <a:r>
              <a:rPr sz="900" b="1">
                <a:solidFill>
                  <a:srgbClr val="4D7C0F"/>
                </a:solidFill>
                <a:latin typeface="Inter"/>
              </a:rPr>
              <a:t>Product manager</a:t>
            </a:r>
          </a:p>
        </p:txBody>
      </p:sp>
      <p:sp>
        <p:nvSpPr>
          <p:cNvPr id="23" name="TextBox 22"/>
          <p:cNvSpPr txBox="1"/>
          <p:nvPr/>
        </p:nvSpPr>
        <p:spPr>
          <a:xfrm>
            <a:off x="9474200" y="4318000"/>
            <a:ext cx="1676400" cy="251460"/>
          </a:xfrm>
          <a:prstGeom prst="rect">
            <a:avLst/>
          </a:prstGeom>
          <a:noFill/>
        </p:spPr>
        <p:txBody>
          <a:bodyPr wrap="square" anchor="t" lIns="0" rIns="0" tIns="0" bIns="0">
            <a:spAutoFit/>
          </a:bodyPr>
          <a:lstStyle/>
          <a:p>
            <a:pPr algn="r">
              <a:lnSpc>
                <a:spcPct val="135000"/>
              </a:lnSpc>
              <a:spcAft>
                <a:spcPts val="0"/>
              </a:spcAft>
            </a:pPr>
            <a:r>
              <a:rPr sz="900" b="0">
                <a:solidFill>
                  <a:srgbClr val="5A5566"/>
                </a:solidFill>
                <a:latin typeface="Inter"/>
              </a:rPr>
              <a:t>Canada</a:t>
            </a:r>
          </a:p>
        </p:txBody>
      </p:sp>
      <p:sp>
        <p:nvSpPr>
          <p:cNvPr id="24" name="TextBox 23"/>
          <p:cNvSpPr txBox="1"/>
          <p:nvPr/>
        </p:nvSpPr>
        <p:spPr>
          <a:xfrm>
            <a:off x="812800" y="6426200"/>
            <a:ext cx="2540000" cy="177800"/>
          </a:xfrm>
          <a:prstGeom prst="rect">
            <a:avLst/>
          </a:prstGeom>
          <a:noFill/>
        </p:spPr>
        <p:txBody>
          <a:bodyPr wrap="square" anchor="t" lIns="0" rIns="0" tIns="0" bIns="0">
            <a:spAutoFit/>
          </a:bodyPr>
          <a:lstStyle/>
          <a:p>
            <a:pPr algn="l">
              <a:lnSpc>
                <a:spcPct val="135000"/>
              </a:lnSpc>
              <a:spcAft>
                <a:spcPts val="0"/>
              </a:spcAft>
            </a:pPr>
            <a:r>
              <a:rPr sz="850" b="0" spc="40">
                <a:solidFill>
                  <a:srgbClr val="5A5566"/>
                </a:solidFill>
                <a:latin typeface="Inter"/>
              </a:rPr>
              <a:t>flex.com.uz</a:t>
            </a:r>
          </a:p>
        </p:txBody>
      </p:sp>
      <p:sp>
        <p:nvSpPr>
          <p:cNvPr id="25" name="TextBox 24"/>
          <p:cNvSpPr txBox="1"/>
          <p:nvPr/>
        </p:nvSpPr>
        <p:spPr>
          <a:xfrm>
            <a:off x="10617200" y="6426200"/>
            <a:ext cx="762000" cy="177800"/>
          </a:xfrm>
          <a:prstGeom prst="rect">
            <a:avLst/>
          </a:prstGeom>
          <a:noFill/>
        </p:spPr>
        <p:txBody>
          <a:bodyPr wrap="square" anchor="t" lIns="0" rIns="0" tIns="0" bIns="0">
            <a:spAutoFit/>
          </a:bodyPr>
          <a:lstStyle/>
          <a:p>
            <a:pPr algn="r">
              <a:lnSpc>
                <a:spcPct val="135000"/>
              </a:lnSpc>
              <a:spcAft>
                <a:spcPts val="0"/>
              </a:spcAft>
            </a:pPr>
            <a:r>
              <a:rPr sz="850" b="0">
                <a:solidFill>
                  <a:srgbClr val="5A5566"/>
                </a:solidFill>
                <a:latin typeface="Inter"/>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0A1B"/>
        </a:solidFill>
        <a:effectLst/>
      </p:bgPr>
    </p:bg>
    <p:spTree>
      <p:nvGrpSpPr>
        <p:cNvPr id="1" name=""/>
        <p:cNvGrpSpPr/>
        <p:nvPr/>
      </p:nvGrpSpPr>
      <p:grpSpPr/>
      <p:pic>
        <p:nvPicPr>
          <p:cNvPr id="2" name="Picture 1" descr="oila.jpg"/>
          <p:cNvPicPr>
            <a:picLocks noChangeAspect="1"/>
          </p:cNvPicPr>
          <p:nvPr/>
        </p:nvPicPr>
        <p:blipFill>
          <a:blip r:embed="rId2"/>
          <a:srcRect/>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0A1B">
                  <a:alpha val="92000"/>
                </a:srgbClr>
              </a:gs>
              <a:gs pos="55000">
                <a:srgbClr val="0E0A1B">
                  <a:alpha val="82000"/>
                </a:srgbClr>
              </a:gs>
              <a:gs pos="100000">
                <a:srgbClr val="0E0A1B">
                  <a:alpha val="7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12800" y="679450"/>
            <a:ext cx="228600" cy="31750"/>
          </a:xfrm>
          <a:prstGeom prst="rect">
            <a:avLst/>
          </a:prstGeom>
          <a:solidFill>
            <a:srgbClr val="ABFF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143000" y="609600"/>
            <a:ext cx="5080000" cy="203200"/>
          </a:xfrm>
          <a:prstGeom prst="rect">
            <a:avLst/>
          </a:prstGeom>
          <a:noFill/>
        </p:spPr>
        <p:txBody>
          <a:bodyPr wrap="square" anchor="t" lIns="0" rIns="0" tIns="0" bIns="0">
            <a:spAutoFit/>
          </a:bodyPr>
          <a:lstStyle/>
          <a:p>
            <a:pPr algn="l">
              <a:lnSpc>
                <a:spcPct val="135000"/>
              </a:lnSpc>
              <a:spcAft>
                <a:spcPts val="0"/>
              </a:spcAft>
            </a:pPr>
            <a:r>
              <a:rPr sz="900" b="1" spc="160">
                <a:solidFill>
                  <a:srgbClr val="8A849B"/>
                </a:solidFill>
                <a:latin typeface="Inter"/>
              </a:rPr>
              <a:t>THE ASK</a:t>
            </a:r>
          </a:p>
        </p:txBody>
      </p:sp>
      <p:sp>
        <p:nvSpPr>
          <p:cNvPr id="6" name="TextBox 5"/>
          <p:cNvSpPr txBox="1"/>
          <p:nvPr/>
        </p:nvSpPr>
        <p:spPr>
          <a:xfrm>
            <a:off x="812800" y="939800"/>
            <a:ext cx="7874000" cy="787400"/>
          </a:xfrm>
          <a:prstGeom prst="rect">
            <a:avLst/>
          </a:prstGeom>
          <a:noFill/>
        </p:spPr>
        <p:txBody>
          <a:bodyPr wrap="square" anchor="t" lIns="0" rIns="0" tIns="0" bIns="0">
            <a:spAutoFit/>
          </a:bodyPr>
          <a:lstStyle/>
          <a:p>
            <a:pPr algn="l">
              <a:lnSpc>
                <a:spcPct val="135000"/>
              </a:lnSpc>
              <a:spcAft>
                <a:spcPts val="0"/>
              </a:spcAft>
            </a:pPr>
            <a:r>
              <a:rPr sz="4400" b="1" spc="-140">
                <a:solidFill>
                  <a:srgbClr val="ABFF09"/>
                </a:solidFill>
                <a:latin typeface="Space Grotesk"/>
              </a:rPr>
              <a:t>$50,000 – $100,000</a:t>
            </a:r>
          </a:p>
        </p:txBody>
      </p:sp>
      <p:sp>
        <p:nvSpPr>
          <p:cNvPr id="7" name="TextBox 6"/>
          <p:cNvSpPr txBox="1"/>
          <p:nvPr/>
        </p:nvSpPr>
        <p:spPr>
          <a:xfrm>
            <a:off x="812800" y="1727200"/>
            <a:ext cx="6604000" cy="307340"/>
          </a:xfrm>
          <a:prstGeom prst="rect">
            <a:avLst/>
          </a:prstGeom>
          <a:noFill/>
        </p:spPr>
        <p:txBody>
          <a:bodyPr wrap="square" anchor="t" lIns="0" rIns="0" tIns="0" bIns="0">
            <a:spAutoFit/>
          </a:bodyPr>
          <a:lstStyle/>
          <a:p>
            <a:pPr algn="l">
              <a:lnSpc>
                <a:spcPct val="135000"/>
              </a:lnSpc>
              <a:spcAft>
                <a:spcPts val="0"/>
              </a:spcAft>
            </a:pPr>
            <a:r>
              <a:rPr sz="1100" b="0">
                <a:solidFill>
                  <a:srgbClr val="C2BECE"/>
                </a:solidFill>
                <a:latin typeface="Inter"/>
              </a:rPr>
              <a:t>Pre-seed · the product is built and running</a:t>
            </a:r>
          </a:p>
        </p:txBody>
      </p:sp>
      <p:sp>
        <p:nvSpPr>
          <p:cNvPr id="8" name="TextBox 7"/>
          <p:cNvSpPr txBox="1"/>
          <p:nvPr/>
        </p:nvSpPr>
        <p:spPr>
          <a:xfrm>
            <a:off x="812800" y="2413000"/>
            <a:ext cx="762000" cy="279400"/>
          </a:xfrm>
          <a:prstGeom prst="rect">
            <a:avLst/>
          </a:prstGeom>
          <a:noFill/>
        </p:spPr>
        <p:txBody>
          <a:bodyPr wrap="square" anchor="t" lIns="0" rIns="0" tIns="0" bIns="0">
            <a:spAutoFit/>
          </a:bodyPr>
          <a:lstStyle/>
          <a:p>
            <a:pPr algn="l">
              <a:lnSpc>
                <a:spcPct val="135000"/>
              </a:lnSpc>
              <a:spcAft>
                <a:spcPts val="0"/>
              </a:spcAft>
            </a:pPr>
            <a:r>
              <a:rPr sz="1300" b="1">
                <a:solidFill>
                  <a:srgbClr val="ABFF09"/>
                </a:solidFill>
                <a:latin typeface="Space Grotesk"/>
              </a:rPr>
              <a:t>40%</a:t>
            </a:r>
          </a:p>
        </p:txBody>
      </p:sp>
      <p:sp>
        <p:nvSpPr>
          <p:cNvPr id="9" name="TextBox 8"/>
          <p:cNvSpPr txBox="1"/>
          <p:nvPr/>
        </p:nvSpPr>
        <p:spPr>
          <a:xfrm>
            <a:off x="1701800" y="2438400"/>
            <a:ext cx="54610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Device stock: cards, rings, bracelets and table tags</a:t>
            </a:r>
          </a:p>
        </p:txBody>
      </p:sp>
      <p:sp>
        <p:nvSpPr>
          <p:cNvPr id="10" name="TextBox 9"/>
          <p:cNvSpPr txBox="1"/>
          <p:nvPr/>
        </p:nvSpPr>
        <p:spPr>
          <a:xfrm>
            <a:off x="812800" y="2997200"/>
            <a:ext cx="762000" cy="279400"/>
          </a:xfrm>
          <a:prstGeom prst="rect">
            <a:avLst/>
          </a:prstGeom>
          <a:noFill/>
        </p:spPr>
        <p:txBody>
          <a:bodyPr wrap="square" anchor="t" lIns="0" rIns="0" tIns="0" bIns="0">
            <a:spAutoFit/>
          </a:bodyPr>
          <a:lstStyle/>
          <a:p>
            <a:pPr algn="l">
              <a:lnSpc>
                <a:spcPct val="135000"/>
              </a:lnSpc>
              <a:spcAft>
                <a:spcPts val="0"/>
              </a:spcAft>
            </a:pPr>
            <a:r>
              <a:rPr sz="1300" b="1">
                <a:solidFill>
                  <a:srgbClr val="ABFF09"/>
                </a:solidFill>
                <a:latin typeface="Space Grotesk"/>
              </a:rPr>
              <a:t>35%</a:t>
            </a:r>
          </a:p>
        </p:txBody>
      </p:sp>
      <p:sp>
        <p:nvSpPr>
          <p:cNvPr id="11" name="TextBox 10"/>
          <p:cNvSpPr txBox="1"/>
          <p:nvPr/>
        </p:nvSpPr>
        <p:spPr>
          <a:xfrm>
            <a:off x="1701800" y="3022600"/>
            <a:ext cx="54610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Sales and installation for the first 100 venues</a:t>
            </a:r>
          </a:p>
        </p:txBody>
      </p:sp>
      <p:sp>
        <p:nvSpPr>
          <p:cNvPr id="12" name="TextBox 11"/>
          <p:cNvSpPr txBox="1"/>
          <p:nvPr/>
        </p:nvSpPr>
        <p:spPr>
          <a:xfrm>
            <a:off x="812800" y="3581400"/>
            <a:ext cx="762000" cy="279400"/>
          </a:xfrm>
          <a:prstGeom prst="rect">
            <a:avLst/>
          </a:prstGeom>
          <a:noFill/>
        </p:spPr>
        <p:txBody>
          <a:bodyPr wrap="square" anchor="t" lIns="0" rIns="0" tIns="0" bIns="0">
            <a:spAutoFit/>
          </a:bodyPr>
          <a:lstStyle/>
          <a:p>
            <a:pPr algn="l">
              <a:lnSpc>
                <a:spcPct val="135000"/>
              </a:lnSpc>
              <a:spcAft>
                <a:spcPts val="0"/>
              </a:spcAft>
            </a:pPr>
            <a:r>
              <a:rPr sz="1300" b="1">
                <a:solidFill>
                  <a:srgbClr val="ABFF09"/>
                </a:solidFill>
                <a:latin typeface="Space Grotesk"/>
              </a:rPr>
              <a:t>15%</a:t>
            </a:r>
          </a:p>
        </p:txBody>
      </p:sp>
      <p:sp>
        <p:nvSpPr>
          <p:cNvPr id="13" name="TextBox 12"/>
          <p:cNvSpPr txBox="1"/>
          <p:nvPr/>
        </p:nvSpPr>
        <p:spPr>
          <a:xfrm>
            <a:off x="1701800" y="3606800"/>
            <a:ext cx="54610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Team</a:t>
            </a:r>
          </a:p>
        </p:txBody>
      </p:sp>
      <p:sp>
        <p:nvSpPr>
          <p:cNvPr id="14" name="TextBox 13"/>
          <p:cNvSpPr txBox="1"/>
          <p:nvPr/>
        </p:nvSpPr>
        <p:spPr>
          <a:xfrm>
            <a:off x="812800" y="4165600"/>
            <a:ext cx="762000" cy="279400"/>
          </a:xfrm>
          <a:prstGeom prst="rect">
            <a:avLst/>
          </a:prstGeom>
          <a:noFill/>
        </p:spPr>
        <p:txBody>
          <a:bodyPr wrap="square" anchor="t" lIns="0" rIns="0" tIns="0" bIns="0">
            <a:spAutoFit/>
          </a:bodyPr>
          <a:lstStyle/>
          <a:p>
            <a:pPr algn="l">
              <a:lnSpc>
                <a:spcPct val="135000"/>
              </a:lnSpc>
              <a:spcAft>
                <a:spcPts val="0"/>
              </a:spcAft>
            </a:pPr>
            <a:r>
              <a:rPr sz="1300" b="1">
                <a:solidFill>
                  <a:srgbClr val="ABFF09"/>
                </a:solidFill>
                <a:latin typeface="Space Grotesk"/>
              </a:rPr>
              <a:t>10%</a:t>
            </a:r>
          </a:p>
        </p:txBody>
      </p:sp>
      <p:sp>
        <p:nvSpPr>
          <p:cNvPr id="15" name="TextBox 14"/>
          <p:cNvSpPr txBox="1"/>
          <p:nvPr/>
        </p:nvSpPr>
        <p:spPr>
          <a:xfrm>
            <a:off x="1701800" y="4191000"/>
            <a:ext cx="5461000" cy="279400"/>
          </a:xfrm>
          <a:prstGeom prst="rect">
            <a:avLst/>
          </a:prstGeom>
          <a:noFill/>
        </p:spPr>
        <p:txBody>
          <a:bodyPr wrap="square" anchor="t" lIns="0" rIns="0" tIns="0" bIns="0">
            <a:spAutoFit/>
          </a:bodyPr>
          <a:lstStyle/>
          <a:p>
            <a:pPr algn="l">
              <a:lnSpc>
                <a:spcPct val="140000"/>
              </a:lnSpc>
              <a:spcAft>
                <a:spcPts val="0"/>
              </a:spcAft>
            </a:pPr>
            <a:r>
              <a:rPr sz="1000" b="0">
                <a:solidFill>
                  <a:srgbClr val="FFFFFF"/>
                </a:solidFill>
                <a:latin typeface="Inter"/>
              </a:rPr>
              <a:t>Marketing and events</a:t>
            </a:r>
          </a:p>
        </p:txBody>
      </p:sp>
      <p:sp>
        <p:nvSpPr>
          <p:cNvPr id="16" name="Rounded Rectangle 15"/>
          <p:cNvSpPr/>
          <p:nvPr/>
        </p:nvSpPr>
        <p:spPr>
          <a:xfrm>
            <a:off x="8204200" y="2260600"/>
            <a:ext cx="3175000" cy="2413000"/>
          </a:xfrm>
          <a:prstGeom prst="roundRect">
            <a:avLst>
              <a:gd name="adj" fmla="val 7368"/>
            </a:avLst>
          </a:prstGeom>
          <a:solidFill>
            <a:srgbClr val="181228"/>
          </a:solidFill>
          <a:ln w="9525">
            <a:solidFill>
              <a:srgbClr val="2A21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83600" y="2540000"/>
            <a:ext cx="2667000" cy="279400"/>
          </a:xfrm>
          <a:prstGeom prst="rect">
            <a:avLst/>
          </a:prstGeom>
          <a:noFill/>
        </p:spPr>
        <p:txBody>
          <a:bodyPr wrap="square" anchor="t" lIns="0" rIns="0" tIns="0" bIns="0">
            <a:spAutoFit/>
          </a:bodyPr>
          <a:lstStyle/>
          <a:p>
            <a:pPr algn="l">
              <a:lnSpc>
                <a:spcPct val="135000"/>
              </a:lnSpc>
              <a:spcAft>
                <a:spcPts val="0"/>
              </a:spcAft>
            </a:pPr>
            <a:r>
              <a:rPr sz="1200" b="1">
                <a:solidFill>
                  <a:srgbClr val="FFFFFF"/>
                </a:solidFill>
                <a:latin typeface="Space Grotesk"/>
              </a:rPr>
              <a:t>Contact</a:t>
            </a:r>
          </a:p>
        </p:txBody>
      </p:sp>
      <p:sp>
        <p:nvSpPr>
          <p:cNvPr id="18" name="TextBox 17"/>
          <p:cNvSpPr txBox="1"/>
          <p:nvPr/>
        </p:nvSpPr>
        <p:spPr>
          <a:xfrm>
            <a:off x="8483600" y="2921000"/>
            <a:ext cx="2667000" cy="268224"/>
          </a:xfrm>
          <a:prstGeom prst="rect">
            <a:avLst/>
          </a:prstGeom>
          <a:noFill/>
        </p:spPr>
        <p:txBody>
          <a:bodyPr wrap="square" anchor="t" lIns="0" rIns="0" tIns="0" bIns="0">
            <a:spAutoFit/>
          </a:bodyPr>
          <a:lstStyle/>
          <a:p>
            <a:pPr algn="l">
              <a:lnSpc>
                <a:spcPct val="170000"/>
              </a:lnSpc>
              <a:spcAft>
                <a:spcPts val="0"/>
              </a:spcAft>
            </a:pPr>
            <a:r>
              <a:rPr sz="960" b="0">
                <a:solidFill>
                  <a:srgbClr val="C2BECE"/>
                </a:solidFill>
                <a:latin typeface="Inter"/>
              </a:rPr>
              <a:t>Javohir Abrorov</a:t>
            </a:r>
          </a:p>
          <a:p>
            <a:pPr algn="l">
              <a:lnSpc>
                <a:spcPct val="170000"/>
              </a:lnSpc>
              <a:spcAft>
                <a:spcPts val="0"/>
              </a:spcAft>
            </a:pPr>
            <a:r>
              <a:rPr sz="960" b="0">
                <a:solidFill>
                  <a:srgbClr val="C2BECE"/>
                </a:solidFill>
                <a:latin typeface="Inter"/>
              </a:rPr>
              <a:t>sheyx2772@gmail.com</a:t>
            </a:r>
          </a:p>
          <a:p>
            <a:pPr algn="l">
              <a:lnSpc>
                <a:spcPct val="170000"/>
              </a:lnSpc>
              <a:spcAft>
                <a:spcPts val="0"/>
              </a:spcAft>
            </a:pPr>
            <a:r>
              <a:rPr sz="960" b="0">
                <a:solidFill>
                  <a:srgbClr val="C2BECE"/>
                </a:solidFill>
                <a:latin typeface="Inter"/>
              </a:rPr>
              <a:t>+998 97 724 79 99</a:t>
            </a:r>
          </a:p>
          <a:p>
            <a:pPr algn="l">
              <a:lnSpc>
                <a:spcPct val="170000"/>
              </a:lnSpc>
              <a:spcAft>
                <a:spcPts val="0"/>
              </a:spcAft>
            </a:pPr>
            <a:r>
              <a:rPr sz="960" b="0">
                <a:solidFill>
                  <a:srgbClr val="C2BECE"/>
                </a:solidFill>
                <a:latin typeface="Inter"/>
              </a:rPr>
              <a:t>flex.com.uz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