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A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ABFF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54864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000" b="1">
                <a:solidFill>
                  <a:srgbClr val="FFFFFF"/>
                </a:solidFill>
                <a:latin typeface="Arial"/>
              </a:rPr>
              <a:t>flex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017520"/>
            <a:ext cx="76809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ABFF09"/>
                </a:solidFill>
                <a:latin typeface="Arial"/>
              </a:rPr>
              <a:t>Your number is your identity.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480560"/>
            <a:ext cx="768096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8B8794"/>
                </a:solidFill>
                <a:latin typeface="Arial"/>
              </a:rPr>
              <a:t>A unique number and an NFC object that opens it.</a:t>
            </a:r>
          </a:p>
          <a:p>
            <a:pPr algn="l">
              <a:lnSpc>
                <a:spcPct val="135000"/>
              </a:lnSpc>
            </a:pPr>
            <a:r>
              <a:rPr sz="1500" b="0">
                <a:solidFill>
                  <a:srgbClr val="8B8794"/>
                </a:solidFill>
                <a:latin typeface="Arial"/>
              </a:rPr>
              <a:t>One tap. No app to install.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580644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8B8794"/>
                </a:solidFill>
                <a:latin typeface="Arial"/>
              </a:rPr>
              <a:t>ICT WEEK UZBEKISTAN  ·  2026  ·  PRE-SEED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658368"/>
            <a:ext cx="384048" cy="50800"/>
          </a:xfrm>
          <a:prstGeom prst="rect">
            <a:avLst/>
          </a:prstGeom>
          <a:solidFill>
            <a:srgbClr val="ABFF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44168" y="56692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6B6678"/>
                </a:solidFill>
                <a:latin typeface="Arial"/>
              </a:rPr>
              <a:t>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051560"/>
            <a:ext cx="10637215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4000" b="1">
                <a:solidFill>
                  <a:srgbClr val="0E0A1B"/>
                </a:solidFill>
                <a:latin typeface="Arial"/>
              </a:rPr>
              <a:t>Paper is printed once.</a:t>
            </a:r>
          </a:p>
          <a:p>
            <a:pPr algn="l">
              <a:lnSpc>
                <a:spcPct val="95000"/>
              </a:lnSpc>
            </a:pPr>
            <a:r>
              <a:rPr sz="4000" b="1">
                <a:solidFill>
                  <a:srgbClr val="0E0A1B"/>
                </a:solidFill>
                <a:latin typeface="Arial"/>
              </a:rPr>
              <a:t>Everything else changes.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743200"/>
            <a:ext cx="310896" cy="50800"/>
          </a:xfrm>
          <a:prstGeom prst="rect">
            <a:avLst/>
          </a:prstGeom>
          <a:solidFill>
            <a:srgbClr val="ABFF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3063240"/>
            <a:ext cx="3271418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>
                <a:solidFill>
                  <a:srgbClr val="0E0A1B"/>
                </a:solidFill>
                <a:latin typeface="Arial"/>
              </a:rPr>
              <a:t>A card is out of date</a:t>
            </a:r>
          </a:p>
          <a:p>
            <a:pPr algn="l">
              <a:lnSpc>
                <a:spcPct val="110000"/>
              </a:lnSpc>
            </a:pPr>
            <a:r>
              <a:rPr sz="2000" b="1">
                <a:solidFill>
                  <a:srgbClr val="0E0A1B"/>
                </a:solidFill>
                <a:latin typeface="Arial"/>
              </a:rPr>
              <a:t>the day it is printed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977639"/>
            <a:ext cx="3271418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>
                <a:solidFill>
                  <a:srgbClr val="6B6678"/>
                </a:solidFill>
                <a:latin typeface="Arial"/>
              </a:rPr>
              <a:t>A new job, a new number, a new company — and the box of cards in the drawer is wrong. People hand them over anyway.</a:t>
            </a:r>
          </a:p>
        </p:txBody>
      </p:sp>
      <p:sp>
        <p:nvSpPr>
          <p:cNvPr id="9" name="Rectangle 8"/>
          <p:cNvSpPr/>
          <p:nvPr/>
        </p:nvSpPr>
        <p:spPr>
          <a:xfrm>
            <a:off x="4460138" y="2743200"/>
            <a:ext cx="310896" cy="50800"/>
          </a:xfrm>
          <a:prstGeom prst="rect">
            <a:avLst/>
          </a:prstGeom>
          <a:solidFill>
            <a:srgbClr val="ABFF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60138" y="3063240"/>
            <a:ext cx="3271418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>
                <a:solidFill>
                  <a:srgbClr val="0E0A1B"/>
                </a:solidFill>
                <a:latin typeface="Arial"/>
              </a:rPr>
              <a:t>A menu is a photograph</a:t>
            </a:r>
          </a:p>
          <a:p>
            <a:pPr algn="l">
              <a:lnSpc>
                <a:spcPct val="110000"/>
              </a:lnSpc>
            </a:pPr>
            <a:r>
              <a:rPr sz="2000" b="1">
                <a:solidFill>
                  <a:srgbClr val="0E0A1B"/>
                </a:solidFill>
                <a:latin typeface="Arial"/>
              </a:rPr>
              <a:t>of last month's prices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60138" y="3977639"/>
            <a:ext cx="3271418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>
                <a:solidFill>
                  <a:srgbClr val="6B6678"/>
                </a:solidFill>
                <a:latin typeface="Arial"/>
              </a:rPr>
              <a:t>A cafe reprints, or crosses lines out with a pen. The dish that ran out at lunch is still on every table.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43036" y="2743200"/>
            <a:ext cx="310896" cy="50800"/>
          </a:xfrm>
          <a:prstGeom prst="rect">
            <a:avLst/>
          </a:prstGeom>
          <a:solidFill>
            <a:srgbClr val="ABFF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43036" y="3063240"/>
            <a:ext cx="3271418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>
                <a:solidFill>
                  <a:srgbClr val="0E0A1B"/>
                </a:solidFill>
                <a:latin typeface="Arial"/>
              </a:rPr>
              <a:t>A table cannot</a:t>
            </a:r>
          </a:p>
          <a:p>
            <a:pPr algn="l">
              <a:lnSpc>
                <a:spcPct val="110000"/>
              </a:lnSpc>
            </a:pPr>
            <a:r>
              <a:rPr sz="2000" b="1">
                <a:solidFill>
                  <a:srgbClr val="0E0A1B"/>
                </a:solidFill>
                <a:latin typeface="Arial"/>
              </a:rPr>
              <a:t>ask for anything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43036" y="3977639"/>
            <a:ext cx="3271418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>
                <a:solidFill>
                  <a:srgbClr val="6B6678"/>
                </a:solidFill>
                <a:latin typeface="Arial"/>
              </a:rPr>
              <a:t>A guest raises a hand and waits for someone to look. The cafe never learns which tables waited or for how long.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291072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B6678"/>
                </a:solidFill>
                <a:latin typeface="Arial"/>
              </a:rPr>
              <a:t>flex.com.uz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00055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6B6678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A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658368"/>
            <a:ext cx="384048" cy="50800"/>
          </a:xfrm>
          <a:prstGeom prst="rect">
            <a:avLst/>
          </a:prstGeom>
          <a:solidFill>
            <a:srgbClr val="ABFF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44168" y="56692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8B8794"/>
                </a:solidFill>
                <a:latin typeface="Arial"/>
              </a:rPr>
              <a:t>WHAT FLEX 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051560"/>
            <a:ext cx="10637215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4000" b="1">
                <a:solidFill>
                  <a:srgbClr val="FFFFFF"/>
                </a:solidFill>
                <a:latin typeface="Arial"/>
              </a:rPr>
              <a:t>A number, an object,</a:t>
            </a:r>
          </a:p>
          <a:p>
            <a:pPr algn="l">
              <a:lnSpc>
                <a:spcPct val="95000"/>
              </a:lnSpc>
            </a:pPr>
            <a:r>
              <a:rPr sz="4000" b="1">
                <a:solidFill>
                  <a:srgbClr val="FFFFFF"/>
                </a:solidFill>
                <a:latin typeface="Arial"/>
              </a:rPr>
              <a:t>and a page behind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743200"/>
            <a:ext cx="585216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0">
                <a:solidFill>
                  <a:srgbClr val="8B8794"/>
                </a:solidFill>
                <a:latin typeface="Arial"/>
              </a:rPr>
              <a:t>Three letters and three digits — MYN042 — become an address. A card, a ring, a bracelet or a sticker on a table opens 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ABFF09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4297680"/>
            <a:ext cx="53949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FFFFFF"/>
                </a:solidFill>
                <a:latin typeface="Arial"/>
              </a:rPr>
              <a:t>The guest taps their own phone against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864608"/>
            <a:ext cx="365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ABFF09"/>
                </a:solidFill>
                <a:latin typeface="Arial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4864608"/>
            <a:ext cx="53949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FFFFFF"/>
                </a:solidFill>
                <a:latin typeface="Arial"/>
              </a:rPr>
              <a:t>The page opens in their own language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5431536"/>
            <a:ext cx="365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ABFF09"/>
                </a:solidFill>
                <a:latin typeface="Arial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5431536"/>
            <a:ext cx="53949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FFFFFF"/>
                </a:solidFill>
                <a:latin typeface="Arial"/>
              </a:rPr>
              <a:t>Nobody installs anything, ever</a:t>
            </a:r>
          </a:p>
        </p:txBody>
      </p:sp>
      <p:pic>
        <p:nvPicPr>
          <p:cNvPr id="13" name="Picture 12" descr="men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99855" y="868680"/>
            <a:ext cx="3185132" cy="557784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6291072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B8794"/>
                </a:solidFill>
                <a:latin typeface="Arial"/>
              </a:rPr>
              <a:t>flex.com.uz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00055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8B8794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658368"/>
            <a:ext cx="384048" cy="50800"/>
          </a:xfrm>
          <a:prstGeom prst="rect">
            <a:avLst/>
          </a:prstGeom>
          <a:solidFill>
            <a:srgbClr val="ABFF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44168" y="56692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6B6678"/>
                </a:solidFill>
                <a:latin typeface="Arial"/>
              </a:rPr>
              <a:t>TWO PRODUCTS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051560"/>
            <a:ext cx="10637215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4000" b="1">
                <a:solidFill>
                  <a:srgbClr val="0E0A1B"/>
                </a:solidFill>
                <a:latin typeface="Arial"/>
              </a:rPr>
              <a:t>One platform, two customers.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514600"/>
            <a:ext cx="5090007" cy="3429000"/>
          </a:xfrm>
          <a:prstGeom prst="roundRect">
            <a:avLst>
              <a:gd name="adj" fmla="val 5500"/>
            </a:avLst>
          </a:prstGeom>
          <a:solidFill>
            <a:srgbClr val="ABFF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34440" y="2880360"/>
            <a:ext cx="4175607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0A1B"/>
                </a:solidFill>
                <a:latin typeface="Arial"/>
              </a:rPr>
              <a:t>Personal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3401568"/>
            <a:ext cx="4175607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5C7A0A"/>
                </a:solidFill>
                <a:latin typeface="Arial"/>
              </a:rPr>
              <a:t>A number that is yours for life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3886200"/>
            <a:ext cx="4175607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0E0A1B"/>
                </a:solidFill>
                <a:latin typeface="Arial"/>
              </a:rPr>
              <a:t>from 100,000 UZS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4617720"/>
            <a:ext cx="4175607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0E0A1B"/>
                </a:solidFill>
                <a:latin typeface="Arial"/>
              </a:rPr>
              <a:t>·  Profile, links, contacts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0E0A1B"/>
                </a:solidFill>
                <a:latin typeface="Arial"/>
              </a:rPr>
              <a:t>·  Card, ring or bracelet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0E0A1B"/>
                </a:solidFill>
                <a:latin typeface="Arial"/>
              </a:rPr>
              <a:t>·  Priced by rarity, paid once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24447" y="2514600"/>
            <a:ext cx="5090007" cy="3429000"/>
          </a:xfrm>
          <a:prstGeom prst="roundRect">
            <a:avLst>
              <a:gd name="adj" fmla="val 5500"/>
            </a:avLst>
          </a:prstGeom>
          <a:solidFill>
            <a:srgbClr val="0E0A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81647" y="2880360"/>
            <a:ext cx="4175607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Arial"/>
              </a:rPr>
              <a:t>Venue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81647" y="3401568"/>
            <a:ext cx="4175607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8B8794"/>
                </a:solidFill>
                <a:latin typeface="Arial"/>
              </a:rPr>
              <a:t>Cafes, hotels and shops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81647" y="3886200"/>
            <a:ext cx="4175607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ABFF09"/>
                </a:solidFill>
                <a:latin typeface="Arial"/>
              </a:rPr>
              <a:t>from 149,000 UZS / month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81647" y="4617720"/>
            <a:ext cx="4175607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8B8794"/>
                </a:solidFill>
                <a:latin typeface="Arial"/>
              </a:rPr>
              <a:t>·  Menu and service list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8B8794"/>
                </a:solidFill>
                <a:latin typeface="Arial"/>
              </a:rPr>
              <a:t>·  A tag for every table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8B8794"/>
                </a:solidFill>
                <a:latin typeface="Arial"/>
              </a:rPr>
              <a:t>·  Calls, counter screen, report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6291072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B6678"/>
                </a:solidFill>
                <a:latin typeface="Arial"/>
              </a:rPr>
              <a:t>flex.com.uz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00055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6B6678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A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658368"/>
            <a:ext cx="384048" cy="50800"/>
          </a:xfrm>
          <a:prstGeom prst="rect">
            <a:avLst/>
          </a:prstGeom>
          <a:solidFill>
            <a:srgbClr val="ABFF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44168" y="56692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8B8794"/>
                </a:solidFill>
                <a:latin typeface="Arial"/>
              </a:rPr>
              <a:t>HOW A VENUE 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051560"/>
            <a:ext cx="10637215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4000" b="1">
                <a:solidFill>
                  <a:srgbClr val="FFFFFF"/>
                </a:solidFill>
                <a:latin typeface="Arial"/>
              </a:rPr>
              <a:t>The half a printed menu cannot do.</a:t>
            </a:r>
          </a:p>
        </p:txBody>
      </p:sp>
      <p:pic>
        <p:nvPicPr>
          <p:cNvPr id="6" name="Picture 5" descr="men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286000"/>
            <a:ext cx="2166934" cy="3794760"/>
          </a:xfrm>
          <a:prstGeom prst="rect">
            <a:avLst/>
          </a:prstGeom>
        </p:spPr>
      </p:pic>
      <p:pic>
        <p:nvPicPr>
          <p:cNvPr id="7" name="Picture 6" descr="coun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11880" y="2286000"/>
            <a:ext cx="2996118" cy="3794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903720" y="2459736"/>
            <a:ext cx="182880" cy="38100"/>
          </a:xfrm>
          <a:prstGeom prst="rect">
            <a:avLst/>
          </a:prstGeom>
          <a:solidFill>
            <a:srgbClr val="ABFF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269480" y="2377440"/>
            <a:ext cx="414497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FFFFFF"/>
                </a:solidFill>
                <a:latin typeface="Arial"/>
              </a:rPr>
              <a:t>Every table has its own QR and its own NFC tag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03720" y="3246120"/>
            <a:ext cx="182880" cy="38100"/>
          </a:xfrm>
          <a:prstGeom prst="rect">
            <a:avLst/>
          </a:prstGeom>
          <a:solidFill>
            <a:srgbClr val="ABFF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69480" y="3163824"/>
            <a:ext cx="414497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FFFFFF"/>
                </a:solidFill>
                <a:latin typeface="Arial"/>
              </a:rPr>
              <a:t>The guest taps it — the menu opens in their language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903720" y="4032504"/>
            <a:ext cx="182880" cy="38100"/>
          </a:xfrm>
          <a:prstGeom prst="rect">
            <a:avLst/>
          </a:prstGeom>
          <a:solidFill>
            <a:srgbClr val="ABFF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69480" y="3950208"/>
            <a:ext cx="414497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FFFFFF"/>
                </a:solidFill>
                <a:latin typeface="Arial"/>
              </a:rPr>
              <a:t>One tap calls a waiter, asks for the bill, or leaves a review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03720" y="4818888"/>
            <a:ext cx="182880" cy="38100"/>
          </a:xfrm>
          <a:prstGeom prst="rect">
            <a:avLst/>
          </a:prstGeom>
          <a:solidFill>
            <a:srgbClr val="ABFF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269480" y="4736592"/>
            <a:ext cx="414497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FFFFFF"/>
                </a:solidFill>
                <a:latin typeface="Arial"/>
              </a:rPr>
              <a:t>The request lands on the phone by the till, with the table number, and it rings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903720" y="5605272"/>
            <a:ext cx="182880" cy="38100"/>
          </a:xfrm>
          <a:prstGeom prst="rect">
            <a:avLst/>
          </a:prstGeom>
          <a:solidFill>
            <a:srgbClr val="ABFF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69480" y="5522976"/>
            <a:ext cx="414497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FFFFFF"/>
                </a:solidFill>
                <a:latin typeface="Arial"/>
              </a:rPr>
              <a:t>Nobody signs in: the till phone opens one link and stays on 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6291072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B8794"/>
                </a:solidFill>
                <a:latin typeface="Arial"/>
              </a:rPr>
              <a:t>flex.com.uz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00055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8B8794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658368"/>
            <a:ext cx="384048" cy="50800"/>
          </a:xfrm>
          <a:prstGeom prst="rect">
            <a:avLst/>
          </a:prstGeom>
          <a:solidFill>
            <a:srgbClr val="ABFF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44168" y="56692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6B6678"/>
                </a:solidFill>
                <a:latin typeface="Arial"/>
              </a:rPr>
              <a:t>WHAT A VENUE RECEIVES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051560"/>
            <a:ext cx="10637215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4000" b="1">
                <a:solidFill>
                  <a:srgbClr val="0E0A1B"/>
                </a:solidFill>
                <a:latin typeface="Arial"/>
              </a:rPr>
              <a:t>Printed on Monday, answering by Tuesday.</a:t>
            </a:r>
          </a:p>
        </p:txBody>
      </p:sp>
      <p:pic>
        <p:nvPicPr>
          <p:cNvPr id="6" name="Picture 5" descr="car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331720"/>
            <a:ext cx="5029200" cy="3233057"/>
          </a:xfrm>
          <a:prstGeom prst="rect">
            <a:avLst/>
          </a:prstGeom>
        </p:spPr>
      </p:pic>
      <p:pic>
        <p:nvPicPr>
          <p:cNvPr id="7" name="Picture 6" descr="repo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08415" y="2148840"/>
            <a:ext cx="2593162" cy="3703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" y="5623560"/>
            <a:ext cx="50292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6B6678"/>
                </a:solidFill>
                <a:latin typeface="Arial"/>
              </a:rPr>
              <a:t>The owner types the tables, prints the sheet and puts a card on each one. Every code carries its own table number — so a request always says where it came from.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291072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B6678"/>
                </a:solidFill>
                <a:latin typeface="Arial"/>
              </a:rPr>
              <a:t>flex.com.uz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00055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6B6678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A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658368"/>
            <a:ext cx="384048" cy="50800"/>
          </a:xfrm>
          <a:prstGeom prst="rect">
            <a:avLst/>
          </a:prstGeom>
          <a:solidFill>
            <a:srgbClr val="ABFF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44168" y="56692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8B8794"/>
                </a:solidFill>
                <a:latin typeface="Arial"/>
              </a:rPr>
              <a:t>BUSINESS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051560"/>
            <a:ext cx="10637215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4000" b="1">
                <a:solidFill>
                  <a:srgbClr val="FFFFFF"/>
                </a:solidFill>
                <a:latin typeface="Arial"/>
              </a:rPr>
              <a:t>A number is bought once.</a:t>
            </a:r>
          </a:p>
          <a:p>
            <a:pPr algn="l">
              <a:lnSpc>
                <a:spcPct val="95000"/>
              </a:lnSpc>
            </a:pPr>
            <a:r>
              <a:rPr sz="4000" b="1">
                <a:solidFill>
                  <a:srgbClr val="FFFFFF"/>
                </a:solidFill>
                <a:latin typeface="Arial"/>
              </a:rPr>
              <a:t>A venue pays every month.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990088"/>
            <a:ext cx="219456" cy="38100"/>
          </a:xfrm>
          <a:prstGeom prst="rect">
            <a:avLst/>
          </a:prstGeom>
          <a:solidFill>
            <a:srgbClr val="ABFF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34440" y="2606040"/>
            <a:ext cx="4206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Arial"/>
              </a:rPr>
              <a:t>Personal number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2990088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8B8794"/>
                </a:solidFill>
                <a:latin typeface="Arial"/>
              </a:rPr>
              <a:t>Priced by how rare the combination is · paid once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83480" y="2606040"/>
            <a:ext cx="27889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800" b="1">
                <a:solidFill>
                  <a:srgbClr val="ABFF09"/>
                </a:solidFill>
                <a:latin typeface="Arial"/>
              </a:rPr>
              <a:t>from 100,000 UZS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22776"/>
            <a:ext cx="219456" cy="38100"/>
          </a:xfrm>
          <a:prstGeom prst="rect">
            <a:avLst/>
          </a:prstGeom>
          <a:solidFill>
            <a:srgbClr val="ABFF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34440" y="3538728"/>
            <a:ext cx="4206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Arial"/>
              </a:rPr>
              <a:t>Device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922776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8B8794"/>
                </a:solidFill>
                <a:latin typeface="Arial"/>
              </a:rPr>
              <a:t>Card, ring or bracelet · paid once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83480" y="3538728"/>
            <a:ext cx="27889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800" b="1">
                <a:solidFill>
                  <a:srgbClr val="ABFF09"/>
                </a:solidFill>
                <a:latin typeface="Arial"/>
              </a:rPr>
              <a:t>200,000 – 350,000 UZS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4855464"/>
            <a:ext cx="219456" cy="38100"/>
          </a:xfrm>
          <a:prstGeom prst="rect">
            <a:avLst/>
          </a:prstGeom>
          <a:solidFill>
            <a:srgbClr val="ABFF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4440" y="4471416"/>
            <a:ext cx="4206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Arial"/>
              </a:rPr>
              <a:t>Venue, up to 15 points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4855464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8B8794"/>
                </a:solidFill>
                <a:latin typeface="Arial"/>
              </a:rPr>
              <a:t>A cafe with twelve tables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83480" y="4471416"/>
            <a:ext cx="27889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800" b="1">
                <a:solidFill>
                  <a:srgbClr val="ABFF09"/>
                </a:solidFill>
                <a:latin typeface="Arial"/>
              </a:rPr>
              <a:t>149,000 UZS / mo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5788152"/>
            <a:ext cx="219456" cy="38100"/>
          </a:xfrm>
          <a:prstGeom prst="rect">
            <a:avLst/>
          </a:prstGeom>
          <a:solidFill>
            <a:srgbClr val="ABFF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34440" y="5404104"/>
            <a:ext cx="4206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Arial"/>
              </a:rPr>
              <a:t>Venue, up to 40 points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34440" y="5788152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8B8794"/>
                </a:solidFill>
                <a:latin typeface="Arial"/>
              </a:rPr>
              <a:t>A hotel with thirty rooms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83480" y="5404104"/>
            <a:ext cx="27889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800" b="1">
                <a:solidFill>
                  <a:srgbClr val="ABFF09"/>
                </a:solidFill>
                <a:latin typeface="Arial"/>
              </a:rPr>
              <a:t>299,000 UZS / mo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22615" y="2606040"/>
            <a:ext cx="3291840" cy="3063240"/>
          </a:xfrm>
          <a:prstGeom prst="roundRect">
            <a:avLst>
              <a:gd name="adj" fmla="val 7000"/>
            </a:avLst>
          </a:prstGeom>
          <a:solidFill>
            <a:srgbClr val="1A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34095" y="297180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ABFF09"/>
                </a:solidFill>
                <a:latin typeface="Arial"/>
              </a:rPr>
              <a:t>How they pay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34095" y="3520440"/>
            <a:ext cx="2468880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8B8794"/>
                </a:solidFill>
                <a:latin typeface="Arial"/>
              </a:rPr>
              <a:t>Individuals pay by card, through Payme.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8B8794"/>
                </a:solidFill>
                <a:latin typeface="Arial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8B8794"/>
                </a:solidFill>
                <a:latin typeface="Arial"/>
              </a:rPr>
              <a:t>Venues and companies pay by invoice and bank transfer — which is how a business here actually pays.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291072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B8794"/>
                </a:solidFill>
                <a:latin typeface="Arial"/>
              </a:rPr>
              <a:t>flex.com.uz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00055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8B8794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658368"/>
            <a:ext cx="384048" cy="50800"/>
          </a:xfrm>
          <a:prstGeom prst="rect">
            <a:avLst/>
          </a:prstGeom>
          <a:solidFill>
            <a:srgbClr val="ABFF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44168" y="56692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6B6678"/>
                </a:solidFill>
                <a:latin typeface="Arial"/>
              </a:rPr>
              <a:t>THE ARITHMETIC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051560"/>
            <a:ext cx="10637215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4000" b="1">
                <a:solidFill>
                  <a:srgbClr val="0E0A1B"/>
                </a:solidFill>
                <a:latin typeface="Arial"/>
              </a:rPr>
              <a:t>Recurring revenue, at the smallest band.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651760"/>
            <a:ext cx="3271418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61288" y="2971800"/>
            <a:ext cx="250332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6B6678"/>
                </a:solidFill>
                <a:latin typeface="Arial"/>
              </a:rPr>
              <a:t>100 venues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61288" y="3520440"/>
            <a:ext cx="2503322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E0A1B"/>
                </a:solidFill>
                <a:latin typeface="Arial"/>
              </a:rPr>
              <a:t>14.9M UZS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1288" y="4251960"/>
            <a:ext cx="250332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B6678"/>
                </a:solidFill>
                <a:latin typeface="Arial"/>
              </a:rPr>
              <a:t>≈ 179M UZS a year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60138" y="2651760"/>
            <a:ext cx="3271418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44186" y="2971800"/>
            <a:ext cx="250332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6B6678"/>
                </a:solidFill>
                <a:latin typeface="Arial"/>
              </a:rPr>
              <a:t>500 venues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4186" y="3520440"/>
            <a:ext cx="2503322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E0A1B"/>
                </a:solidFill>
                <a:latin typeface="Arial"/>
              </a:rPr>
              <a:t>74.5M UZS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44186" y="4251960"/>
            <a:ext cx="250332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B6678"/>
                </a:solidFill>
                <a:latin typeface="Arial"/>
              </a:rPr>
              <a:t>≈ 894M UZS a year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43036" y="2651760"/>
            <a:ext cx="3271418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27084" y="2971800"/>
            <a:ext cx="250332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6B6678"/>
                </a:solidFill>
                <a:latin typeface="Arial"/>
              </a:rPr>
              <a:t>1,000 venues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27084" y="3520440"/>
            <a:ext cx="2503322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E0A1B"/>
                </a:solidFill>
                <a:latin typeface="Arial"/>
              </a:rPr>
              <a:t>149M UZS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27084" y="4251960"/>
            <a:ext cx="250332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B6678"/>
                </a:solidFill>
                <a:latin typeface="Arial"/>
              </a:rPr>
              <a:t>≈ 1.79B UZS a year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5349240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>
                <a:solidFill>
                  <a:srgbClr val="6B6678"/>
                </a:solidFill>
                <a:latin typeface="Arial"/>
              </a:rPr>
              <a:t>Monthly, at the entry band of 149,000 UZS and nothing above it — a hotel or a larger restaurant pays twice that. Devices and personal numbers are not counted here at all. Assumption stated rather than modelled: these are venue counts, not a market size.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6291072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B6678"/>
                </a:solidFill>
                <a:latin typeface="Arial"/>
              </a:rPr>
              <a:t>flex.com.uz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00055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6B6678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A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658368"/>
            <a:ext cx="384048" cy="50800"/>
          </a:xfrm>
          <a:prstGeom prst="rect">
            <a:avLst/>
          </a:prstGeom>
          <a:solidFill>
            <a:srgbClr val="ABFF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44168" y="56692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8B8794"/>
                </a:solidFill>
                <a:latin typeface="Arial"/>
              </a:rPr>
              <a:t>WHY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051560"/>
            <a:ext cx="10637215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4000" b="1">
                <a:solidFill>
                  <a:srgbClr val="FFFFFF"/>
                </a:solidFill>
                <a:latin typeface="Arial"/>
              </a:rPr>
              <a:t>Three things are true at once.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651760"/>
            <a:ext cx="4023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ABFF09"/>
                </a:solidFill>
                <a:latin typeface="Arial"/>
              </a:rPr>
              <a:t>The phones are ready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66360" y="2651760"/>
            <a:ext cx="6248095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>
                <a:solidFill>
                  <a:srgbClr val="8B8794"/>
                </a:solidFill>
                <a:latin typeface="Arial"/>
              </a:rPr>
              <a:t>Every phone sold in recent years reads NFC, and after 2020 a QR code on a table needs no explaining to anyone.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858768"/>
            <a:ext cx="4023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ABFF09"/>
                </a:solidFill>
                <a:latin typeface="Arial"/>
              </a:rPr>
              <a:t>Service is the battleground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66360" y="3858768"/>
            <a:ext cx="6248095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>
                <a:solidFill>
                  <a:srgbClr val="8B8794"/>
                </a:solidFill>
                <a:latin typeface="Arial"/>
              </a:rPr>
              <a:t>Cafes and hotels here no longer compete only on price. How fast somebody answers a table is now a thing a guest notices and posts about.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065776"/>
            <a:ext cx="4023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ABFF09"/>
                </a:solidFill>
                <a:latin typeface="Arial"/>
              </a:rPr>
              <a:t>The rails exist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66360" y="5065776"/>
            <a:ext cx="6248095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>
                <a:solidFill>
                  <a:srgbClr val="8B8794"/>
                </a:solidFill>
                <a:latin typeface="Arial"/>
              </a:rPr>
              <a:t>Payme and bank transfer make a monthly subscription collectable from a business, which is what turns this from a gadget into revenue.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6291072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B8794"/>
                </a:solidFill>
                <a:latin typeface="Arial"/>
              </a:rPr>
              <a:t>flex.com.uz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00055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8B8794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658368"/>
            <a:ext cx="384048" cy="50800"/>
          </a:xfrm>
          <a:prstGeom prst="rect">
            <a:avLst/>
          </a:prstGeom>
          <a:solidFill>
            <a:srgbClr val="ABFF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44168" y="56692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6B6678"/>
                </a:solidFill>
                <a:latin typeface="Arial"/>
              </a:rPr>
              <a:t>WHERE IT STANDS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051560"/>
            <a:ext cx="10637215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4000" b="1">
                <a:solidFill>
                  <a:srgbClr val="0E0A1B"/>
                </a:solidFill>
                <a:latin typeface="Arial"/>
              </a:rPr>
              <a:t>Built, deployed, and running.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569464"/>
            <a:ext cx="146304" cy="38100"/>
          </a:xfrm>
          <a:prstGeom prst="rect">
            <a:avLst/>
          </a:prstGeom>
          <a:solidFill>
            <a:srgbClr val="4D7C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4712" y="2468880"/>
            <a:ext cx="54864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0E0A1B"/>
                </a:solidFill>
                <a:latin typeface="Arial"/>
              </a:rPr>
              <a:t>Personal profiles, devices, QR codes and analytics — live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999232"/>
            <a:ext cx="146304" cy="38100"/>
          </a:xfrm>
          <a:prstGeom prst="rect">
            <a:avLst/>
          </a:prstGeom>
          <a:solidFill>
            <a:srgbClr val="4D7C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24712" y="2898648"/>
            <a:ext cx="54864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0E0A1B"/>
                </a:solidFill>
                <a:latin typeface="Arial"/>
              </a:rPr>
              <a:t>Venue: menu and service list in three languages — live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429000"/>
            <a:ext cx="146304" cy="38100"/>
          </a:xfrm>
          <a:prstGeom prst="rect">
            <a:avLst/>
          </a:prstGeom>
          <a:solidFill>
            <a:srgbClr val="4D7C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24712" y="3328416"/>
            <a:ext cx="54864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0E0A1B"/>
                </a:solidFill>
                <a:latin typeface="Arial"/>
              </a:rPr>
              <a:t>A separate QR and NFC tag for every table, with a printable sheet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3858768"/>
            <a:ext cx="146304" cy="38100"/>
          </a:xfrm>
          <a:prstGeom prst="rect">
            <a:avLst/>
          </a:prstGeom>
          <a:solidFill>
            <a:srgbClr val="4D7C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24712" y="3758184"/>
            <a:ext cx="54864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0E0A1B"/>
                </a:solidFill>
                <a:latin typeface="Arial"/>
              </a:rPr>
              <a:t>Guest requests: waiter, bill, housekeeping, reviews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4288536"/>
            <a:ext cx="146304" cy="38100"/>
          </a:xfrm>
          <a:prstGeom prst="rect">
            <a:avLst/>
          </a:prstGeom>
          <a:solidFill>
            <a:srgbClr val="4D7C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24712" y="4187952"/>
            <a:ext cx="54864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0E0A1B"/>
                </a:solidFill>
                <a:latin typeface="Arial"/>
              </a:rPr>
              <a:t>Counter screen with sound, and a screen that stays awake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4718304"/>
            <a:ext cx="146304" cy="38100"/>
          </a:xfrm>
          <a:prstGeom prst="rect">
            <a:avLst/>
          </a:prstGeom>
          <a:solidFill>
            <a:srgbClr val="4D7C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24712" y="4617720"/>
            <a:ext cx="54864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0E0A1B"/>
                </a:solidFill>
                <a:latin typeface="Arial"/>
              </a:rPr>
              <a:t>Monthly report: response time, busiest tables, busiest hours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5148072"/>
            <a:ext cx="146304" cy="38100"/>
          </a:xfrm>
          <a:prstGeom prst="rect">
            <a:avLst/>
          </a:prstGeom>
          <a:solidFill>
            <a:srgbClr val="4D7C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24712" y="5047488"/>
            <a:ext cx="54864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0E0A1B"/>
                </a:solidFill>
                <a:latin typeface="Arial"/>
              </a:rPr>
              <a:t>Subscriptions, invoices and expiry reminders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5577840"/>
            <a:ext cx="146304" cy="38100"/>
          </a:xfrm>
          <a:prstGeom prst="rect">
            <a:avLst/>
          </a:prstGeom>
          <a:solidFill>
            <a:srgbClr val="4D7C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24712" y="5477256"/>
            <a:ext cx="54864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0E0A1B"/>
                </a:solidFill>
                <a:latin typeface="Arial"/>
              </a:rPr>
              <a:t>Telegram sign-in · Payme integrated · Uzbek, Russian, English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299655" y="2377440"/>
            <a:ext cx="4114800" cy="3017520"/>
          </a:xfrm>
          <a:prstGeom prst="roundRect">
            <a:avLst>
              <a:gd name="adj" fmla="val 5500"/>
            </a:avLst>
          </a:prstGeom>
          <a:solidFill>
            <a:srgbClr val="0E0A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11135" y="274320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ABFF09"/>
                </a:solidFill>
                <a:latin typeface="Arial"/>
              </a:rPr>
              <a:t>Open to anyone, today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11135" y="3291840"/>
            <a:ext cx="3291840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200" b="0">
                <a:solidFill>
                  <a:srgbClr val="8B8794"/>
                </a:solidFill>
                <a:latin typeface="Arial"/>
              </a:rPr>
              <a:t>·  flex.com.uz/NAV001 — a real venue, open it on your phone</a:t>
            </a:r>
          </a:p>
          <a:p>
            <a:pPr algn="l">
              <a:lnSpc>
                <a:spcPct val="155000"/>
              </a:lnSpc>
            </a:pPr>
            <a:r>
              <a:rPr sz="1200" b="0">
                <a:solidFill>
                  <a:srgbClr val="8B8794"/>
                </a:solidFill>
                <a:latin typeface="Arial"/>
              </a:rPr>
              <a:t>·  Tap the menu, call a waiter, watch it arrive at the till</a:t>
            </a:r>
          </a:p>
          <a:p>
            <a:pPr algn="l">
              <a:lnSpc>
                <a:spcPct val="155000"/>
              </a:lnSpc>
            </a:pPr>
            <a:r>
              <a:rPr sz="1200" b="0">
                <a:solidFill>
                  <a:srgbClr val="8B8794"/>
                </a:solidFill>
                <a:latin typeface="Arial"/>
              </a:rPr>
              <a:t>·  Payme certification is next, then the first paying venues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291072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B6678"/>
                </a:solidFill>
                <a:latin typeface="Arial"/>
              </a:rPr>
              <a:t>flex.com.uz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00055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6B6678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A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658368"/>
            <a:ext cx="384048" cy="50800"/>
          </a:xfrm>
          <a:prstGeom prst="rect">
            <a:avLst/>
          </a:prstGeom>
          <a:solidFill>
            <a:srgbClr val="ABFF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44168" y="56692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8B8794"/>
                </a:solidFill>
                <a:latin typeface="Arial"/>
              </a:rPr>
              <a:t>COMPETITION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051560"/>
            <a:ext cx="10637215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4000" b="1">
                <a:solidFill>
                  <a:srgbClr val="FFFFFF"/>
                </a:solidFill>
                <a:latin typeface="Arial"/>
              </a:rPr>
              <a:t>Nobody local sells the venue half.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65176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Arial"/>
              </a:rPr>
              <a:t>UNQX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03320" y="2651760"/>
            <a:ext cx="36576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B8794"/>
                </a:solidFill>
                <a:latin typeface="Arial"/>
              </a:rPr>
              <a:t>The same three-letter, three-digit format. Personal profiles only. Live in the Fergana Valley.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2651760"/>
            <a:ext cx="3779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ABFF09"/>
                </a:solidFill>
                <a:latin typeface="Arial"/>
              </a:rPr>
              <a:t>No menu, no tables, no requests — the recurring half is missing.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70332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Arial"/>
              </a:rPr>
              <a:t>International NFC cards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03320" y="3703320"/>
            <a:ext cx="36576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B8794"/>
                </a:solidFill>
                <a:latin typeface="Arial"/>
              </a:rPr>
              <a:t>Popl and the rest. Personal profiles, sold worldwide.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3703320"/>
            <a:ext cx="3779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ABFF09"/>
                </a:solidFill>
                <a:latin typeface="Arial"/>
              </a:rPr>
              <a:t>No local payment, no invoice for an accountant, no Uzbek.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754879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Arial"/>
              </a:rPr>
              <a:t>Paper and pen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03320" y="4754879"/>
            <a:ext cx="36576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B8794"/>
                </a:solidFill>
                <a:latin typeface="Arial"/>
              </a:rPr>
              <a:t>What every cafe uses today. Free, and reprinted every price change.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35240" y="4754879"/>
            <a:ext cx="3779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ABFF09"/>
                </a:solidFill>
                <a:latin typeface="Arial"/>
              </a:rPr>
              <a:t>Cannot tell you which table is waiting, or for how long.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291072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B8794"/>
                </a:solidFill>
                <a:latin typeface="Arial"/>
              </a:rPr>
              <a:t>flex.com.uz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00055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8B8794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658368"/>
            <a:ext cx="384048" cy="50800"/>
          </a:xfrm>
          <a:prstGeom prst="rect">
            <a:avLst/>
          </a:prstGeom>
          <a:solidFill>
            <a:srgbClr val="ABFF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44168" y="56692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6B6678"/>
                </a:solidFill>
                <a:latin typeface="Arial"/>
              </a:rPr>
              <a:t>TEAM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051560"/>
            <a:ext cx="10637215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4000" b="1">
                <a:solidFill>
                  <a:srgbClr val="0E0A1B"/>
                </a:solidFill>
                <a:latin typeface="Arial"/>
              </a:rPr>
              <a:t>Who is building 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743200"/>
            <a:ext cx="274320" cy="50800"/>
          </a:xfrm>
          <a:prstGeom prst="rect">
            <a:avLst/>
          </a:prstGeom>
          <a:solidFill>
            <a:srgbClr val="ABFF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3063240"/>
            <a:ext cx="3271418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0E0A1B"/>
                </a:solidFill>
                <a:latin typeface="Arial"/>
              </a:rPr>
              <a:t>Javohir Abrorov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931920"/>
            <a:ext cx="327141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5C7A0A"/>
                </a:solidFill>
                <a:latin typeface="Arial"/>
              </a:rPr>
              <a:t>Founder · AI engineer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343400"/>
            <a:ext cx="327141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B6678"/>
                </a:solidFill>
                <a:latin typeface="Arial"/>
              </a:rPr>
              <a:t>MC LEGAL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60138" y="2743200"/>
            <a:ext cx="274320" cy="50800"/>
          </a:xfrm>
          <a:prstGeom prst="rect">
            <a:avLst/>
          </a:prstGeom>
          <a:solidFill>
            <a:srgbClr val="ABFF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60138" y="3063240"/>
            <a:ext cx="3271418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0E0A1B"/>
                </a:solidFill>
                <a:latin typeface="Arial"/>
              </a:rPr>
              <a:t>Zoirjon Abduvohidov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60138" y="3931920"/>
            <a:ext cx="327141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5C7A0A"/>
                </a:solidFill>
                <a:latin typeface="Arial"/>
              </a:rPr>
              <a:t>Web developer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60138" y="4343400"/>
            <a:ext cx="327141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B6678"/>
                </a:solidFill>
                <a:latin typeface="Arial"/>
              </a:rPr>
              <a:t>Tompson School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43036" y="2743200"/>
            <a:ext cx="274320" cy="50800"/>
          </a:xfrm>
          <a:prstGeom prst="rect">
            <a:avLst/>
          </a:prstGeom>
          <a:solidFill>
            <a:srgbClr val="ABFF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43036" y="3063240"/>
            <a:ext cx="3271418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0E0A1B"/>
                </a:solidFill>
                <a:latin typeface="Arial"/>
              </a:rPr>
              <a:t>Abdujabbor Ahmadjonov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43036" y="3931920"/>
            <a:ext cx="327141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5C7A0A"/>
                </a:solidFill>
                <a:latin typeface="Arial"/>
              </a:rPr>
              <a:t>Product manager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43036" y="4343400"/>
            <a:ext cx="327141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B6678"/>
                </a:solidFill>
                <a:latin typeface="Arial"/>
              </a:rPr>
              <a:t>Canada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6291072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B6678"/>
                </a:solidFill>
                <a:latin typeface="Arial"/>
              </a:rPr>
              <a:t>flex.com.uz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00055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6B6678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A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ABFF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658368"/>
            <a:ext cx="384048" cy="50800"/>
          </a:xfrm>
          <a:prstGeom prst="rect">
            <a:avLst/>
          </a:prstGeom>
          <a:solidFill>
            <a:srgbClr val="ABFF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44168" y="56692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8B8794"/>
                </a:solidFill>
                <a:latin typeface="Arial"/>
              </a:rPr>
              <a:t>THE ASK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051560"/>
            <a:ext cx="10637215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4000" b="1">
                <a:solidFill>
                  <a:srgbClr val="FFFFFF"/>
                </a:solidFill>
                <a:latin typeface="Arial"/>
              </a:rPr>
              <a:t>What we are raising.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31720"/>
            <a:ext cx="6400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>
                <a:solidFill>
                  <a:srgbClr val="ABFF09"/>
                </a:solidFill>
                <a:latin typeface="Arial"/>
              </a:rPr>
              <a:t>$50,000 – $100,000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200400"/>
            <a:ext cx="5852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8B8794"/>
                </a:solidFill>
                <a:latin typeface="Arial"/>
              </a:rPr>
              <a:t>Pre-seed · the product is built and running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977639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Arial"/>
              </a:rPr>
              <a:t>40%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20" y="3977639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8B8794"/>
                </a:solidFill>
                <a:latin typeface="Arial"/>
              </a:rPr>
              <a:t>Devices: cards, rings, bracelets and table tags in stock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526279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Arial"/>
              </a:rPr>
              <a:t>35%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20" y="4526279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8B8794"/>
                </a:solidFill>
                <a:latin typeface="Arial"/>
              </a:rPr>
              <a:t>Sales and installation for the first 100 venues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507492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Arial"/>
              </a:rPr>
              <a:t>15%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20" y="507492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8B8794"/>
                </a:solidFill>
                <a:latin typeface="Arial"/>
              </a:rPr>
              <a:t>Team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623559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Arial"/>
              </a:rPr>
              <a:t>10%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20" y="5623559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8B8794"/>
                </a:solidFill>
                <a:latin typeface="Arial"/>
              </a:rPr>
              <a:t>Marketing and events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56855" y="2286000"/>
            <a:ext cx="3657600" cy="3017520"/>
          </a:xfrm>
          <a:prstGeom prst="roundRect">
            <a:avLst>
              <a:gd name="adj" fmla="val 5500"/>
            </a:avLst>
          </a:prstGeom>
          <a:solidFill>
            <a:srgbClr val="1A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68335" y="2651760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ABFF09"/>
                </a:solidFill>
                <a:latin typeface="Arial"/>
              </a:rPr>
              <a:t>Contact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68335" y="3200400"/>
            <a:ext cx="2834640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70000"/>
              </a:lnSpc>
            </a:pPr>
            <a:r>
              <a:rPr sz="1300" b="0">
                <a:solidFill>
                  <a:srgbClr val="FFFFFF"/>
                </a:solidFill>
                <a:latin typeface="Arial"/>
              </a:rPr>
              <a:t>Javohir Abrorov</a:t>
            </a:r>
          </a:p>
          <a:p>
            <a:pPr algn="l">
              <a:lnSpc>
                <a:spcPct val="170000"/>
              </a:lnSpc>
            </a:pPr>
            <a:r>
              <a:rPr sz="1300" b="0">
                <a:solidFill>
                  <a:srgbClr val="FFFFFF"/>
                </a:solidFill>
                <a:latin typeface="Arial"/>
              </a:rPr>
              <a:t>sheyx2772@gmail.com</a:t>
            </a:r>
          </a:p>
          <a:p>
            <a:pPr algn="l">
              <a:lnSpc>
                <a:spcPct val="170000"/>
              </a:lnSpc>
            </a:pPr>
            <a:r>
              <a:rPr sz="1300" b="0">
                <a:solidFill>
                  <a:srgbClr val="FFFFFF"/>
                </a:solidFill>
                <a:latin typeface="Arial"/>
              </a:rPr>
              <a:t>+998 97 724 79 99</a:t>
            </a:r>
          </a:p>
          <a:p>
            <a:pPr algn="l">
              <a:lnSpc>
                <a:spcPct val="170000"/>
              </a:lnSpc>
            </a:pPr>
            <a:r>
              <a:rPr sz="1300" b="0">
                <a:solidFill>
                  <a:srgbClr val="FFFFFF"/>
                </a:solidFill>
                <a:latin typeface="Arial"/>
              </a:rPr>
              <a:t>flex.com.uz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6291072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B8794"/>
                </a:solidFill>
                <a:latin typeface="Arial"/>
              </a:rPr>
              <a:t>flex.com.uz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00055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8B8794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