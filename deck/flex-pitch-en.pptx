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Relationship Id="rId7" Type="http://schemas.openxmlformats.org/officeDocument/2006/relationships/image" Target="../media/image15.jpg"/><Relationship Id="rId8" Type="http://schemas.openxmlformats.org/officeDocument/2006/relationships/image" Target="../media/image16.jpg"/><Relationship Id="rId9" Type="http://schemas.openxmlformats.org/officeDocument/2006/relationships/image" Target="../media/image1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6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png"/><Relationship Id="rId4" Type="http://schemas.openxmlformats.org/officeDocument/2006/relationships/image" Target="../media/image31.jpg"/><Relationship Id="rId5" Type="http://schemas.openxmlformats.org/officeDocument/2006/relationships/image" Target="../media/image32.png"/><Relationship Id="rId6" Type="http://schemas.openxmlformats.org/officeDocument/2006/relationships/image" Target="../media/image33.jpg"/><Relationship Id="rId7" Type="http://schemas.openxmlformats.org/officeDocument/2006/relationships/image" Target="../media/image23.png"/><Relationship Id="rId8" Type="http://schemas.openxmlformats.org/officeDocument/2006/relationships/image" Target="../media/image34.jpg"/><Relationship Id="rId9" Type="http://schemas.openxmlformats.org/officeDocument/2006/relationships/image" Target="../media/image3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image" Target="../media/image4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7.png"/><Relationship Id="rId5" Type="http://schemas.openxmlformats.org/officeDocument/2006/relationships/image" Target="../media/image3.png"/><Relationship Id="rId6" Type="http://schemas.openxmlformats.org/officeDocument/2006/relationships/image" Target="../media/image51.png"/><Relationship Id="rId7" Type="http://schemas.openxmlformats.org/officeDocument/2006/relationships/image" Target="../media/image5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rilmalar.jpg"/>
          <p:cNvPicPr>
            <a:picLocks noChangeAspect="1"/>
          </p:cNvPicPr>
          <p:nvPr/>
        </p:nvPicPr>
        <p:blipFill>
          <a:blip r:embed="rId2"/>
          <a:srcRect l="388" r="38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E0A1B">
                  <a:alpha val="97000"/>
                </a:srgbClr>
              </a:gs>
              <a:gs pos="34000">
                <a:srgbClr val="0E0A1B">
                  <a:alpha val="86000"/>
                </a:srgbClr>
              </a:gs>
              <a:gs pos="52000">
                <a:srgbClr val="0E0A1B">
                  <a:alpha val="30000"/>
                </a:srgbClr>
              </a:gs>
              <a:gs pos="68000">
                <a:srgbClr val="0E0A1B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ICT WEEK UZBEKISTAN · 2026 · PRE-SEED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939800"/>
            <a:ext cx="5080000" cy="939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5600" b="1" spc="-200">
                <a:solidFill>
                  <a:srgbClr val="FFFFFF"/>
                </a:solidFill>
                <a:latin typeface="Space Grotesk"/>
              </a:rPr>
              <a:t>flex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1879600"/>
            <a:ext cx="7112000" cy="754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700" b="1" spc="-60">
                <a:solidFill>
                  <a:srgbClr val="ABFF09"/>
                </a:solidFill>
                <a:latin typeface="Space Grotesk"/>
              </a:rPr>
              <a:t>Your number is your identity.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2717800"/>
            <a:ext cx="5969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0">
                <a:solidFill>
                  <a:srgbClr val="C2BECE"/>
                </a:solidFill>
                <a:latin typeface="Inter"/>
              </a:rPr>
              <a:t>A unique number and an NFC object that opens it. One tap — nothing to install.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8890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Information still travels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on paper and out loud.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41300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receipt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400" y="2616200"/>
            <a:ext cx="254000" cy="25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41400" y="297180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Paper details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400" y="330200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Company bank details are written out by hand. One wrong digit and the payment lands in the wrong account.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6150" y="241300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car-l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2616200"/>
            <a:ext cx="254000" cy="25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14750" y="297180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No number in the windscreen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14750" y="330200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A car is blocking the way. There is no number behind the glass, or there is one, on a scrap of paper.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9500" y="241300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paw-print-l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8100" y="2616200"/>
            <a:ext cx="254000" cy="25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88100" y="297180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A pet goes missing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8100" y="330200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Nothing on the collar. Whoever finds the animal has no way to reach its owner.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2850" y="241300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key-round-li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1450" y="2616200"/>
            <a:ext cx="254000" cy="254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61450" y="297180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Keys and things go missing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61450" y="330200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A bag, a key, a suitcase — found, and still it never gets back to anyone.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800" y="422275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2" name="Picture 21" descr="credit-card-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1400" y="4425950"/>
            <a:ext cx="254000" cy="25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41400" y="478155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Card numbers across a counter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1400" y="511175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The card number is read out loud or written down. That is where both the errors and the risk are.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86150" y="422275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6" name="Picture 25" descr="users-lim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4750" y="4425950"/>
            <a:ext cx="254000" cy="254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714750" y="478155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Nothing to exchange at a meeting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14750" y="511175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The cards run out, typing a number takes too long, and afterwards nobody can find anybody.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59500" y="422275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-lim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8100" y="4425950"/>
            <a:ext cx="254000" cy="254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88100" y="478155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A small brand is hard to remember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8100" y="511175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The name never stays on the customer's phone. Every time you start the introduction again.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32850" y="422275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4" name="Picture 33" descr="file-user-li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61450" y="4425950"/>
            <a:ext cx="254000" cy="2540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061450" y="478155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Sending a CV is awkward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61450" y="511175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A PDF goes out, the link is lost, versions drift. The employer opens the oldest one.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BFF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2235200"/>
            <a:ext cx="10160000" cy="1341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4800" b="1" spc="-160">
                <a:solidFill>
                  <a:srgbClr val="0E0A1B"/>
                </a:solidFill>
                <a:latin typeface="Space Grotesk"/>
              </a:rPr>
              <a:t>One tap —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4800" b="1" spc="-160">
                <a:solidFill>
                  <a:srgbClr val="0E0A1B"/>
                </a:solidFill>
                <a:latin typeface="Space Grotesk"/>
              </a:rPr>
              <a:t>and the page opens.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4064000"/>
            <a:ext cx="6858000" cy="363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5A5566"/>
                </a:solidFill>
                <a:latin typeface="Inter"/>
              </a:rPr>
              <a:t>Nothing to install. Nothing to sign up for. The guest taps their own phone, and that is the whole of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THE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5461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One number, one object,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eight situations.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0" y="990600"/>
            <a:ext cx="4775200" cy="2933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50" b="0">
                <a:solidFill>
                  <a:srgbClr val="5A5566"/>
                </a:solidFill>
                <a:latin typeface="Inter"/>
              </a:rPr>
              <a:t>Every one of them is solved the same way: the phone touches an NFC object or reads a QR code, and the page for that situation opens. Nothing is installed.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12800" y="28067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800" y="23114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Paper details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4800" y="23114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The details are on the page, with a copy button, spelled right</a:t>
            </a:r>
          </a:p>
        </p:txBody>
      </p:sp>
      <p:sp>
        <p:nvSpPr>
          <p:cNvPr id="9" name="Rectangle 8"/>
          <p:cNvSpPr/>
          <p:nvPr/>
        </p:nvSpPr>
        <p:spPr>
          <a:xfrm>
            <a:off x="6299200" y="28067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9200" y="23114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No number in the windscreen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1200" y="23114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Car tag: a tap reaches you by call or message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2800" y="34671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800" y="29718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A pet goes missing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4800" y="29718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Collar tag: whoever finds it opens the owner's page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9200" y="34671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9200" y="29718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Keys and things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1200" y="29718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Object tag: what is found gets back to whom it belongs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2800" y="41275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800" y="36322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Card numbers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44800" y="36322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A payment page through Payme — no number is read out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99200" y="41275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9200" y="36322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Exchanging at a meeting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1200" y="36322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One tap and the contact is saved to the phone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00" y="47879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800" y="42926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Building a brand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4800" y="42926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The page is yours and it stays on the customer's phone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99200" y="47879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9200" y="42926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Sending a CV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1200" y="42926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One link, always the latest 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OUR DEVICES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Something you can hold.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184400"/>
            <a:ext cx="2527300" cy="1993900"/>
          </a:xfrm>
          <a:prstGeom prst="roundRect">
            <a:avLst>
              <a:gd name="adj" fmla="val 8917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kar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450" y="2260600"/>
            <a:ext cx="2032000" cy="101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90600" y="3390900"/>
            <a:ext cx="21971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3606800"/>
            <a:ext cx="2197100" cy="22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>
                <a:solidFill>
                  <a:srgbClr val="5A5566"/>
                </a:solidFill>
                <a:latin typeface="Inter"/>
              </a:rPr>
              <a:t>In a pocket, in a wallet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600" y="3873500"/>
            <a:ext cx="21971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4D7C0F"/>
                </a:solidFill>
                <a:latin typeface="Space Grotesk"/>
              </a:rPr>
              <a:t>200,000 UZS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2500" y="2184400"/>
            <a:ext cx="2527300" cy="1993900"/>
          </a:xfrm>
          <a:prstGeom prst="roundRect">
            <a:avLst>
              <a:gd name="adj" fmla="val 8917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uzu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0150" y="2260600"/>
            <a:ext cx="2032000" cy="101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70300" y="3390900"/>
            <a:ext cx="21971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0300" y="3606800"/>
            <a:ext cx="2197100" cy="22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>
                <a:solidFill>
                  <a:srgbClr val="5A5566"/>
                </a:solidFill>
                <a:latin typeface="Inter"/>
              </a:rPr>
              <a:t>On a hand, always with you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0300" y="3873500"/>
            <a:ext cx="21971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4D7C0F"/>
                </a:solidFill>
                <a:latin typeface="Space Grotesk"/>
              </a:rPr>
              <a:t>350,000 UZS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184400"/>
            <a:ext cx="2527300" cy="1993900"/>
          </a:xfrm>
          <a:prstGeom prst="roundRect">
            <a:avLst>
              <a:gd name="adj" fmla="val 8917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brasl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850" y="2260600"/>
            <a:ext cx="2032000" cy="10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50000" y="3390900"/>
            <a:ext cx="21971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Bracelet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0" y="3606800"/>
            <a:ext cx="2197100" cy="22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>
                <a:solidFill>
                  <a:srgbClr val="5A5566"/>
                </a:solidFill>
                <a:latin typeface="Inter"/>
              </a:rPr>
              <a:t>On a wrist, for events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0" y="3873500"/>
            <a:ext cx="21971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4D7C0F"/>
                </a:solidFill>
                <a:latin typeface="Space Grotesk"/>
              </a:rPr>
              <a:t>250,000 UZS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51900" y="2184400"/>
            <a:ext cx="2527300" cy="1993900"/>
          </a:xfrm>
          <a:prstGeom prst="roundRect">
            <a:avLst>
              <a:gd name="adj" fmla="val 8917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avtovizitka.jpg"/>
          <p:cNvPicPr>
            <a:picLocks noChangeAspect="1"/>
          </p:cNvPicPr>
          <p:nvPr/>
        </p:nvPicPr>
        <p:blipFill>
          <a:blip r:embed="rId5"/>
          <a:srcRect t="15027" b="15027"/>
          <a:stretch>
            <a:fillRect/>
          </a:stretch>
        </p:blipFill>
        <p:spPr>
          <a:xfrm>
            <a:off x="8953500" y="2286000"/>
            <a:ext cx="23241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29700" y="3390900"/>
            <a:ext cx="21971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Car card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29700" y="3606800"/>
            <a:ext cx="2197100" cy="22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>
                <a:solidFill>
                  <a:srgbClr val="5A5566"/>
                </a:solidFill>
                <a:latin typeface="Inter"/>
              </a:rPr>
              <a:t>On the windscreen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9700" y="3873500"/>
            <a:ext cx="21971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4D7C0F"/>
                </a:solidFill>
                <a:latin typeface="Space Grotesk"/>
              </a:rPr>
              <a:t>On request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2800" y="4330700"/>
            <a:ext cx="2527300" cy="1993900"/>
          </a:xfrm>
          <a:prstGeom prst="roundRect">
            <a:avLst>
              <a:gd name="adj" fmla="val 8917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6" name="Picture 25" descr="hayvon-teg.jpg"/>
          <p:cNvPicPr>
            <a:picLocks noChangeAspect="1"/>
          </p:cNvPicPr>
          <p:nvPr/>
        </p:nvPicPr>
        <p:blipFill>
          <a:blip r:embed="rId6"/>
          <a:srcRect t="47330" b="7705"/>
          <a:stretch>
            <a:fillRect/>
          </a:stretch>
        </p:blipFill>
        <p:spPr>
          <a:xfrm>
            <a:off x="914400" y="4432300"/>
            <a:ext cx="2324100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90600" y="5537200"/>
            <a:ext cx="21971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Pet tag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0600" y="5753100"/>
            <a:ext cx="2197100" cy="22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>
                <a:solidFill>
                  <a:srgbClr val="5A5566"/>
                </a:solidFill>
                <a:latin typeface="Inter"/>
              </a:rPr>
              <a:t>On the collar — found means reachable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0600" y="6019800"/>
            <a:ext cx="21971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4D7C0F"/>
                </a:solidFill>
                <a:latin typeface="Space Grotesk"/>
              </a:rPr>
              <a:t>On request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92500" y="4330700"/>
            <a:ext cx="2527300" cy="1993900"/>
          </a:xfrm>
          <a:prstGeom prst="roundRect">
            <a:avLst>
              <a:gd name="adj" fmla="val 8917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buyum-teg.jpg"/>
          <p:cNvPicPr>
            <a:picLocks noChangeAspect="1"/>
          </p:cNvPicPr>
          <p:nvPr/>
        </p:nvPicPr>
        <p:blipFill>
          <a:blip r:embed="rId7"/>
          <a:srcRect t="26993" b="22085"/>
          <a:stretch>
            <a:fillRect/>
          </a:stretch>
        </p:blipFill>
        <p:spPr>
          <a:xfrm>
            <a:off x="3594100" y="4432300"/>
            <a:ext cx="2324100" cy="9144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670300" y="5537200"/>
            <a:ext cx="21971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Object tag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70300" y="5753100"/>
            <a:ext cx="2197100" cy="22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>
                <a:solidFill>
                  <a:srgbClr val="5A5566"/>
                </a:solidFill>
                <a:latin typeface="Inter"/>
              </a:rPr>
              <a:t>On keys, a bag, a suitcase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70300" y="6019800"/>
            <a:ext cx="21971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4D7C0F"/>
                </a:solidFill>
                <a:latin typeface="Space Grotesk"/>
              </a:rPr>
              <a:t>On request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4330700"/>
            <a:ext cx="2527300" cy="1993900"/>
          </a:xfrm>
          <a:prstGeom prst="roundRect">
            <a:avLst>
              <a:gd name="adj" fmla="val 8917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6" name="Picture 35" descr="stend2.jpg"/>
          <p:cNvPicPr>
            <a:picLocks noChangeAspect="1"/>
          </p:cNvPicPr>
          <p:nvPr/>
        </p:nvPicPr>
        <p:blipFill>
          <a:blip r:embed="rId8"/>
          <a:srcRect t="32475" b="32475"/>
          <a:stretch>
            <a:fillRect/>
          </a:stretch>
        </p:blipFill>
        <p:spPr>
          <a:xfrm>
            <a:off x="6273800" y="4432300"/>
            <a:ext cx="2324100" cy="9144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350000" y="5537200"/>
            <a:ext cx="21971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Table unit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0" y="5753100"/>
            <a:ext cx="2197100" cy="22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>
                <a:solidFill>
                  <a:srgbClr val="5A5566"/>
                </a:solidFill>
                <a:latin typeface="Inter"/>
              </a:rPr>
              <a:t>On a cafe, salon or clinic table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0" y="6019800"/>
            <a:ext cx="21971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4D7C0F"/>
                </a:solidFill>
                <a:latin typeface="Space Grotesk"/>
              </a:rPr>
              <a:t>In the venue plan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51900" y="4330700"/>
            <a:ext cx="2527300" cy="1993900"/>
          </a:xfrm>
          <a:prstGeom prst="roundRect">
            <a:avLst>
              <a:gd name="adj" fmla="val 8917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1" name="Picture 40" descr="konsyerj.jpg"/>
          <p:cNvPicPr>
            <a:picLocks noChangeAspect="1"/>
          </p:cNvPicPr>
          <p:nvPr/>
        </p:nvPicPr>
        <p:blipFill>
          <a:blip r:embed="rId9"/>
          <a:srcRect t="24854" b="24854"/>
          <a:stretch>
            <a:fillRect/>
          </a:stretch>
        </p:blipFill>
        <p:spPr>
          <a:xfrm>
            <a:off x="8953500" y="4432300"/>
            <a:ext cx="2324100" cy="9144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029700" y="5537200"/>
            <a:ext cx="21971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Concierge plate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29700" y="5753100"/>
            <a:ext cx="2197100" cy="22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>
                <a:solidFill>
                  <a:srgbClr val="5A5566"/>
                </a:solidFill>
                <a:latin typeface="Inter"/>
              </a:rPr>
              <a:t>In a hotel room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29700" y="6019800"/>
            <a:ext cx="21971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4D7C0F"/>
                </a:solidFill>
                <a:latin typeface="Space Grotesk"/>
              </a:rPr>
              <a:t>In the venue plan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WHAT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5461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This is not an ordinary NFC card.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0" y="990600"/>
            <a:ext cx="4775200" cy="2933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50" b="0">
                <a:solidFill>
                  <a:srgbClr val="8A849B"/>
                </a:solidFill>
                <a:latin typeface="Inter"/>
              </a:rPr>
              <a:t>There are plenty of NFC cards. The difference is not the card — it is what stands behind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2800" y="198120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sparkles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400" y="2171700"/>
            <a:ext cx="241300" cy="241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41400" y="250190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The number is yours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281940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A unique number in the AAA000 format. A low serial cannot be reproduced — nobody else can print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86150" y="198120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route-l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2171700"/>
            <a:ext cx="241300" cy="2413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14750" y="250190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The page changes, the object does not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4750" y="281940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New job, new number, new company: you edit the page. The card stays the card.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9500" y="198120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chart-column-l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8100" y="2171700"/>
            <a:ext cx="241300" cy="2413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88100" y="250190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Statistics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8100" y="281940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How many times it opened, which link was pressed, on which day. A paper card never tells you.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32850" y="198120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languages-li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1450" y="2171700"/>
            <a:ext cx="241300" cy="2413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061450" y="250190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Three languages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61450" y="281940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Uzbek, Russian, English. The guest reads it in their own.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800" y="371475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qr-code-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1400" y="3905250"/>
            <a:ext cx="241300" cy="2413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41400" y="423545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NFC and QR together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1400" y="455295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A phone without NFC still opens it. It works from a printed code.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86150" y="371475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redit-card-lim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4750" y="3905250"/>
            <a:ext cx="241300" cy="2413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714750" y="423545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Local payment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14750" y="455295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Payme is connected: subscriptions, invoices, expiry reminders.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59500" y="371475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store-lim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8100" y="3905250"/>
            <a:ext cx="241300" cy="2413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388100" y="423545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The venue half as well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55295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Menu, table tags, calling a waiter, a counter screen — one system.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32850" y="371475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shield-check-li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61450" y="3905250"/>
            <a:ext cx="241300" cy="2413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061450" y="423545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The data is yours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61450" y="455295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Delete the page whenever you like, or move it to another object.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One number, many faces.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1752600"/>
            <a:ext cx="8128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50" b="0">
                <a:solidFill>
                  <a:srgbClr val="5A5566"/>
                </a:solidFill>
                <a:latin typeface="Inter"/>
              </a:rPr>
              <a:t>The owner picks the card design, and every one of them is drawn by us rather than borrowed. A low serial number cannot be reproduced at all — which is the one thing on the card that is genuinely scarce.</a:t>
            </a:r>
          </a:p>
        </p:txBody>
      </p:sp>
      <p:pic>
        <p:nvPicPr>
          <p:cNvPr id="6" name="Picture 5" descr="xarita.jpg"/>
          <p:cNvPicPr>
            <a:picLocks noChangeAspect="1"/>
          </p:cNvPicPr>
          <p:nvPr/>
        </p:nvPicPr>
        <p:blipFill>
          <a:blip r:embed="rId2"/>
          <a:srcRect l="716" r="716"/>
          <a:stretch>
            <a:fillRect/>
          </a:stretch>
        </p:blipFill>
        <p:spPr>
          <a:xfrm>
            <a:off x="812800" y="3124200"/>
            <a:ext cx="2540000" cy="1625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2800" y="4902200"/>
            <a:ext cx="254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0E0A1B"/>
                </a:solidFill>
                <a:latin typeface="Space Grotesk"/>
              </a:rPr>
              <a:t>Xarita</a:t>
            </a:r>
          </a:p>
        </p:txBody>
      </p:sp>
      <p:pic>
        <p:nvPicPr>
          <p:cNvPr id="8" name="Picture 7" descr="suzani.jpg"/>
          <p:cNvPicPr>
            <a:picLocks noChangeAspect="1"/>
          </p:cNvPicPr>
          <p:nvPr/>
        </p:nvPicPr>
        <p:blipFill>
          <a:blip r:embed="rId3"/>
          <a:srcRect l="716" r="716"/>
          <a:stretch>
            <a:fillRect/>
          </a:stretch>
        </p:blipFill>
        <p:spPr>
          <a:xfrm>
            <a:off x="3486150" y="3124200"/>
            <a:ext cx="2540000" cy="1625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86150" y="4902200"/>
            <a:ext cx="254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0E0A1B"/>
                </a:solidFill>
                <a:latin typeface="Space Grotesk"/>
              </a:rPr>
              <a:t>Suzani</a:t>
            </a:r>
          </a:p>
        </p:txBody>
      </p:sp>
      <p:pic>
        <p:nvPicPr>
          <p:cNvPr id="10" name="Picture 9" descr="rahbar.jpg"/>
          <p:cNvPicPr>
            <a:picLocks noChangeAspect="1"/>
          </p:cNvPicPr>
          <p:nvPr/>
        </p:nvPicPr>
        <p:blipFill>
          <a:blip r:embed="rId4"/>
          <a:srcRect l="716" r="716"/>
          <a:stretch>
            <a:fillRect/>
          </a:stretch>
        </p:blipFill>
        <p:spPr>
          <a:xfrm>
            <a:off x="6159500" y="3124200"/>
            <a:ext cx="2540000" cy="1625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59500" y="4902200"/>
            <a:ext cx="254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0E0A1B"/>
                </a:solidFill>
                <a:latin typeface="Space Grotesk"/>
              </a:rPr>
              <a:t>Rahbar</a:t>
            </a:r>
          </a:p>
        </p:txBody>
      </p:sp>
      <p:pic>
        <p:nvPicPr>
          <p:cNvPr id="12" name="Picture 11" descr="devops.jpg"/>
          <p:cNvPicPr>
            <a:picLocks noChangeAspect="1"/>
          </p:cNvPicPr>
          <p:nvPr/>
        </p:nvPicPr>
        <p:blipFill>
          <a:blip r:embed="rId5"/>
          <a:srcRect l="716" r="716"/>
          <a:stretch>
            <a:fillRect/>
          </a:stretch>
        </p:blipFill>
        <p:spPr>
          <a:xfrm>
            <a:off x="8832850" y="3124200"/>
            <a:ext cx="2540000" cy="1625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32850" y="4902200"/>
            <a:ext cx="254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0E0A1B"/>
                </a:solidFill>
                <a:latin typeface="Space Grotesk"/>
              </a:rPr>
              <a:t>DevOps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OUR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8890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Everywhere somebody is served.</a:t>
            </a:r>
          </a:p>
        </p:txBody>
      </p:sp>
      <p:pic>
        <p:nvPicPr>
          <p:cNvPr id="5" name="Picture 4" descr="kafe.jpg"/>
          <p:cNvPicPr>
            <a:picLocks noChangeAspect="1"/>
          </p:cNvPicPr>
          <p:nvPr/>
        </p:nvPicPr>
        <p:blipFill>
          <a:blip r:embed="rId2"/>
          <a:srcRect l="33407" r="33407"/>
          <a:stretch>
            <a:fillRect/>
          </a:stretch>
        </p:blipFill>
        <p:spPr>
          <a:xfrm>
            <a:off x="0" y="1879600"/>
            <a:ext cx="3028950" cy="4978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3671824"/>
            <a:ext cx="3028950" cy="3186176"/>
          </a:xfrm>
          <a:prstGeom prst="rect">
            <a:avLst/>
          </a:prstGeom>
          <a:gradFill rotWithShape="1">
            <a:gsLst>
              <a:gs pos="0">
                <a:srgbClr val="0E0A1B">
                  <a:alpha val="0"/>
                </a:srgbClr>
              </a:gs>
              <a:gs pos="42000">
                <a:srgbClr val="0E0A1B">
                  <a:alpha val="74000"/>
                </a:srgbClr>
              </a:gs>
              <a:gs pos="100000">
                <a:srgbClr val="0E0A1B">
                  <a:alpha val="9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utensils-crossed-l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00" y="5359400"/>
            <a:ext cx="254000" cy="254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9400" y="5715000"/>
            <a:ext cx="252095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Cafes and restaurants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400" y="5969000"/>
            <a:ext cx="252095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860" b="0">
                <a:solidFill>
                  <a:srgbClr val="C2BECE"/>
                </a:solidFill>
                <a:latin typeface="Inter"/>
              </a:rPr>
              <a:t>Menu, table tags, calling a waiter, the bill</a:t>
            </a:r>
          </a:p>
        </p:txBody>
      </p:sp>
      <p:pic>
        <p:nvPicPr>
          <p:cNvPr id="10" name="Picture 9" descr="mehmonxona.jpg"/>
          <p:cNvPicPr>
            <a:picLocks noChangeAspect="1"/>
          </p:cNvPicPr>
          <p:nvPr/>
        </p:nvPicPr>
        <p:blipFill>
          <a:blip r:embed="rId4"/>
          <a:srcRect l="33407" r="33407"/>
          <a:stretch>
            <a:fillRect/>
          </a:stretch>
        </p:blipFill>
        <p:spPr>
          <a:xfrm>
            <a:off x="3054350" y="1879600"/>
            <a:ext cx="3028950" cy="49784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54350" y="3671824"/>
            <a:ext cx="3028950" cy="3186176"/>
          </a:xfrm>
          <a:prstGeom prst="rect">
            <a:avLst/>
          </a:prstGeom>
          <a:gradFill rotWithShape="1">
            <a:gsLst>
              <a:gs pos="0">
                <a:srgbClr val="0E0A1B">
                  <a:alpha val="0"/>
                </a:srgbClr>
              </a:gs>
              <a:gs pos="42000">
                <a:srgbClr val="0E0A1B">
                  <a:alpha val="74000"/>
                </a:srgbClr>
              </a:gs>
              <a:gs pos="100000">
                <a:srgbClr val="0E0A1B">
                  <a:alpha val="9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bed-double-li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5359400"/>
            <a:ext cx="254000" cy="254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33750" y="5715000"/>
            <a:ext cx="252095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Hotels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3750" y="5969000"/>
            <a:ext cx="252095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860" b="0">
                <a:solidFill>
                  <a:srgbClr val="C2BECE"/>
                </a:solidFill>
                <a:latin typeface="Inter"/>
              </a:rPr>
              <a:t>Service list, room tags, housekeeping requests</a:t>
            </a:r>
          </a:p>
        </p:txBody>
      </p:sp>
      <p:pic>
        <p:nvPicPr>
          <p:cNvPr id="15" name="Picture 14" descr="salon.jpg"/>
          <p:cNvPicPr>
            <a:picLocks noChangeAspect="1"/>
          </p:cNvPicPr>
          <p:nvPr/>
        </p:nvPicPr>
        <p:blipFill>
          <a:blip r:embed="rId6"/>
          <a:srcRect l="26348" r="26348"/>
          <a:stretch>
            <a:fillRect/>
          </a:stretch>
        </p:blipFill>
        <p:spPr>
          <a:xfrm>
            <a:off x="6108700" y="1879600"/>
            <a:ext cx="3028950" cy="49784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108700" y="3671824"/>
            <a:ext cx="3028950" cy="3186176"/>
          </a:xfrm>
          <a:prstGeom prst="rect">
            <a:avLst/>
          </a:prstGeom>
          <a:gradFill rotWithShape="1">
            <a:gsLst>
              <a:gs pos="0">
                <a:srgbClr val="0E0A1B">
                  <a:alpha val="0"/>
                </a:srgbClr>
              </a:gs>
              <a:gs pos="42000">
                <a:srgbClr val="0E0A1B">
                  <a:alpha val="74000"/>
                </a:srgbClr>
              </a:gs>
              <a:gs pos="100000">
                <a:srgbClr val="0E0A1B">
                  <a:alpha val="9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store-lim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8100" y="5359400"/>
            <a:ext cx="254000" cy="254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88100" y="5715000"/>
            <a:ext cx="252095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Shops and salons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8100" y="5969000"/>
            <a:ext cx="252095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860" b="0">
                <a:solidFill>
                  <a:srgbClr val="C2BECE"/>
                </a:solidFill>
                <a:latin typeface="Inter"/>
              </a:rPr>
              <a:t>Prices, payment details, calling for help</a:t>
            </a:r>
          </a:p>
        </p:txBody>
      </p:sp>
      <p:pic>
        <p:nvPicPr>
          <p:cNvPr id="20" name="Picture 19" descr="klinika.jpg"/>
          <p:cNvPicPr>
            <a:picLocks noChangeAspect="1"/>
          </p:cNvPicPr>
          <p:nvPr/>
        </p:nvPicPr>
        <p:blipFill>
          <a:blip r:embed="rId8"/>
          <a:srcRect l="33407" r="33407"/>
          <a:stretch>
            <a:fillRect/>
          </a:stretch>
        </p:blipFill>
        <p:spPr>
          <a:xfrm>
            <a:off x="9163050" y="1879600"/>
            <a:ext cx="3028950" cy="49784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9163050" y="3671824"/>
            <a:ext cx="3028950" cy="3186176"/>
          </a:xfrm>
          <a:prstGeom prst="rect">
            <a:avLst/>
          </a:prstGeom>
          <a:gradFill rotWithShape="1">
            <a:gsLst>
              <a:gs pos="0">
                <a:srgbClr val="0E0A1B">
                  <a:alpha val="0"/>
                </a:srgbClr>
              </a:gs>
              <a:gs pos="42000">
                <a:srgbClr val="0E0A1B">
                  <a:alpha val="74000"/>
                </a:srgbClr>
              </a:gs>
              <a:gs pos="100000">
                <a:srgbClr val="0E0A1B">
                  <a:alpha val="9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2" name="Picture 21" descr="stethoscope-li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42450" y="5359400"/>
            <a:ext cx="254000" cy="25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442450" y="5715000"/>
            <a:ext cx="252095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Clinics and services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2450" y="5969000"/>
            <a:ext cx="252095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860" b="0">
                <a:solidFill>
                  <a:srgbClr val="C2BECE"/>
                </a:solidFill>
                <a:latin typeface="Inter"/>
              </a:rPr>
              <a:t>Services, prices, booking a slot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MARKET SIZE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Market size, in soum.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1879600"/>
            <a:ext cx="7112000" cy="9652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79600"/>
            <a:ext cx="57150" cy="9652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070100"/>
            <a:ext cx="762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 spc="100">
                <a:solidFill>
                  <a:srgbClr val="4D7C0F"/>
                </a:solidFill>
                <a:latin typeface="Space Grotesk"/>
              </a:rPr>
              <a:t>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2286000"/>
            <a:ext cx="3302000" cy="530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900" b="1" spc="-50">
                <a:solidFill>
                  <a:srgbClr val="0E0A1B"/>
                </a:solidFill>
                <a:latin typeface="Space Grotesk"/>
              </a:rPr>
              <a:t>209bn UZS / year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2800" y="2070100"/>
            <a:ext cx="3048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116,900 venues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2800" y="2311400"/>
            <a:ext cx="30988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5A5566"/>
                </a:solidFill>
                <a:latin typeface="Inter"/>
              </a:rPr>
              <a:t>Every catering, retail and accommodation business in Uzbekistan, at the lowest tariff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800" y="2971800"/>
            <a:ext cx="7112000" cy="9652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2800" y="2971800"/>
            <a:ext cx="57150" cy="965200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6800" y="3162300"/>
            <a:ext cx="762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 spc="100">
                <a:solidFill>
                  <a:srgbClr val="4D7C0F"/>
                </a:solidFill>
                <a:latin typeface="Space Grotesk"/>
              </a:rPr>
              <a:t>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6800" y="3378200"/>
            <a:ext cx="3302000" cy="530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900" b="1" spc="-50">
                <a:solidFill>
                  <a:srgbClr val="0E0A1B"/>
                </a:solidFill>
                <a:latin typeface="Space Grotesk"/>
              </a:rPr>
              <a:t>51.9bn UZS / year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2800" y="3162300"/>
            <a:ext cx="3048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29,000 venues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2800" y="3403600"/>
            <a:ext cx="30988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5A5566"/>
                </a:solidFill>
                <a:latin typeface="Inter"/>
              </a:rPr>
              <a:t>Tashkent and the regional capitals — what we can reach today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800" y="4064000"/>
            <a:ext cx="7112000" cy="9652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2800" y="4064000"/>
            <a:ext cx="57150" cy="965200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800" y="4254500"/>
            <a:ext cx="762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 spc="100">
                <a:solidFill>
                  <a:srgbClr val="4D7C0F"/>
                </a:solidFill>
                <a:latin typeface="Space Grotesk"/>
              </a:rPr>
              <a:t>SOM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6800" y="4470400"/>
            <a:ext cx="3302000" cy="530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900" b="1" spc="-50">
                <a:solidFill>
                  <a:srgbClr val="0E0A1B"/>
                </a:solidFill>
                <a:latin typeface="Space Grotesk"/>
              </a:rPr>
              <a:t>1.79bn UZS / year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2800" y="4254500"/>
            <a:ext cx="3048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1,000 venues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22800" y="4495800"/>
            <a:ext cx="30988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5A5566"/>
                </a:solidFill>
                <a:latin typeface="Inter"/>
              </a:rPr>
              <a:t>The three-year target. It is 0.9% of the whole market</a:t>
            </a:r>
          </a:p>
        </p:txBody>
      </p:sp>
      <p:pic>
        <p:nvPicPr>
          <p:cNvPr id="23" name="Picture 22" descr="utensils-crossed-o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6600" y="1930400"/>
            <a:ext cx="215900" cy="2159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86800" y="1879600"/>
            <a:ext cx="2794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 spc="-40">
                <a:solidFill>
                  <a:srgbClr val="0E0A1B"/>
                </a:solidFill>
                <a:latin typeface="Space Grotesk"/>
              </a:rPr>
              <a:t>29,582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2159000"/>
            <a:ext cx="2844800" cy="22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0">
                <a:solidFill>
                  <a:srgbClr val="5A5566"/>
                </a:solidFill>
                <a:latin typeface="Inter"/>
              </a:rPr>
              <a:t>catering businesses · 01.08.2026</a:t>
            </a:r>
          </a:p>
        </p:txBody>
      </p:sp>
      <p:pic>
        <p:nvPicPr>
          <p:cNvPr id="26" name="Picture 25" descr="store-ol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6600" y="2692400"/>
            <a:ext cx="215900" cy="2159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686800" y="2641600"/>
            <a:ext cx="2794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 spc="-40">
                <a:solidFill>
                  <a:srgbClr val="0E0A1B"/>
                </a:solidFill>
                <a:latin typeface="Space Grotesk"/>
              </a:rPr>
              <a:t>86,180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2921000"/>
            <a:ext cx="2844800" cy="22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0">
                <a:solidFill>
                  <a:srgbClr val="5A5566"/>
                </a:solidFill>
                <a:latin typeface="Inter"/>
              </a:rPr>
              <a:t>retail businesses · 01.01.2026</a:t>
            </a:r>
          </a:p>
        </p:txBody>
      </p:sp>
      <p:pic>
        <p:nvPicPr>
          <p:cNvPr id="29" name="Picture 28" descr="bed-double-ol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6600" y="3454400"/>
            <a:ext cx="215900" cy="2159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686800" y="3403600"/>
            <a:ext cx="2794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 spc="-40">
                <a:solidFill>
                  <a:srgbClr val="0E0A1B"/>
                </a:solidFill>
                <a:latin typeface="Space Grotesk"/>
              </a:rPr>
              <a:t>1,156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683000"/>
            <a:ext cx="2844800" cy="22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0">
                <a:solidFill>
                  <a:srgbClr val="5A5566"/>
                </a:solidFill>
                <a:latin typeface="Inter"/>
              </a:rPr>
              <a:t>hotels and accommodation · 2021</a:t>
            </a:r>
          </a:p>
        </p:txBody>
      </p:sp>
      <p:pic>
        <p:nvPicPr>
          <p:cNvPr id="32" name="Picture 31" descr="car-o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6600" y="4216400"/>
            <a:ext cx="215900" cy="2159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686800" y="4165600"/>
            <a:ext cx="2794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 spc="-40">
                <a:solidFill>
                  <a:srgbClr val="0E0A1B"/>
                </a:solidFill>
                <a:latin typeface="Space Grotesk"/>
              </a:rPr>
              <a:t>4.98m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4445000"/>
            <a:ext cx="2844800" cy="22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0">
                <a:solidFill>
                  <a:srgbClr val="5A5566"/>
                </a:solidFill>
                <a:latin typeface="Inter"/>
              </a:rPr>
              <a:t>vehicles owned by individuals · 01.07.2026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" y="5994400"/>
            <a:ext cx="8890000" cy="2179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780" b="0">
                <a:solidFill>
                  <a:srgbClr val="5A5566"/>
                </a:solidFill>
                <a:latin typeface="Inter"/>
              </a:rPr>
              <a:t>Source: State Committee on Statistics of the Republic of Uzbekistan (stat.uz). Subscription figures use the lowest tariff, 149,000 UZS a month.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The competitive picture.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46400" y="1905000"/>
            <a:ext cx="155956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spc="100">
                <a:solidFill>
                  <a:srgbClr val="8A849B"/>
                </a:solidFill>
                <a:latin typeface="Inter"/>
              </a:rPr>
              <a:t>PERSONAL NUMBER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32960" y="1905000"/>
            <a:ext cx="155956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spc="100">
                <a:solidFill>
                  <a:srgbClr val="8A849B"/>
                </a:solidFill>
                <a:latin typeface="Inter"/>
              </a:rPr>
              <a:t>VENUE HALF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19520" y="1905000"/>
            <a:ext cx="155956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spc="100">
                <a:solidFill>
                  <a:srgbClr val="8A849B"/>
                </a:solidFill>
                <a:latin typeface="Inter"/>
              </a:rPr>
              <a:t>LOCAL PAYMENT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6080" y="1905000"/>
            <a:ext cx="155956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spc="100">
                <a:solidFill>
                  <a:srgbClr val="8A849B"/>
                </a:solidFill>
                <a:latin typeface="Inter"/>
              </a:rPr>
              <a:t>STATISTICS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1905000"/>
            <a:ext cx="155956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spc="100">
                <a:solidFill>
                  <a:srgbClr val="8A849B"/>
                </a:solidFill>
                <a:latin typeface="Inter"/>
              </a:rPr>
              <a:t>THREE LANGUAGES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260600"/>
            <a:ext cx="10871200" cy="584200"/>
          </a:xfrm>
          <a:prstGeom prst="roundRect">
            <a:avLst>
              <a:gd name="adj" fmla="val 21739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2800" y="2413000"/>
            <a:ext cx="19558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ABFF09"/>
                </a:solidFill>
                <a:latin typeface="Space Grotesk"/>
              </a:rPr>
              <a:t>flex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6400" y="24257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C2BECE"/>
                </a:solidFill>
                <a:latin typeface="Inter"/>
              </a:rPr>
              <a:t>Yes · AAA000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2960" y="24257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C2BECE"/>
                </a:solidFill>
                <a:latin typeface="Inter"/>
              </a:rPr>
              <a:t>Yes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9520" y="24257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C2BECE"/>
                </a:solidFill>
                <a:latin typeface="Inter"/>
              </a:rPr>
              <a:t>Yes · Payme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6080" y="24257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C2BECE"/>
                </a:solidFill>
                <a:latin typeface="Inter"/>
              </a:rPr>
              <a:t>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4257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C2BECE"/>
                </a:solidFill>
                <a:latin typeface="Inter"/>
              </a:rPr>
              <a:t>Yes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2997200"/>
            <a:ext cx="19558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UNQX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6400" y="30099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Yes · three letters, three digits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2960" y="30099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9520" y="30099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Not known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6080" y="30099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Not known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30099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Not known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800" y="3429000"/>
            <a:ext cx="105664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2800" y="3581400"/>
            <a:ext cx="19558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Popl, V1CE, Linq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6400" y="35941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Yes · a link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2960" y="35941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9520" y="35941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6080" y="35941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0" y="35941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Partly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2800" y="4013200"/>
            <a:ext cx="105664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2800" y="4165600"/>
            <a:ext cx="19558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QR menu services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400" y="41783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32960" y="41783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Menu only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19520" y="41783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Partly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6080" y="41783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Partly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41783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2800" y="4597400"/>
            <a:ext cx="105664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2800" y="4749800"/>
            <a:ext cx="19558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A paper card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46400" y="47625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32960" y="47625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19520" y="47625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6080" y="47625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47625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2800" y="5181600"/>
            <a:ext cx="105664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2800" y="5918200"/>
            <a:ext cx="96520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UNQX is live in the Fergana Valley with personal profiles. Nobody local sells the venue half: menu, table requests, counter screen and a monthly report in one system.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The half a printed menu cannot do.</a:t>
            </a:r>
          </a:p>
        </p:txBody>
      </p:sp>
      <p:pic>
        <p:nvPicPr>
          <p:cNvPr id="5" name="Picture 4" descr="restoran.jpg"/>
          <p:cNvPicPr>
            <a:picLocks noChangeAspect="1"/>
          </p:cNvPicPr>
          <p:nvPr/>
        </p:nvPicPr>
        <p:blipFill>
          <a:blip r:embed="rId2"/>
          <a:srcRect l="33091" r="33091"/>
          <a:stretch>
            <a:fillRect/>
          </a:stretch>
        </p:blipFill>
        <p:spPr>
          <a:xfrm>
            <a:off x="812800" y="1905000"/>
            <a:ext cx="2362200" cy="3810000"/>
          </a:xfrm>
          <a:prstGeom prst="rect">
            <a:avLst/>
          </a:prstGeom>
        </p:spPr>
      </p:pic>
      <p:pic>
        <p:nvPicPr>
          <p:cNvPr id="6" name="Picture 5" descr="coun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8200" y="2378408"/>
            <a:ext cx="2260600" cy="286318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92800" y="1905000"/>
            <a:ext cx="304800" cy="304800"/>
          </a:xfrm>
          <a:prstGeom prst="roundRect">
            <a:avLst>
              <a:gd name="adj" fmla="val 33333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2800" y="1968500"/>
            <a:ext cx="3048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0" y="1943100"/>
            <a:ext cx="502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Every table has its own QR code and its own NFC tag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2800" y="2616200"/>
            <a:ext cx="304800" cy="304800"/>
          </a:xfrm>
          <a:prstGeom prst="roundRect">
            <a:avLst>
              <a:gd name="adj" fmla="val 33333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92800" y="2679700"/>
            <a:ext cx="3048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0" y="2654300"/>
            <a:ext cx="502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The guest taps it — the menu opens in their language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2800" y="3327400"/>
            <a:ext cx="304800" cy="304800"/>
          </a:xfrm>
          <a:prstGeom prst="roundRect">
            <a:avLst>
              <a:gd name="adj" fmla="val 33333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2800" y="3390900"/>
            <a:ext cx="3048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000" y="3365500"/>
            <a:ext cx="502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One tap: a waiter, the bill, or a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2800" y="4038600"/>
            <a:ext cx="304800" cy="304800"/>
          </a:xfrm>
          <a:prstGeom prst="roundRect">
            <a:avLst>
              <a:gd name="adj" fmla="val 33333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2800" y="4102100"/>
            <a:ext cx="3048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0" y="4076700"/>
            <a:ext cx="502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It lands on the phone by the till with the table number, and it rings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92800" y="4749800"/>
            <a:ext cx="304800" cy="304800"/>
          </a:xfrm>
          <a:prstGeom prst="roundRect">
            <a:avLst>
              <a:gd name="adj" fmla="val 33333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2800" y="4813300"/>
            <a:ext cx="3048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0" y="4787900"/>
            <a:ext cx="502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Nobody signs in — the phone stays on one link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WHAT A VENUE RECEIVES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8890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Printed on Monday, answering by Tuesday.</a:t>
            </a:r>
          </a:p>
        </p:txBody>
      </p:sp>
      <p:pic>
        <p:nvPicPr>
          <p:cNvPr id="5" name="Picture 4" descr="cards.png"/>
          <p:cNvPicPr>
            <a:picLocks noChangeAspect="1"/>
          </p:cNvPicPr>
          <p:nvPr/>
        </p:nvPicPr>
        <p:blipFill>
          <a:blip r:embed="rId2"/>
          <a:srcRect b="9630"/>
          <a:stretch>
            <a:fillRect/>
          </a:stretch>
        </p:blipFill>
        <p:spPr>
          <a:xfrm>
            <a:off x="812800" y="2006600"/>
            <a:ext cx="5334000" cy="309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2800" y="5283200"/>
            <a:ext cx="5334000" cy="2626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40" b="0">
                <a:solidFill>
                  <a:srgbClr val="5A5566"/>
                </a:solidFill>
                <a:latin typeface="Inter"/>
              </a:rPr>
              <a:t>The owner types the tables, prints the sheet and puts a card on each one. Every code carries its own table number.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3200" y="2006600"/>
            <a:ext cx="4826000" cy="50800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qr-code-ol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6400" y="2146300"/>
            <a:ext cx="228600" cy="228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12000" y="2171700"/>
            <a:ext cx="40894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0E0A1B"/>
                </a:solidFill>
                <a:latin typeface="Space Grotesk"/>
              </a:rPr>
              <a:t>A QR and NFC tag per table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53200" y="2641600"/>
            <a:ext cx="4826000" cy="50800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rinter-ol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0" y="2781300"/>
            <a:ext cx="228600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12000" y="2806700"/>
            <a:ext cx="40894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0E0A1B"/>
                </a:solidFill>
                <a:latin typeface="Space Grotesk"/>
              </a:rPr>
              <a:t>A sheet ready to print and cut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53200" y="3276600"/>
            <a:ext cx="4826000" cy="50800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bell-ring-o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6400" y="3416300"/>
            <a:ext cx="228600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12000" y="3441700"/>
            <a:ext cx="40894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0E0A1B"/>
                </a:solidFill>
                <a:latin typeface="Space Grotesk"/>
              </a:rPr>
              <a:t>A counter screen with sound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53200" y="3911600"/>
            <a:ext cx="4826000" cy="50800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hart-column-oli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6400" y="4051300"/>
            <a:ext cx="228600" cy="228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112000" y="4076700"/>
            <a:ext cx="40894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0E0A1B"/>
                </a:solidFill>
                <a:latin typeface="Space Grotesk"/>
              </a:rPr>
              <a:t>A monthly report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3200" y="4546600"/>
            <a:ext cx="4826000" cy="50800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languages-oliv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6400" y="4686300"/>
            <a:ext cx="228600" cy="228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12000" y="4711700"/>
            <a:ext cx="40894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0E0A1B"/>
                </a:solidFill>
                <a:latin typeface="Space Grotesk"/>
              </a:rPr>
              <a:t>Uzbek, Russian, English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A number once.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A venue every month.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2235200"/>
            <a:ext cx="3810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Personal number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2489200"/>
            <a:ext cx="38100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Priced by rarity · paid 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76800" y="22606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500" b="1" spc="-30">
                <a:solidFill>
                  <a:srgbClr val="ABFF09"/>
                </a:solidFill>
                <a:latin typeface="Space Grotesk"/>
              </a:rPr>
              <a:t>from 100,000 UZS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" y="2819400"/>
            <a:ext cx="71120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2800" y="3022600"/>
            <a:ext cx="3810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Device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3276600"/>
            <a:ext cx="38100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Card, ring or bracelet · paid 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6800" y="30480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500" b="1" spc="-30">
                <a:solidFill>
                  <a:srgbClr val="ABFF09"/>
                </a:solidFill>
                <a:latin typeface="Space Grotesk"/>
              </a:rPr>
              <a:t>200,000 – 350,000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2800" y="3606800"/>
            <a:ext cx="71120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800" y="3810000"/>
            <a:ext cx="3810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Venue, up to 15 points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4064000"/>
            <a:ext cx="38100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A cafe with twelve 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76800" y="38354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500" b="1" spc="-30">
                <a:solidFill>
                  <a:srgbClr val="ABFF09"/>
                </a:solidFill>
                <a:latin typeface="Space Grotesk"/>
              </a:rPr>
              <a:t>149,000 / mo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800" y="4394200"/>
            <a:ext cx="71120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2800" y="4597400"/>
            <a:ext cx="3810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Venue, up to 40 points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4851400"/>
            <a:ext cx="38100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A hotel with thirty rooms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76800" y="46228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500" b="1" spc="-30">
                <a:solidFill>
                  <a:srgbClr val="ABFF09"/>
                </a:solidFill>
                <a:latin typeface="Space Grotesk"/>
              </a:rPr>
              <a:t>299,000 / mo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800" y="5181600"/>
            <a:ext cx="71120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09000" y="2133600"/>
            <a:ext cx="2870200" cy="3225800"/>
          </a:xfrm>
          <a:prstGeom prst="roundRect">
            <a:avLst>
              <a:gd name="adj" fmla="val 6194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2" name="Picture 21" descr="file-text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8400" y="2438400"/>
            <a:ext cx="279400" cy="279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88400" y="2844800"/>
            <a:ext cx="23114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How they pay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88400" y="3175000"/>
            <a:ext cx="2311400" cy="2570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19" b="0">
                <a:solidFill>
                  <a:srgbClr val="8A849B"/>
                </a:solidFill>
                <a:latin typeface="Inter"/>
              </a:rPr>
              <a:t>Individuals pay by card through Payme. Venues and companies pay by invoice and bank transfer, which is how a business here actually pays.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THE ARITHMETIC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8890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Recurring revenue, at the smallest band.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133600"/>
            <a:ext cx="3378200" cy="2667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7600" y="2463800"/>
            <a:ext cx="2768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1" spc="120">
                <a:solidFill>
                  <a:srgbClr val="5A5566"/>
                </a:solidFill>
                <a:latin typeface="Inter"/>
              </a:rPr>
              <a:t>100 VENUES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2921000"/>
            <a:ext cx="2768600" cy="736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4200" b="1" spc="-160">
                <a:solidFill>
                  <a:srgbClr val="0E0A1B"/>
                </a:solidFill>
                <a:latin typeface="Space Grotesk"/>
              </a:rPr>
              <a:t>14.9M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3810000"/>
            <a:ext cx="2768600" cy="265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50" b="0">
                <a:solidFill>
                  <a:srgbClr val="5A5566"/>
                </a:solidFill>
                <a:latin typeface="Inter"/>
              </a:rPr>
              <a:t>a month · ≈ 179M UZS a year</a:t>
            </a:r>
          </a:p>
        </p:txBody>
      </p:sp>
      <p:sp>
        <p:nvSpPr>
          <p:cNvPr id="9" name="Rectangle 8"/>
          <p:cNvSpPr/>
          <p:nvPr/>
        </p:nvSpPr>
        <p:spPr>
          <a:xfrm>
            <a:off x="1117600" y="4343400"/>
            <a:ext cx="4318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68800" y="2133600"/>
            <a:ext cx="3378200" cy="2667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3600" y="2463800"/>
            <a:ext cx="2768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1" spc="120">
                <a:solidFill>
                  <a:srgbClr val="5A5566"/>
                </a:solidFill>
                <a:latin typeface="Inter"/>
              </a:rPr>
              <a:t>500 VENUES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3600" y="2921000"/>
            <a:ext cx="2768600" cy="736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4200" b="1" spc="-160">
                <a:solidFill>
                  <a:srgbClr val="0E0A1B"/>
                </a:solidFill>
                <a:latin typeface="Space Grotesk"/>
              </a:rPr>
              <a:t>74.5M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600" y="3810000"/>
            <a:ext cx="2768600" cy="265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50" b="0">
                <a:solidFill>
                  <a:srgbClr val="5A5566"/>
                </a:solidFill>
                <a:latin typeface="Inter"/>
              </a:rPr>
              <a:t>a month · ≈ 894M UZS a year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73600" y="4343400"/>
            <a:ext cx="4318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924800" y="2133600"/>
            <a:ext cx="3378200" cy="2667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463800"/>
            <a:ext cx="2768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1" spc="120">
                <a:solidFill>
                  <a:srgbClr val="5A5566"/>
                </a:solidFill>
                <a:latin typeface="Inter"/>
              </a:rPr>
              <a:t>1,000 VENUES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921000"/>
            <a:ext cx="2768600" cy="736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4200" b="1" spc="-160">
                <a:solidFill>
                  <a:srgbClr val="0E0A1B"/>
                </a:solidFill>
                <a:latin typeface="Space Grotesk"/>
              </a:rPr>
              <a:t>149M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810000"/>
            <a:ext cx="2768600" cy="265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50" b="0">
                <a:solidFill>
                  <a:srgbClr val="5A5566"/>
                </a:solidFill>
                <a:latin typeface="Inter"/>
              </a:rPr>
              <a:t>a month · ≈ 1.79B UZS a year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4343400"/>
            <a:ext cx="4318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5130800"/>
            <a:ext cx="9906000" cy="2570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19" b="0">
                <a:solidFill>
                  <a:srgbClr val="5A5566"/>
                </a:solidFill>
                <a:latin typeface="Inter"/>
              </a:rPr>
              <a:t>At the entry band of 149,000 UZS and nothing above it — a hotel or a larger restaurant pays twice that. Devices and personal numbers are not counted here at all. These are venue counts, not a market size.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This is not a first attempt.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260600"/>
            <a:ext cx="33782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ward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2489200"/>
            <a:ext cx="279400" cy="279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6800" y="2895600"/>
            <a:ext cx="2870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IT Park resident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32004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Official status, with its tax and export regime.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8800" y="2260600"/>
            <a:ext cx="33782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rocket-l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2800" y="2489200"/>
            <a:ext cx="279400" cy="279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22800" y="2895600"/>
            <a:ext cx="2870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Accelerators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2800" y="32004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We have been through several accelerator programmes.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4800" y="2260600"/>
            <a:ext cx="33782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users-l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8800" y="2489200"/>
            <a:ext cx="279400" cy="279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78800" y="2895600"/>
            <a:ext cx="2870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Public figures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8800" y="32004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Our NFC cards are carried by well-known people.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800" y="4114800"/>
            <a:ext cx="33782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car-li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00" y="4343400"/>
            <a:ext cx="279400" cy="2794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66800" y="4749800"/>
            <a:ext cx="2870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For cars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6800" y="50546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A car-tag series has been manufactured and sold.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8800" y="4114800"/>
            <a:ext cx="33782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2" name="Picture 21" descr="building-2-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22800" y="4343400"/>
            <a:ext cx="279400" cy="279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622800" y="4749800"/>
            <a:ext cx="2870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B2B sales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2800" y="50546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We have sold NFC hardware, sites and apps to cafes, shops, clothing stores and clinics.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24800" y="4114800"/>
            <a:ext cx="33782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6" name="Picture 25" descr="truck-lim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78800" y="4343400"/>
            <a:ext cx="279400" cy="279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178800" y="4749800"/>
            <a:ext cx="2870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Manufacturers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8800" y="50546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We work directly with the firms that make the hardware.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8890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Built, deployed, and running.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1879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500" y="1905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Personal profiles, devices, QR codes and analytics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2260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286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Venue menu and service list — in three languages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2641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667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A separate QR and NFC tag per table, with a printable sheet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3022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048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Guest requests: waiter, bill, housekeeping, reviews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3403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429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Counter screen with sound, and a screen that stays awake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" y="3784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3810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Monthly report: response time, busiest tables and hours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4165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191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Subscriptions, invoices and expiry reminders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4546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500" y="4572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Telegram sign-in · Payme integrated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81800" y="1854200"/>
            <a:ext cx="2413000" cy="381000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81800" y="1854200"/>
            <a:ext cx="2413000" cy="3810000"/>
          </a:xfrm>
          <a:prstGeom prst="roundRect">
            <a:avLst>
              <a:gd name="adj" fmla="val 7368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martphone-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1200" y="2184400"/>
            <a:ext cx="279400" cy="279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061200" y="2641600"/>
            <a:ext cx="18796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0E0A1B"/>
                </a:solidFill>
                <a:latin typeface="Space Grotesk"/>
              </a:rPr>
              <a:t>Open to anyone, today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61200" y="3149600"/>
            <a:ext cx="1879600" cy="24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880" b="0">
                <a:solidFill>
                  <a:srgbClr val="5A5566"/>
                </a:solidFill>
                <a:latin typeface="Inter"/>
              </a:rPr>
              <a:t>flex.com.uz/NAV001 is a real venue. Open it on your phone, read the menu, call a waiter, and watch it arrive at the till.</a:t>
            </a:r>
          </a:p>
        </p:txBody>
      </p:sp>
      <p:pic>
        <p:nvPicPr>
          <p:cNvPr id="26" name="Picture 25" descr="haqiqiy-kafe.jpg"/>
          <p:cNvPicPr>
            <a:picLocks noChangeAspect="1"/>
          </p:cNvPicPr>
          <p:nvPr/>
        </p:nvPicPr>
        <p:blipFill>
          <a:blip r:embed="rId3"/>
          <a:srcRect t="9460" b="5798"/>
          <a:stretch>
            <a:fillRect/>
          </a:stretch>
        </p:blipFill>
        <p:spPr>
          <a:xfrm>
            <a:off x="9499600" y="1854200"/>
            <a:ext cx="1879600" cy="35306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99600" y="5511800"/>
            <a:ext cx="18796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60" b="1" spc="110">
                <a:solidFill>
                  <a:srgbClr val="5A5566"/>
                </a:solidFill>
                <a:latin typeface="Inter"/>
              </a:rPr>
              <a:t>IN A REAL VENUE, TODAY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The next eighteen months.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2298700"/>
            <a:ext cx="10566400" cy="19050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2800" y="22352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ABFF09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800" y="2565400"/>
            <a:ext cx="24066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1" spc="110">
                <a:solidFill>
                  <a:srgbClr val="4D7C0F"/>
                </a:solidFill>
                <a:latin typeface="Inter"/>
              </a:rPr>
              <a:t>2026 · Q4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2819400"/>
            <a:ext cx="2406650" cy="363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E0A1B"/>
                </a:solidFill>
                <a:latin typeface="Space Grotesk"/>
              </a:rPr>
              <a:t>Go live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32258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2512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flex.com.uz and Payme certification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37592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7846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First 100 venues: cafes, salons, clinics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4292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3180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Car tags and object tags on sale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8850" y="22352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98850" y="2565400"/>
            <a:ext cx="24066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1" spc="110">
                <a:solidFill>
                  <a:srgbClr val="4D7C0F"/>
                </a:solidFill>
                <a:latin typeface="Inter"/>
              </a:rPr>
              <a:t>2027 · Q1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8850" y="2819400"/>
            <a:ext cx="2406650" cy="363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E0A1B"/>
                </a:solidFill>
                <a:latin typeface="Space Grotesk"/>
              </a:rPr>
              <a:t>Widen the product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8850" y="32258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8550" y="32512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Mobile app, with the partner team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8850" y="37592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8550" y="37846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Pet tags and the CV page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8850" y="4292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8550" y="43180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Invoicing and the monthly report automated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4900" y="22352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84900" y="2565400"/>
            <a:ext cx="24066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1" spc="110">
                <a:solidFill>
                  <a:srgbClr val="4D7C0F"/>
                </a:solidFill>
                <a:latin typeface="Inter"/>
              </a:rPr>
              <a:t>2027 · Q2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4900" y="2819400"/>
            <a:ext cx="2406650" cy="363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E0A1B"/>
                </a:solidFill>
                <a:latin typeface="Space Grotesk"/>
              </a:rPr>
              <a:t>Scale the selling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4900" y="32258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4600" y="32512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500 venues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84900" y="37592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4600" y="37846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A dealer network in the regional capitals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84900" y="4292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4600" y="43180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Volume agreements with manufacturers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70950" y="22352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70950" y="2565400"/>
            <a:ext cx="24066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1" spc="110">
                <a:solidFill>
                  <a:srgbClr val="4D7C0F"/>
                </a:solidFill>
                <a:latin typeface="Inter"/>
              </a:rPr>
              <a:t>2027 · Q3–Q4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70950" y="2819400"/>
            <a:ext cx="2406650" cy="363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E0A1B"/>
                </a:solidFill>
                <a:latin typeface="Space Grotesk"/>
              </a:rPr>
              <a:t>Across the border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70950" y="32258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0650" y="32512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1,000 venues — the SOM target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70950" y="37592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10650" y="37846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A pilot in Kazakhstan and Kyrgyzstan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70950" y="4292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10650" y="43180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Raise the seed round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2800" y="6019800"/>
            <a:ext cx="76200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5A5566"/>
                </a:solidFill>
                <a:latin typeface="Inter"/>
              </a:rPr>
              <a:t>Dates run from the close of the round.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Three things are true at once.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362200"/>
            <a:ext cx="3378200" cy="2413000"/>
          </a:xfrm>
          <a:prstGeom prst="roundRect">
            <a:avLst>
              <a:gd name="adj" fmla="val 7368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smartphone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2616200"/>
            <a:ext cx="279400" cy="279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6800" y="3048000"/>
            <a:ext cx="287020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The phones are ready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33782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Every phone sold in recent years reads NFC, and after 2020 a QR code on a table needs no explaining to anyone.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8800" y="2362200"/>
            <a:ext cx="3378200" cy="2413000"/>
          </a:xfrm>
          <a:prstGeom prst="roundRect">
            <a:avLst>
              <a:gd name="adj" fmla="val 7368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trending-up-l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2800" y="2616200"/>
            <a:ext cx="279400" cy="279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22800" y="3048000"/>
            <a:ext cx="287020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Service is the battleground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2800" y="33782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Cafes and hotels no longer compete on price alone. How fast somebody answers a table is a thing guests notice.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4800" y="2362200"/>
            <a:ext cx="3378200" cy="2413000"/>
          </a:xfrm>
          <a:prstGeom prst="roundRect">
            <a:avLst>
              <a:gd name="adj" fmla="val 7368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credit-card-l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8800" y="2616200"/>
            <a:ext cx="279400" cy="279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78800" y="3048000"/>
            <a:ext cx="287020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The rails exist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8800" y="33782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Payme and bank transfer make a monthly subscription collectable from a business — what turns this from a gadget into revenue.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23050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22352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2514600"/>
            <a:ext cx="4191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Who is building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3327400"/>
            <a:ext cx="41910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00" b="0">
                <a:solidFill>
                  <a:srgbClr val="5A5566"/>
                </a:solidFill>
                <a:latin typeface="Inter"/>
              </a:rPr>
              <a:t>Three people. Product, web and sales, all in-house. The first version was built without an outside team, and it is running today.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42000" y="2006600"/>
            <a:ext cx="5537200" cy="812800"/>
          </a:xfrm>
          <a:prstGeom prst="roundRect">
            <a:avLst>
              <a:gd name="adj" fmla="val 21875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70600" y="2184400"/>
            <a:ext cx="457200" cy="457200"/>
          </a:xfrm>
          <a:prstGeom prst="roundRect">
            <a:avLst>
              <a:gd name="adj" fmla="val 30555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70600" y="231140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0200" y="2222500"/>
            <a:ext cx="3048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0E0A1B"/>
                </a:solidFill>
                <a:latin typeface="Space Grotesk"/>
              </a:rPr>
              <a:t>Javohir Abrorov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0200" y="2463800"/>
            <a:ext cx="30480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>
                <a:solidFill>
                  <a:srgbClr val="4D7C0F"/>
                </a:solidFill>
                <a:latin typeface="Inter"/>
              </a:rPr>
              <a:t>Founder · AI engineer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74200" y="2336800"/>
            <a:ext cx="16764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MC LEGAL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42000" y="2997200"/>
            <a:ext cx="5537200" cy="812800"/>
          </a:xfrm>
          <a:prstGeom prst="roundRect">
            <a:avLst>
              <a:gd name="adj" fmla="val 21875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70600" y="3175000"/>
            <a:ext cx="457200" cy="457200"/>
          </a:xfrm>
          <a:prstGeom prst="roundRect">
            <a:avLst>
              <a:gd name="adj" fmla="val 30555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70600" y="330200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0200" y="3213100"/>
            <a:ext cx="3048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0E0A1B"/>
                </a:solidFill>
                <a:latin typeface="Space Grotesk"/>
              </a:rPr>
              <a:t>Zoirjon Abduvohidov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80200" y="3454400"/>
            <a:ext cx="30480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>
                <a:solidFill>
                  <a:srgbClr val="4D7C0F"/>
                </a:solidFill>
                <a:latin typeface="Inter"/>
              </a:rPr>
              <a:t>Web developer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4200" y="3327400"/>
            <a:ext cx="16764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Tompson School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42000" y="3987800"/>
            <a:ext cx="5537200" cy="812800"/>
          </a:xfrm>
          <a:prstGeom prst="roundRect">
            <a:avLst>
              <a:gd name="adj" fmla="val 21875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70600" y="4165600"/>
            <a:ext cx="457200" cy="457200"/>
          </a:xfrm>
          <a:prstGeom prst="roundRect">
            <a:avLst>
              <a:gd name="adj" fmla="val 30555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70600" y="429260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AA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80200" y="4203700"/>
            <a:ext cx="3048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0E0A1B"/>
                </a:solidFill>
                <a:latin typeface="Space Grotesk"/>
              </a:rPr>
              <a:t>Abdujabbor Ahmadjonov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0200" y="4445000"/>
            <a:ext cx="30480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>
                <a:solidFill>
                  <a:srgbClr val="4D7C0F"/>
                </a:solidFill>
                <a:latin typeface="Inter"/>
              </a:rPr>
              <a:t>Product manager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4200" y="4318000"/>
            <a:ext cx="16764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Canada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il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E0A1B">
                  <a:alpha val="92000"/>
                </a:srgbClr>
              </a:gs>
              <a:gs pos="55000">
                <a:srgbClr val="0E0A1B">
                  <a:alpha val="82000"/>
                </a:srgbClr>
              </a:gs>
              <a:gs pos="100000">
                <a:srgbClr val="0E0A1B">
                  <a:alpha val="7000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THE 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939800"/>
            <a:ext cx="7874000" cy="78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4400" b="1" spc="-140">
                <a:solidFill>
                  <a:srgbClr val="ABFF09"/>
                </a:solidFill>
                <a:latin typeface="Space Grotesk"/>
              </a:rPr>
              <a:t>$50,000 – $100,000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1727200"/>
            <a:ext cx="66040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C2BECE"/>
                </a:solidFill>
                <a:latin typeface="Inter"/>
              </a:rPr>
              <a:t>Pre-seed · the product is built and running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2413000"/>
            <a:ext cx="762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ABFF09"/>
                </a:solidFill>
                <a:latin typeface="Space Grotesk"/>
              </a:rPr>
              <a:t>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1800" y="2438400"/>
            <a:ext cx="5461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Device stock: cards, rings, bracelets and table tags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997200"/>
            <a:ext cx="762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ABFF09"/>
                </a:solidFill>
                <a:latin typeface="Space Grotesk"/>
              </a:rPr>
              <a:t>35%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1800" y="3022600"/>
            <a:ext cx="5461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Sales and installation for the first 100 venues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3581400"/>
            <a:ext cx="762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ABFF09"/>
                </a:solidFill>
                <a:latin typeface="Space Grotesk"/>
              </a:rPr>
              <a:t>15%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1800" y="3606800"/>
            <a:ext cx="5461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4165600"/>
            <a:ext cx="762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ABFF09"/>
                </a:solidFill>
                <a:latin typeface="Space Grotesk"/>
              </a:rPr>
              <a:t>10%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1800" y="4191000"/>
            <a:ext cx="5461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Marketing and events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4200" y="2260600"/>
            <a:ext cx="3175000" cy="2413000"/>
          </a:xfrm>
          <a:prstGeom prst="roundRect">
            <a:avLst>
              <a:gd name="adj" fmla="val 7368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3600" y="2540000"/>
            <a:ext cx="2667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Contact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3600" y="2921000"/>
            <a:ext cx="2667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960" b="0">
                <a:solidFill>
                  <a:srgbClr val="C2BECE"/>
                </a:solidFill>
                <a:latin typeface="Inter"/>
              </a:rPr>
              <a:t>Javohir Abrorov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960" b="0">
                <a:solidFill>
                  <a:srgbClr val="C2BECE"/>
                </a:solidFill>
                <a:latin typeface="Inter"/>
              </a:rPr>
              <a:t>sheyx2772@gmail.com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960" b="0">
                <a:solidFill>
                  <a:srgbClr val="C2BECE"/>
                </a:solidFill>
                <a:latin typeface="Inter"/>
              </a:rPr>
              <a:t>+998 97 724 79 99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960" b="0">
                <a:solidFill>
                  <a:srgbClr val="C2BECE"/>
                </a:solidFill>
                <a:latin typeface="Inter"/>
              </a:rPr>
              <a:t>flex.com.uz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