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1/20  ·  [3 DAQIQA]</a:t>
            </a:r>
          </a:p>
          <a:p/>
          <a:p>
            <a:r>
              <a:t>Assalomu alaykum. Men Javohir, FLEX asoschisi. Biz odamga va biznesga umrbod noyob raqam beramiz, va o'sha raqamni ochadigan NFC buyum sotamiz. Uch daqiqada nima qurayotganimizni va nega bu ishlayotganini aytaman.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2/20  ·  [3 DAQIQA]</a:t>
            </a:r>
          </a:p>
          <a:p/>
          <a:p>
            <a:r>
              <a:t>Sakkizta holat. Hammasi bitta sababdan: qog'oz bir marta bosiladi, hayot esa o'zgaraveradi. Vizitkadagi raqam o'zgaradi, menyudagi narx ko'tariladi, mashina oynasida raqam umuman yo'q. Bu ro'yxat bizning xayolimizdan chiqmagan — har birini mijoz o'zi aytgan.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3/20</a:t>
            </a:r>
          </a:p>
          <a:p/>
          <a:p>
            <a:r>
              <a:t>Yechim bitta mexanizm. Tegiziladi — sahifa ochiladi. Ilova o'rnatilmaydi, ro'yxatdan o'tilmaydi, hech kim hech narsa yuklab olmaydi. Bu jumla butun mahsulotni tushuntiradi.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4/20  ·  [3 DAQIQA]</a:t>
            </a:r>
          </a:p>
          <a:p/>
          <a:p>
            <a:r>
              <a:t>Chapda o'sha sakkizta muammo, o'ngda javobi. Diqqat qiling: bittasi ham kelajakda qiladigan ish emas — hammasi bugun ishlaydi. Biz muammoni sanab, keyin bitta yechim ko'rsatmayapmiz; bitta mexanizm sakkiz joyda ishlaydi.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5/20</a:t>
            </a:r>
          </a:p>
          <a:p/>
          <a:p>
            <a:r>
              <a:t>Bu qo'lga olinadigan qism. Sakkizta shakl, bitta tizim. Karta, uzuk va braslet — bir martalik savdo. Pastdagi to'rttasi obyektga ketadi va obuna bilan keladi. Narxlar oynada.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6/20  ·  [3 DAQIQA]</a:t>
            </a:r>
          </a:p>
          <a:p/>
          <a:p>
            <a:r>
              <a:t>Bizga eng ko'p beriladigan savol: NFC karta hammada bor, farqingiz nima. Farq kartada emas. Raqam mijozning o'ziga tegishli, sahifa istalgan payt o'zgaradi, statistika bor, uch til bor, Payme ulangan, va eng muhimi — obyekt qatlami bor. Karta bir bo'lak temir; qolgani platforma.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7/20</a:t>
            </a:r>
          </a:p>
          <a:p/>
          <a:p>
            <a:r>
              <a:t>Dizaynlarni o'zimiz chizganmiz. Raqobatchi mashina yoki multfilm logotipini bosadi — bu tovar belgisini buzish va uni har kim takrorlashi mumkin. Past raqamli seriyani esa hech kim takrorlay olmaydi. Bundan tashqari xaridor bir gap yozib, dizaynni sun'iy intellektga chizdiradi.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8/20</a:t>
            </a:r>
          </a:p>
          <a:p/>
          <a:p>
            <a:r>
              <a:t>Biz sotadigan xonalar. Kafe, mehmonxona, do'kon va salon, klinika. Suratlar mokap emas — bularning hammasi o'rnatilgan qurilma.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9/20  ·  [3 DAQIQA]</a:t>
            </a:r>
          </a:p>
          <a:p/>
          <a:p>
            <a:r>
              <a:t>Raqamlar Statistika qo'mitasidan, sanasi bilan — zaldan tekshirsangiz bo'ladi. Jami 116 900 obyekt. Eng past tarifda yiliga 209 mlrd so'm. Uch yillik maqsadimiz shundan 0,9 foizi. Ya'ni biz bozorni egallash haqida gapirmayapmiz — mingta obyekt haqida gapiryapmiz.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10/20</a:t>
            </a:r>
          </a:p>
          <a:p/>
          <a:p>
            <a:r>
              <a:t>Eng muhim qatorga qarang: obyekt yarmi. UNQX shaxsiy vizitka sotadi va shu bilan tugaydi. Popl va V1CE — xalqaro, lekin o'zbek tili ham, hisob-faktura ham yo'q. Mahalliy hech kim obyekt tomonini sotmaydi. Ular bir marta sotadi, biz har oy to'lov olamiz.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11/20</a:t>
            </a:r>
          </a:p>
          <a:p/>
          <a:p>
            <a:r>
              <a:t>Obyekt qanday ishlaydi. Har stolning o'z kodi bor, mehmon tegizadi, so'rov kassaga stol raqami bilan tushadi va ovoz chiqaradi. Ofitsiant qo'l ko'targan stolni izlamaydi — ekran aytadi.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12/20</a:t>
            </a:r>
          </a:p>
          <a:p/>
          <a:p>
            <a:r>
              <a:t>Bu o'rnatishning hammasi. Egasi stollarni yozadi, varaqni chop etadi va har stolga bittadan qo'yadi. Bizdan usta kelishi shart emas. Dushanba bosiladi, seshanba javob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13/20</a:t>
            </a:r>
          </a:p>
          <a:p/>
          <a:p>
            <a:r>
              <a:t>Ikki xil pul. Raqam va qurilma — bir marta. Obyekt — har oy. Firma hisob-faktura bilan to'laydi, chunki O'zbekistonda biznes aynan shunday to'laydi; kartadan to'lash taklif qilsangiz buxgalter rad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14/20  ·  [3 DAQIQA]</a:t>
            </a:r>
          </a:p>
          <a:p/>
          <a:p>
            <a:r>
              <a:t>Oddiy hisob. Mingta obyekt eng past tarifda — oyiga 149 million so'm. Bu eng past tarif; mehmonxona yoki kattaroq restoran ikki barobar to'laydi. Qurilmalar va shaxsiy raqamlar bu yerda hisobga olinmagan.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15/20</a:t>
            </a:r>
          </a:p>
          <a:p/>
          <a:p>
            <a:r>
              <a:t>Bu birinchi urinish emas. IT Park rezidentimiz, akseleratsiyalardan o'tganmiz, qurilma sotganmiz — kafe, do'kon, kiyim do'koni, shifoxona. Ishlab chiqaruvchi bilan bevosita ishlaymiz, ya'ni qurilma narxini o'zimiz boshqaramiz.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16/20  ·  [3 DAQIQA]</a:t>
            </a:r>
          </a:p>
          <a:p/>
          <a:p>
            <a:r>
              <a:t>Bu deckdagi yagona haqiqiy surat — qolgani render. Haqiqiy kafe, haqiqiy stol, ishlab turgan qurilma. Chapdagi ro'yxat — bugun ishlayotgan narsalar, kelajak rejasi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17/20</a:t>
            </a:r>
          </a:p>
          <a:p/>
          <a:p>
            <a:r>
              <a:t>O'n sakkiz oy. Birinchi chorak — Payme sertifikatsiyasi va yuzta obyekt. Keyin mahsulotni kengaytirish, keyin diler tarmog'i, keyin qo'shni bozorlar. Sanalar raund yopilgandan hisoblanadi.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18/20</a:t>
            </a:r>
          </a:p>
          <a:p/>
          <a:p>
            <a:r>
              <a:t>Nega aynan hozir. Telefonlar tayyor — NFC hammasida bor, QR'ni hech kimga tushuntirish kerak emas. Kafelar narxda emas, xizmatda raqobatlashyapti. Va to'lov yo'llari paydo bo'ldi: oylik obunani bizneslardan yig'ish endi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19/20</a:t>
            </a:r>
          </a:p>
          <a:p/>
          <a:p>
            <a:r>
              <a:t>Uch kishi. Mahsulot, veb va sotuv — hammasi ichkarida. Birinchi versiya tashqi jamoasiz qurildi va bugun ishlab turibdi.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20/20  ·  [3 DAQIQA]</a:t>
            </a:r>
          </a:p>
          <a:p/>
          <a:p>
            <a:r>
              <a:t>Pre-seed bosqichida 50 dan 100 minggacha dollar. Yarmidan ko'pi qurilmalar zaxirasi va birinchi yuzta obyektni o'rnatishga ketadi — ya'ni mahsulotga emas, sotuvga. Mahsulot allaqachon qurilgan. Rahmat.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6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31.jpg"/><Relationship Id="rId5" Type="http://schemas.openxmlformats.org/officeDocument/2006/relationships/image" Target="../media/image32.png"/><Relationship Id="rId6" Type="http://schemas.openxmlformats.org/officeDocument/2006/relationships/image" Target="../media/image33.jpg"/><Relationship Id="rId7" Type="http://schemas.openxmlformats.org/officeDocument/2006/relationships/image" Target="../media/image23.png"/><Relationship Id="rId8" Type="http://schemas.openxmlformats.org/officeDocument/2006/relationships/image" Target="../media/image34.jpg"/><Relationship Id="rId9" Type="http://schemas.openxmlformats.org/officeDocument/2006/relationships/image" Target="../media/image35.png"/><Relationship Id="rId10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jp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rilmalar.jpg"/>
          <p:cNvPicPr>
            <a:picLocks noChangeAspect="1"/>
          </p:cNvPicPr>
          <p:nvPr/>
        </p:nvPicPr>
        <p:blipFill>
          <a:blip r:embed="rId2"/>
          <a:srcRect l="388" r="38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0A1B">
                  <a:alpha val="97000"/>
                </a:srgbClr>
              </a:gs>
              <a:gs pos="34000">
                <a:srgbClr val="0E0A1B">
                  <a:alpha val="86000"/>
                </a:srgbClr>
              </a:gs>
              <a:gs pos="52000">
                <a:srgbClr val="0E0A1B">
                  <a:alpha val="30000"/>
                </a:srgbClr>
              </a:gs>
              <a:gs pos="68000">
                <a:srgbClr val="0E0A1B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ICT WEEK UZBEKISTAN · 2026 · PRE-SEED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939800"/>
            <a:ext cx="50800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5600" b="1" spc="-200">
                <a:solidFill>
                  <a:srgbClr val="FFFFFF"/>
                </a:solidFill>
                <a:latin typeface="Space Grotesk"/>
              </a:rPr>
              <a:t>flex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879600"/>
            <a:ext cx="7112000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700" b="1" spc="-60">
                <a:solidFill>
                  <a:srgbClr val="ABFF09"/>
                </a:solidFill>
                <a:latin typeface="Space Grotesk"/>
              </a:rPr>
              <a:t>Sizning raqamingiz — sizning shaxsingiz.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717800"/>
            <a:ext cx="5969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C2BECE"/>
                </a:solidFill>
                <a:latin typeface="Inter"/>
              </a:rPr>
              <a:t>Noyob raqam va uni ochadigan NFC buyum. Bir tegish — ilova o'rnatilmaydi.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MUAMMO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Ma'lumot hali ham qog'ozda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va og'zaki uzatiladi.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receipt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2616200"/>
            <a:ext cx="254000" cy="25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140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Qog'oz rekvizit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Kompaniya rekvizitlari qo'lda yozib beriladi. Bitta xato raqam — to'lov noto'g'ri hisobga tushadi.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615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car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2616200"/>
            <a:ext cx="254000" cy="25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1475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Parkovkada raqam yo'q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475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Mashina yo'lni to'sib qo'ydi. Oyna ortida telefon raqami yo'q, bo'lsa ham qo'lda yozilgan qog'oz.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950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paw-print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100" y="2616200"/>
            <a:ext cx="254000" cy="25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8810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Hayvon yo'qoladi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810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Bo'yinbog'da hech narsa yo'q. Topgan odam egasi bilan bog'lana olmaydi.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285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key-round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450" y="2616200"/>
            <a:ext cx="254000" cy="25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145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Kalit va buyum yo'qoladi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145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Sumka, kalit, chamadon — topilsa ham egasiga qaytmaydi.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80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credit-card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400" y="4425950"/>
            <a:ext cx="254000" cy="25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4140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Savdoda karta raqami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40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To'lov uchun karta raqami og'zaki aytiladi yoki qog'ozga yoziladi. Xato ham, xavf ham shu yerda.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8615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users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4425950"/>
            <a:ext cx="254000" cy="25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71475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Uchrashuvda almashish yo'q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475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Vizitka tugaydi, telefon raqamini terish uzoq. Uchrashuvdan keyin hech kim hech kimni topolmaydi.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950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-li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8100" y="4425950"/>
            <a:ext cx="254000" cy="25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8810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Brendni tanitish qiyin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810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Kichik biznesning nomi mijoz telefonida qolmaydi. Har safar noldan tanishtirish kerak.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3285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file-user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61450" y="4425950"/>
            <a:ext cx="254000" cy="254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6145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Rezyume uzatish qiyin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6145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PDF yuboriladi, havola yo'qoladi, versiyalar chalkashadi. Ish beruvchi eng eskisini ochadi.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BFF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35200"/>
            <a:ext cx="10160000" cy="1341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4800" b="1" spc="-160">
                <a:solidFill>
                  <a:srgbClr val="0E0A1B"/>
                </a:solidFill>
                <a:latin typeface="Space Grotesk"/>
              </a:rPr>
              <a:t>Bir tegish —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4800" b="1" spc="-160">
                <a:solidFill>
                  <a:srgbClr val="0E0A1B"/>
                </a:solidFill>
                <a:latin typeface="Space Grotesk"/>
              </a:rPr>
              <a:t>va sahifa ochiladi.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4064000"/>
            <a:ext cx="685800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5A5566"/>
                </a:solidFill>
                <a:latin typeface="Inter"/>
              </a:rPr>
              <a:t>Ilova o'rnatilmaydi. Ro'yxatdan o'tilmaydi. Mehmon o'z telefonini tegizadi, tamom.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YECHIM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546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Bitta raqam, bitta buyum,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sakkizta holat.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990600"/>
            <a:ext cx="4775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5A5566"/>
                </a:solidFill>
                <a:latin typeface="Inter"/>
              </a:rPr>
              <a:t>Har bir muammo bir xil tarzda hal bo'ladi: NFC buyumga tegiziladi yoki QR skanerlanadi — va o'sha vaziyat uchun kerakli sahifa ochiladi. Ilova o'rnatilmaydi.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2800" y="28067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23114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Qog'oz rekvizit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800" y="23114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Rekvizitlar sahifada — nusxalash tugmasi bilan, xatosiz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9200" y="28067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9200" y="23114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Parkovkada raqam yo'q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1200" y="23114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Avtovizitka: tegizadi — sizga qo'ng'iroq yoki xabar ketadi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00" y="34671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800" y="29718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Hayvon yo'qoladi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4800" y="29718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Bo'yinbog' tegi: topgan odam egasining sahifasini ochadi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9200" y="34671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9200" y="29718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Kalit va buyum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1200" y="29718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Buyum tegi: topilma egasiga qaytadi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41275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36322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Savdoda karta raqami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44800" y="36322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To'lov sahifasi: Payme orqali, raqam aytilmaydi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9200" y="41275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9200" y="36322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Uchrashuvda almashish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1200" y="36322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Bir tegish — kontakt telefonga saqlanadi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47879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42926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Brendni tanitish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4800" y="42926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Sahifa sizning brendingizda, mijoz telefonida qoladi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9200" y="47879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9200" y="42926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Rezyume uzatish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1200" y="42926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Bitta havola, doim eng oxirgi versiya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QURILMALARIMIZ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Qo'lga olinadigan mahsulot.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1844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kar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450" y="2260600"/>
            <a:ext cx="2032000" cy="101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600" y="33909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Karta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36068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Cho'ntakda, hamyonda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600" y="38735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200 000 so'm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2500" y="21844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uzu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0150" y="2260600"/>
            <a:ext cx="2032000" cy="101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70300" y="33909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Uzuk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0300" y="36068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Qo'lda, doim o'zingiz bilan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0300" y="38735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350 000 so'm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844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brasl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850" y="2260600"/>
            <a:ext cx="2032000" cy="10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50000" y="33909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Braslet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36068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Bilakda, tadbirlar uchun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38735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250 000 so'm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51900" y="21844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avtovizitka.jpg"/>
          <p:cNvPicPr>
            <a:picLocks noChangeAspect="1"/>
          </p:cNvPicPr>
          <p:nvPr/>
        </p:nvPicPr>
        <p:blipFill>
          <a:blip r:embed="rId5"/>
          <a:srcRect t="15027" b="15027"/>
          <a:stretch>
            <a:fillRect/>
          </a:stretch>
        </p:blipFill>
        <p:spPr>
          <a:xfrm>
            <a:off x="8953500" y="2286000"/>
            <a:ext cx="23241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29700" y="33909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Avtovizitka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9700" y="36068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Mashina old oynasida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9700" y="38735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Kelishuv bo'yicha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800" y="43307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hayvon-teg.jpg"/>
          <p:cNvPicPr>
            <a:picLocks noChangeAspect="1"/>
          </p:cNvPicPr>
          <p:nvPr/>
        </p:nvPicPr>
        <p:blipFill>
          <a:blip r:embed="rId6"/>
          <a:srcRect t="47330" b="7705"/>
          <a:stretch>
            <a:fillRect/>
          </a:stretch>
        </p:blipFill>
        <p:spPr>
          <a:xfrm>
            <a:off x="914400" y="4432300"/>
            <a:ext cx="2324100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90600" y="55372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Hayvon tegi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600" y="57531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Bo'yinbog'da — topilsa bog'lanadi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600" y="60198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Kelishuv bo'yicha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2500" y="43307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buyum-teg.jpg"/>
          <p:cNvPicPr>
            <a:picLocks noChangeAspect="1"/>
          </p:cNvPicPr>
          <p:nvPr/>
        </p:nvPicPr>
        <p:blipFill>
          <a:blip r:embed="rId7"/>
          <a:srcRect t="26993" b="22085"/>
          <a:stretch>
            <a:fillRect/>
          </a:stretch>
        </p:blipFill>
        <p:spPr>
          <a:xfrm>
            <a:off x="3594100" y="4432300"/>
            <a:ext cx="2324100" cy="9144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670300" y="55372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Buyum tegi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0300" y="57531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Kalit, sumka, chamadonda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70300" y="60198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Kelishuv bo'yicha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43307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stend2.jpg"/>
          <p:cNvPicPr>
            <a:picLocks noChangeAspect="1"/>
          </p:cNvPicPr>
          <p:nvPr/>
        </p:nvPicPr>
        <p:blipFill>
          <a:blip r:embed="rId8"/>
          <a:srcRect t="32475" b="32475"/>
          <a:stretch>
            <a:fillRect/>
          </a:stretch>
        </p:blipFill>
        <p:spPr>
          <a:xfrm>
            <a:off x="6273800" y="4432300"/>
            <a:ext cx="2324100" cy="9144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350000" y="55372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Stol qurilmasi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57531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Kafe, salon, klinika stoliga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0" y="60198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Obyekt tarifida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51900" y="43307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1" name="Picture 40" descr="konsyerj.jpg"/>
          <p:cNvPicPr>
            <a:picLocks noChangeAspect="1"/>
          </p:cNvPicPr>
          <p:nvPr/>
        </p:nvPicPr>
        <p:blipFill>
          <a:blip r:embed="rId9"/>
          <a:srcRect t="24854" b="24854"/>
          <a:stretch>
            <a:fillRect/>
          </a:stretch>
        </p:blipFill>
        <p:spPr>
          <a:xfrm>
            <a:off x="8953500" y="4432300"/>
            <a:ext cx="2324100" cy="914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029700" y="55372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Konsyerj plitasi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29700" y="57531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Mehmonxona xonasiga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29700" y="60198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Obyekt tarifida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FARQIMIZ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546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Bu oddiy NFC vizitka emas.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990600"/>
            <a:ext cx="4775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8A849B"/>
                </a:solidFill>
                <a:latin typeface="Inter"/>
              </a:rPr>
              <a:t>Bozorda NFC karta ko'p. Farq kartada emas — kartaning orqasida nima turganida.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80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sparkles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2171700"/>
            <a:ext cx="241300" cy="241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140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Raqam sizniki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AAA000 formatidagi noyob raqam. Past raqamli seriya takrorlanmaydi — uni boshqa hech kim bosib chiqara olmaydi.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615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oute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2171700"/>
            <a:ext cx="241300" cy="241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1475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Sahifa o'zgaradi, qurilma yo'q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475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Ish, raqam, kompaniya o'zgardi — sahifani tahrirlaysiz. Karta o'sha kartaligicha qoladi.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950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chart-column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100" y="2171700"/>
            <a:ext cx="241300" cy="241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8810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Statistika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810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Necha marta ochildi, qaysi havola bosildi, qaysi kundan. Qog'oz vizitka buni hech qachon aytmaydi.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3285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anguages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450" y="2171700"/>
            <a:ext cx="241300" cy="241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6145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Uch til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6145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O'zbek, rus, ingliz. Mehmon o'z tilida ko'radi.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0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qr-code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400" y="3905250"/>
            <a:ext cx="241300" cy="241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4140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NFC va QR birga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NFC yo'q telefon ham ochadi. Chop etilgan QR bilan ishlaydi.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8615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redit-card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3905250"/>
            <a:ext cx="241300" cy="2413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71475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Mahalliy to'lov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1475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Payme ulangan: obuna, hisob-faktura, muddat eslatmasi.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950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store-li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8100" y="3905250"/>
            <a:ext cx="241300" cy="2413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8810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Obyekt yarmi ham bor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Menyu, stol belgilari, ofitsiant chaqiruvi, kassa ekrani — bir tizimda.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3285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shield-check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61450" y="3905250"/>
            <a:ext cx="241300" cy="2413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06145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Ma'lumot sizniki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6145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Sahifani istalgan vaqtda o'chirasiz yoki boshqa qurilmaga ko'chirasiz.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DIZAYN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Bitta raqam, ko'p ko'rinish.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752600"/>
            <a:ext cx="812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>
                <a:solidFill>
                  <a:srgbClr val="5A5566"/>
                </a:solidFill>
                <a:latin typeface="Inter"/>
              </a:rPr>
              <a:t>Karta dizaynini egasi tanlaydi — o'zimiz chizganmiz, birovnikidan olinmagan. Past raqamli seriya esa takrorlanmaydi: uni boshqa hech kim bosib chiqara olmaydi.</a:t>
            </a:r>
          </a:p>
        </p:txBody>
      </p:sp>
      <p:pic>
        <p:nvPicPr>
          <p:cNvPr id="6" name="Picture 5" descr="xarita.jpg"/>
          <p:cNvPicPr>
            <a:picLocks noChangeAspect="1"/>
          </p:cNvPicPr>
          <p:nvPr/>
        </p:nvPicPr>
        <p:blipFill>
          <a:blip r:embed="rId2"/>
          <a:srcRect l="716" r="716"/>
          <a:stretch>
            <a:fillRect/>
          </a:stretch>
        </p:blipFill>
        <p:spPr>
          <a:xfrm>
            <a:off x="812800" y="3124200"/>
            <a:ext cx="2540000" cy="1625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Xarita</a:t>
            </a:r>
          </a:p>
        </p:txBody>
      </p:sp>
      <p:pic>
        <p:nvPicPr>
          <p:cNvPr id="8" name="Picture 7" descr="suzani.jpg"/>
          <p:cNvPicPr>
            <a:picLocks noChangeAspect="1"/>
          </p:cNvPicPr>
          <p:nvPr/>
        </p:nvPicPr>
        <p:blipFill>
          <a:blip r:embed="rId3"/>
          <a:srcRect l="716" r="716"/>
          <a:stretch>
            <a:fillRect/>
          </a:stretch>
        </p:blipFill>
        <p:spPr>
          <a:xfrm>
            <a:off x="3486150" y="3124200"/>
            <a:ext cx="2540000" cy="162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8615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Suzani</a:t>
            </a:r>
          </a:p>
        </p:txBody>
      </p:sp>
      <p:pic>
        <p:nvPicPr>
          <p:cNvPr id="10" name="Picture 9" descr="rahbar.jpg"/>
          <p:cNvPicPr>
            <a:picLocks noChangeAspect="1"/>
          </p:cNvPicPr>
          <p:nvPr/>
        </p:nvPicPr>
        <p:blipFill>
          <a:blip r:embed="rId4"/>
          <a:srcRect l="716" r="716"/>
          <a:stretch>
            <a:fillRect/>
          </a:stretch>
        </p:blipFill>
        <p:spPr>
          <a:xfrm>
            <a:off x="6159500" y="3124200"/>
            <a:ext cx="2540000" cy="1625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950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Rahbar</a:t>
            </a:r>
          </a:p>
        </p:txBody>
      </p:sp>
      <p:pic>
        <p:nvPicPr>
          <p:cNvPr id="12" name="Picture 11" descr="devops.jpg"/>
          <p:cNvPicPr>
            <a:picLocks noChangeAspect="1"/>
          </p:cNvPicPr>
          <p:nvPr/>
        </p:nvPicPr>
        <p:blipFill>
          <a:blip r:embed="rId5"/>
          <a:srcRect l="716" r="716"/>
          <a:stretch>
            <a:fillRect/>
          </a:stretch>
        </p:blipFill>
        <p:spPr>
          <a:xfrm>
            <a:off x="8832850" y="3124200"/>
            <a:ext cx="2540000" cy="1625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3285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BOZORIMIZ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Xizmat ko'rsatadigan har bir joy.</a:t>
            </a:r>
          </a:p>
        </p:txBody>
      </p:sp>
      <p:pic>
        <p:nvPicPr>
          <p:cNvPr id="5" name="Picture 4" descr="kafe.jpg"/>
          <p:cNvPicPr>
            <a:picLocks noChangeAspect="1"/>
          </p:cNvPicPr>
          <p:nvPr/>
        </p:nvPicPr>
        <p:blipFill>
          <a:blip r:embed="rId2"/>
          <a:srcRect l="33407" r="33407"/>
          <a:stretch>
            <a:fillRect/>
          </a:stretch>
        </p:blipFill>
        <p:spPr>
          <a:xfrm>
            <a:off x="0" y="1879600"/>
            <a:ext cx="3028950" cy="4978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utensils-crossed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" y="5359400"/>
            <a:ext cx="254000" cy="254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940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Kafe va restoran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40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Menyu, stol belgilari, ofitsiant chaqiruvi, hisob</a:t>
            </a:r>
          </a:p>
        </p:txBody>
      </p:sp>
      <p:pic>
        <p:nvPicPr>
          <p:cNvPr id="10" name="Picture 9" descr="mehmonxona.jpg"/>
          <p:cNvPicPr>
            <a:picLocks noChangeAspect="1"/>
          </p:cNvPicPr>
          <p:nvPr/>
        </p:nvPicPr>
        <p:blipFill>
          <a:blip r:embed="rId4"/>
          <a:srcRect l="33407" r="33407"/>
          <a:stretch>
            <a:fillRect/>
          </a:stretch>
        </p:blipFill>
        <p:spPr>
          <a:xfrm>
            <a:off x="3054350" y="1879600"/>
            <a:ext cx="3028950" cy="49784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5435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ed-double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5359400"/>
            <a:ext cx="254000" cy="25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3375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Mehmonxona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375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Xizmatlar ro'yxati, xona belgilari, tozalash so'rovi</a:t>
            </a:r>
          </a:p>
        </p:txBody>
      </p:sp>
      <p:pic>
        <p:nvPicPr>
          <p:cNvPr id="15" name="Picture 14" descr="salon.jpg"/>
          <p:cNvPicPr>
            <a:picLocks noChangeAspect="1"/>
          </p:cNvPicPr>
          <p:nvPr/>
        </p:nvPicPr>
        <p:blipFill>
          <a:blip r:embed="rId6"/>
          <a:srcRect l="26348" r="26348"/>
          <a:stretch>
            <a:fillRect/>
          </a:stretch>
        </p:blipFill>
        <p:spPr>
          <a:xfrm>
            <a:off x="6108700" y="1879600"/>
            <a:ext cx="3028950" cy="49784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10870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tore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8100" y="5359400"/>
            <a:ext cx="254000" cy="254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10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Do'kon va salon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10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Narxlar, rekvizitlar, yordam chaqiruvi</a:t>
            </a:r>
          </a:p>
        </p:txBody>
      </p:sp>
      <p:pic>
        <p:nvPicPr>
          <p:cNvPr id="20" name="Picture 19" descr="klinika.jpg"/>
          <p:cNvPicPr>
            <a:picLocks noChangeAspect="1"/>
          </p:cNvPicPr>
          <p:nvPr/>
        </p:nvPicPr>
        <p:blipFill>
          <a:blip r:embed="rId8"/>
          <a:srcRect l="33407" r="33407"/>
          <a:stretch>
            <a:fillRect/>
          </a:stretch>
        </p:blipFill>
        <p:spPr>
          <a:xfrm>
            <a:off x="9163050" y="1879600"/>
            <a:ext cx="3028950" cy="49784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16305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stethoscope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2450" y="5359400"/>
            <a:ext cx="254000" cy="25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44245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Klinika va xizmat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245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Xizmatlar, narxlar, navbatga yozilish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BOZOR HAJMI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Bozor hajmi — so'mda.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18796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79600"/>
            <a:ext cx="57150" cy="9652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0701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22860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209 mlrd so'm / yil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2800" y="20701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116 900 obyekt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2800" y="23114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O'zbekistondagi barcha umumiy ovqatlanish, chakana savdo va joylashtirish obyektlari, eng past tarif bo'yicha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800" y="29718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2800" y="2971800"/>
            <a:ext cx="57150" cy="96520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31623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" y="33782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51,9 mlrd so'm / yil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2800" y="31623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29 000 obyekt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2800" y="34036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Toshkent va viloyat markazlari — bugun yetib boradigan qismimiz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800" y="40640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2800" y="4064000"/>
            <a:ext cx="57150" cy="96520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800" y="42545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" y="44704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1,79 mlrd so'm / yil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2800" y="42545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1 000 obyekt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2800" y="44958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Uch yillik maqsad. Bu jami bozorning 0,9 foizi</a:t>
            </a:r>
          </a:p>
        </p:txBody>
      </p:sp>
      <p:pic>
        <p:nvPicPr>
          <p:cNvPr id="23" name="Picture 22" descr="utensils-crossed-o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600" y="1930400"/>
            <a:ext cx="215900" cy="2159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0" y="1879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29 582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2159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umumiy ovqatlanish korxonasi · 01.08.2026</a:t>
            </a:r>
          </a:p>
        </p:txBody>
      </p:sp>
      <p:pic>
        <p:nvPicPr>
          <p:cNvPr id="26" name="Picture 25" descr="store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600" y="2692400"/>
            <a:ext cx="215900" cy="215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686800" y="2641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86 180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2921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chakana savdo korxonasi · 01.01.2026</a:t>
            </a:r>
          </a:p>
        </p:txBody>
      </p:sp>
      <p:pic>
        <p:nvPicPr>
          <p:cNvPr id="29" name="Picture 28" descr="bed-double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6600" y="3454400"/>
            <a:ext cx="215900" cy="2159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86800" y="3403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1 156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683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mehmonxona va joylashtirish vositasi · 2021</a:t>
            </a:r>
          </a:p>
        </p:txBody>
      </p:sp>
      <p:pic>
        <p:nvPicPr>
          <p:cNvPr id="32" name="Picture 31" descr="car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6600" y="4216400"/>
            <a:ext cx="215900" cy="2159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686800" y="4165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4,98 mln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445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jismoniy shaxslarga tegishli avtotransport · 01.07.2026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5994400"/>
            <a:ext cx="8890000" cy="2179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780" b="0">
                <a:solidFill>
                  <a:srgbClr val="5A5566"/>
                </a:solidFill>
                <a:latin typeface="Inter"/>
              </a:rPr>
              <a:t>Manba: O'zbekiston Respublikasi Statistika qo'mitasi (stat.uz). Obuna hisobi eng past tarif — oyiga 149 000 so'm — bo'yicha olingan.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RAQOBAT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Raqobatchilar tahlili.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4640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SHAXSIY RAQAM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3296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OBYEKT YARMI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1952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MAHALLIY TO'LOV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608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STATISTIKA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UCH TIL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260600"/>
            <a:ext cx="10871200" cy="584200"/>
          </a:xfrm>
          <a:prstGeom prst="roundRect">
            <a:avLst>
              <a:gd name="adj" fmla="val 21739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800" y="24130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ABFF09"/>
                </a:solidFill>
                <a:latin typeface="Space Grotesk"/>
              </a:rPr>
              <a:t>flex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640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 · AAA000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296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952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 · Payme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608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29972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UNQX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640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Ha · uch harf, uch raqam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296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952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Ma'lum emas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608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Ma'lum emas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Ma'lum emas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800" y="34290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35814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Popl, V1CE, Linq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640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Ha · havola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296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952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608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Ha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Qisman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800" y="40132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" y="41656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QR-menyu servislari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40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296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Faqat menyu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1952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Qisman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608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Qisman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Ha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800" y="45974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800" y="47498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Qog'oz vizitka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4640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3296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1952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608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2800" y="51816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2800" y="5918200"/>
            <a:ext cx="9652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UNQX — Farg'ona vodiysida, shaxsiy profil bilan. Obyekt yarmini mahalliy hech kim sotmaydi: menyu, stol so'rovlari, kassa ekrani va oylik hisobot bitta tizimda.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QANDAY ISHLAYDI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Bosilgan menyu qila olmaydigan yarmi.</a:t>
            </a:r>
          </a:p>
        </p:txBody>
      </p:sp>
      <p:pic>
        <p:nvPicPr>
          <p:cNvPr id="5" name="Picture 4" descr="restoran.jpg"/>
          <p:cNvPicPr>
            <a:picLocks noChangeAspect="1"/>
          </p:cNvPicPr>
          <p:nvPr/>
        </p:nvPicPr>
        <p:blipFill>
          <a:blip r:embed="rId2"/>
          <a:srcRect l="33091" r="33091"/>
          <a:stretch>
            <a:fillRect/>
          </a:stretch>
        </p:blipFill>
        <p:spPr>
          <a:xfrm>
            <a:off x="812800" y="1905000"/>
            <a:ext cx="2362200" cy="3810000"/>
          </a:xfrm>
          <a:prstGeom prst="rect">
            <a:avLst/>
          </a:prstGeom>
        </p:spPr>
      </p:pic>
      <p:pic>
        <p:nvPicPr>
          <p:cNvPr id="6" name="Picture 5" descr="cou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200" y="2378408"/>
            <a:ext cx="2260600" cy="286318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2800" y="19050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2800" y="19685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0" y="19431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Har stolning o'z QR kodi va o'z NFC belgisi bor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2800" y="26162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92800" y="26797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0" y="26543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Mehmon tegizadi — menyu uning tilida ochiladi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2800" y="33274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2800" y="33909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33655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Bir tegish: ofitsiant, hisob yoki izoh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2800" y="40386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2800" y="41021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40767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So'rov kassadagi telefonga stol raqami bilan tushadi va ovoz chiqaradi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2800" y="47498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2800" y="48133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47879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Hech kim kirmaydi — telefon bitta havolada turaveradi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OBYEKT NIMA OLADI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Dushanba bosiladi, seshanba javob beradi.</a:t>
            </a:r>
          </a:p>
        </p:txBody>
      </p:sp>
      <p:pic>
        <p:nvPicPr>
          <p:cNvPr id="5" name="Picture 4" descr="cards.png"/>
          <p:cNvPicPr>
            <a:picLocks noChangeAspect="1"/>
          </p:cNvPicPr>
          <p:nvPr/>
        </p:nvPicPr>
        <p:blipFill>
          <a:blip r:embed="rId2"/>
          <a:srcRect b="9630"/>
          <a:stretch>
            <a:fillRect/>
          </a:stretch>
        </p:blipFill>
        <p:spPr>
          <a:xfrm>
            <a:off x="812800" y="2006600"/>
            <a:ext cx="5334000" cy="309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5283200"/>
            <a:ext cx="5334000" cy="2626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40" b="0">
                <a:solidFill>
                  <a:srgbClr val="5A5566"/>
                </a:solidFill>
                <a:latin typeface="Inter"/>
              </a:rPr>
              <a:t>Egasi stollarni yozadi, varaqni chop etadi va har stolga bittadan qo'yadi. Har bir kod o'z stol raqamini olib yuradi.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3200" y="200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qr-code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400" y="2146300"/>
            <a:ext cx="228600" cy="228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12000" y="217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Har stolga alohida QR va NFC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53200" y="2641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rinter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0" y="278130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12000" y="2806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Chop etiladigan kartochkalar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53200" y="327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bell-ring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6400" y="34163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12000" y="344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Ovozli kassa ekrani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53200" y="3911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art-column-oli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6400" y="4051300"/>
            <a:ext cx="228600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12000" y="4076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Oylik hisobot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3200" y="454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languages-oli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6400" y="4686300"/>
            <a:ext cx="228600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12000" y="471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O'zbek, rus, ingliz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BIZNES MODELI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Raqam bir marta.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Obyekt har 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22352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Shaxsiy raqam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24892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Kamyoblikka qarab · bir marta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0" y="22606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100 000 so'mdan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28194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800" y="30226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Qurilma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2766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Karta, uzuk yoki braslet · bir marta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800" y="30480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200 000 – 350 000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00" y="36068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800" y="38100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Obyekt, 15 nuqtagacha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40640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O'n ikki stolli kafe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6800" y="38354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oyiga 149 000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800" y="43942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800" y="45974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Obyekt, 40 nuqtagacha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48514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O'ttiz xonali mehmonxona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6800" y="46228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oyiga 299 000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51816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9000" y="2133600"/>
            <a:ext cx="2870200" cy="3225800"/>
          </a:xfrm>
          <a:prstGeom prst="roundRect">
            <a:avLst>
              <a:gd name="adj" fmla="val 6194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file-text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8400" y="2438400"/>
            <a:ext cx="279400" cy="279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88400" y="2844800"/>
            <a:ext cx="23114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Qanday to'laydi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8400" y="3175000"/>
            <a:ext cx="2311400" cy="257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19" b="0">
                <a:solidFill>
                  <a:srgbClr val="8A849B"/>
                </a:solidFill>
                <a:latin typeface="Inter"/>
              </a:rPr>
              <a:t>Jismoniy shaxs — Payme orqali. Obyekt va firma — hisob-faktura va bank o'tkazmasi bilan, bizda biznes aynan shunday to'laydi.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HISOB-KITOB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Eng past tarifda takrorlanuvchi daromad.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7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100 OBYEKT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14,9 mln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oyiga · yiliga ≈ 179 mln so'm</a:t>
            </a:r>
          </a:p>
        </p:txBody>
      </p:sp>
      <p:sp>
        <p:nvSpPr>
          <p:cNvPr id="9" name="Rectangle 8"/>
          <p:cNvSpPr/>
          <p:nvPr/>
        </p:nvSpPr>
        <p:spPr>
          <a:xfrm>
            <a:off x="1117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68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3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500 OBYEKT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74,5 mln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oyiga · yiliga ≈ 894 mln so'm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73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24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1 000 OBYEKT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149 mln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oyiga · yiliga ≈ 1,79 mlrd so'm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5130800"/>
            <a:ext cx="9906000" cy="257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19" b="0">
                <a:solidFill>
                  <a:srgbClr val="5A5566"/>
                </a:solidFill>
                <a:latin typeface="Inter"/>
              </a:rPr>
              <a:t>Eng past 149 000 so'mlik tarif bo'yicha, undan yuqorisi hisobga olinmagan — mehmonxona yoki kattaroq restoran ikki barobar to'laydi. Qurilmalar va shaxsiy raqamlar bu yerda umuman sanalmagan. Bu bozor hajmi emas, obyektlar soni bo'yicha hisob.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BIZ KIMMIZ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Bu birinchi urinish emas.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ward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489200"/>
            <a:ext cx="279400" cy="279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6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IT Park rezidenti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Rasmiy status, soliq va eksport rejimi bilan.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rocket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489200"/>
            <a:ext cx="279400" cy="279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22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Akseleratsiyalar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2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Bir necha akseleratsiya dasturidan o'tganmiz.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users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800" y="2489200"/>
            <a:ext cx="279400" cy="279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78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Mashhur shaxslar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8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NFC rekvizitlarimiz taniqli shaxslarda ishlatilgan.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car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" y="4343400"/>
            <a:ext cx="279400" cy="279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66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Avtomobillarga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Avtovizitka seriyasi ishlab chiqarilgan va sotilgan.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8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building-2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2800" y="4343400"/>
            <a:ext cx="279400" cy="279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22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B2B sotuvlar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2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Kafe, do'kon, kiyim do'koni va shifoxonalarga NFC qurilma, sayt va ilova sotganmiz.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4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truck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8800" y="4343400"/>
            <a:ext cx="279400" cy="279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78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Yetkazib beruvchilar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8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Qurilma ishlab chiqaruvchi firmalar bilan to'g'ridan-to'g'ri ishlaymiz.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HOZIRGI HOLAT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Qurilgan, joylashtirilgan, ishlayapti.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879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1905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Shaxsiy profil, qurilmalar, QR va statistika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2260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286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Obyekt menyusi va xizmatlar ro'yxati — uch tilda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641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667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Har stolga alohida QR va NFC, chop etiladigan varaq bilan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02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048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Mehmon so'rovlari: ofitsiant, hisob, tozalash, izoh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03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429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Ovozli kassa ekrani va o'chmaydigan displey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3784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3810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Oylik hisobot: javob vaqti, gavjum stollar va soatlar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4165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191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Obuna, hisob-faktura va muddat eslatmalari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546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500" y="4572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Telegram orqali kirish · Payme ulangan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81800" y="1854200"/>
            <a:ext cx="2413000" cy="3810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81800" y="1854200"/>
            <a:ext cx="2413000" cy="3810000"/>
          </a:xfrm>
          <a:prstGeom prst="roundRect">
            <a:avLst>
              <a:gd name="adj" fmla="val 7368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martphon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200" y="2184400"/>
            <a:ext cx="279400" cy="279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61200" y="2641600"/>
            <a:ext cx="18796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Bugun har kim ochishi mumkin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1200" y="3149600"/>
            <a:ext cx="18796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flex.com.uz/NAV001 — haqiqiy obyekt. Telefoningizda oching, menyuni ko'ring, ofitsiant chaqiring va kassaga tushishini kuzating.</a:t>
            </a:r>
          </a:p>
        </p:txBody>
      </p:sp>
      <p:pic>
        <p:nvPicPr>
          <p:cNvPr id="26" name="Picture 25" descr="haqiqiy-kafe.jpg"/>
          <p:cNvPicPr>
            <a:picLocks noChangeAspect="1"/>
          </p:cNvPicPr>
          <p:nvPr/>
        </p:nvPicPr>
        <p:blipFill>
          <a:blip r:embed="rId3"/>
          <a:srcRect t="9460" b="5798"/>
          <a:stretch>
            <a:fillRect/>
          </a:stretch>
        </p:blipFill>
        <p:spPr>
          <a:xfrm>
            <a:off x="9499600" y="1854200"/>
            <a:ext cx="1879600" cy="3530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99600" y="5511800"/>
            <a:ext cx="18796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60" b="1" spc="110">
                <a:solidFill>
                  <a:srgbClr val="5A5566"/>
                </a:solidFill>
                <a:latin typeface="Inter"/>
              </a:rPr>
              <a:t>HAQIQIY OBYEKTDA, BUGUN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REJA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Keyingi o'n sakkiz oy.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2298700"/>
            <a:ext cx="10566400" cy="1905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280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ABFF09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2026 · IV CHORAK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Ishga tushirish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flex.com.uz domeni va Payme sertifikatsiyasi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Birinchi 100 obyekt: kafe, salon, klinika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Avtovizitka va buyum tegi seriyasi savdoda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885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885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I CHORAK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885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Mahsulotni kengaytirish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885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Mobil ilova — sherik jamoa bilan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885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855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Hayvon tegi va rezyume sahifasi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885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855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Hisob-faktura va oylik hisobot avtomatik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490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490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II CHORAK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490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Sotuvni ko'paytirish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490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460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500 obyekt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490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60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Viloyat markazlarida diler tarmog'i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490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Yetkazib beruvchilar bilan hajmli shartnoma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7095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7095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III–IV CHORAK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7095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Chegaradan tashqari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7095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065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1 000 obyekt — SOM maqsadi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095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1065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Qozog'iston va Qirg'iziston bo'yicha sinov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7095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1065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Seed bosqichiga chiqish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800" y="6019800"/>
            <a:ext cx="762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Sanalar investitsiya olingandan keyingi jadval bo'yicha.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NEGA HOZIR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Uchta narsa bir vaqtda ro'y berdi.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smartphone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616200"/>
            <a:ext cx="279400" cy="279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6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Telefonlar tayyor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So'nggi yillarda sotilgan har bir telefon NFC o'qiydi, QR kodni esa 2020 dan keyin hech kimga tushuntirish kerak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trending-up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616200"/>
            <a:ext cx="279400" cy="279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22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Raqobat — xizmatda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2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Kafe va mehmonxonalar endi faqat narxda raqobatlashmaydi. Stolga qancha tez javob berilishi — mehmon sezadigan narsa.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credit-card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800" y="2616200"/>
            <a:ext cx="279400" cy="279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78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To'lov yo'llari bor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8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Payme va bank o'tkazmasi oylik obunani bizneslardan yig'ish imkonini beradi — buyumni daromadga aylantiradigan narsa.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23050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22352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JAMOA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2514600"/>
            <a:ext cx="419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Kim qurayapti.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3327400"/>
            <a:ext cx="41910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>
                <a:solidFill>
                  <a:srgbClr val="5A5566"/>
                </a:solidFill>
                <a:latin typeface="Inter"/>
              </a:rPr>
              <a:t>Uch kishi. Mahsulot, veb va sotuv — hammasi ichkarida. Birinchi versiya tashqi jamoasiz qurildi va bugun ishlab turibdi.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0" y="20066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70600" y="21844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70600" y="23114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0200" y="22225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Javohir Abrorov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0200" y="24638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Asoschi · AI muhandis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74200" y="23368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MC LEGAL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42000" y="29972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70600" y="31750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70600" y="33020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200" y="32131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Zoirjon Abduvohidov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0200" y="34544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Veb dasturchi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4200" y="33274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Tompson School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2000" y="39878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70600" y="41656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70600" y="42926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AA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0200" y="42037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Abdujabbor Ahmadjonov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0200" y="44450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Mahsulot menejeri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4200" y="43180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Kanada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il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0A1B">
                  <a:alpha val="92000"/>
                </a:srgbClr>
              </a:gs>
              <a:gs pos="55000">
                <a:srgbClr val="0E0A1B">
                  <a:alpha val="82000"/>
                </a:srgbClr>
              </a:gs>
              <a:gs pos="100000">
                <a:srgbClr val="0E0A1B">
                  <a:alpha val="70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SO'ROV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939800"/>
            <a:ext cx="7874000" cy="78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400" b="1" spc="-140">
                <a:solidFill>
                  <a:srgbClr val="ABFF09"/>
                </a:solidFill>
                <a:latin typeface="Space Grotesk"/>
              </a:rPr>
              <a:t>$50 000 – $100 000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727200"/>
            <a:ext cx="66040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C2BECE"/>
                </a:solidFill>
                <a:latin typeface="Inter"/>
              </a:rPr>
              <a:t>Pre-seed · mahsulot qurilgan va ishlayapti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4130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800" y="24384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Qurilmalar zaxirasi: karta, uzuk, braslet, stol belgilari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9972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30226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Birinchi 100 obyekt: savdo va o'rnatish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5814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15%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36068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Jamoa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41656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1800" y="41910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Marketing va tadbirlar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4200" y="2260600"/>
            <a:ext cx="31750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3600" y="2540000"/>
            <a:ext cx="2667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Aloqa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3600" y="2921000"/>
            <a:ext cx="2667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Javohir Abrorov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sheyx2772@gmail.com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+998 97 724 79 99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flex.com.uz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