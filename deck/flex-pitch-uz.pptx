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5486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Arial"/>
              </a:rPr>
              <a:t>flex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01752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BFF09"/>
                </a:solidFill>
                <a:latin typeface="Arial"/>
              </a:rPr>
              <a:t>Sizning raqamingiz —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ABFF09"/>
                </a:solidFill>
                <a:latin typeface="Arial"/>
              </a:rPr>
              <a:t>sizning shaxsingiz.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480560"/>
            <a:ext cx="76809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B8794"/>
                </a:solidFill>
                <a:latin typeface="Arial"/>
              </a:rPr>
              <a:t>Noyob raqam va uni ochadigan NFC buyum.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8B8794"/>
                </a:solidFill>
                <a:latin typeface="Arial"/>
              </a:rPr>
              <a:t>Bir tegish. Ilova o'rnatilmaydi.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064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B8794"/>
                </a:solidFill>
                <a:latin typeface="Arial"/>
              </a:rPr>
              <a:t>ICT WEEK UZBEKISTAN  ·  2026  ·  PRE-SEED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58368"/>
            <a:ext cx="384048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6678"/>
                </a:solidFill>
                <a:latin typeface="Arial"/>
              </a:rPr>
              <a:t>MUAMMO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0E0A1B"/>
                </a:solidFill>
                <a:latin typeface="Arial"/>
              </a:rPr>
              <a:t>Qog'oz bir marta bosiladi.</a:t>
            </a:r>
          </a:p>
          <a:p>
            <a:pPr algn="l">
              <a:lnSpc>
                <a:spcPct val="95000"/>
              </a:lnSpc>
            </a:pPr>
            <a:r>
              <a:rPr sz="4000" b="1">
                <a:solidFill>
                  <a:srgbClr val="0E0A1B"/>
                </a:solidFill>
                <a:latin typeface="Arial"/>
              </a:rPr>
              <a:t>Qolgan hammasi o'zgaradi.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43200"/>
            <a:ext cx="310896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063240"/>
            <a:ext cx="327141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0E0A1B"/>
                </a:solidFill>
                <a:latin typeface="Arial"/>
              </a:rPr>
              <a:t>Vizitka bosilgan kuniyoq</a:t>
            </a:r>
          </a:p>
          <a:p>
            <a:pPr algn="l">
              <a:lnSpc>
                <a:spcPct val="110000"/>
              </a:lnSpc>
            </a:pPr>
            <a:r>
              <a:rPr sz="2000" b="1">
                <a:solidFill>
                  <a:srgbClr val="0E0A1B"/>
                </a:solidFill>
                <a:latin typeface="Arial"/>
              </a:rPr>
              <a:t>eskiradi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77639"/>
            <a:ext cx="327141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6B6678"/>
                </a:solidFill>
                <a:latin typeface="Arial"/>
              </a:rPr>
              <a:t>Yangi ish, yangi raqam, yangi kompaniya — quttidagi vizitkalar noto'g'ri bo'lib qoladi. Odamlar baribir uzatadi.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60138" y="2743200"/>
            <a:ext cx="310896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0138" y="3063240"/>
            <a:ext cx="327141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0E0A1B"/>
                </a:solidFill>
                <a:latin typeface="Arial"/>
              </a:rPr>
              <a:t>Menyu — o'tgan oygi</a:t>
            </a:r>
          </a:p>
          <a:p>
            <a:pPr algn="l">
              <a:lnSpc>
                <a:spcPct val="110000"/>
              </a:lnSpc>
            </a:pPr>
            <a:r>
              <a:rPr sz="2000" b="1">
                <a:solidFill>
                  <a:srgbClr val="0E0A1B"/>
                </a:solidFill>
                <a:latin typeface="Arial"/>
              </a:rPr>
              <a:t>narxlarning surati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0138" y="3977639"/>
            <a:ext cx="327141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6B6678"/>
                </a:solidFill>
                <a:latin typeface="Arial"/>
              </a:rPr>
              <a:t>Kafe qayta bosadi yoki ruchka bilan chizib tashlaydi. Tushda tugagan taom kechgacha hamma stolda turaveradi.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43036" y="2743200"/>
            <a:ext cx="310896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3036" y="3063240"/>
            <a:ext cx="327141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0E0A1B"/>
                </a:solidFill>
                <a:latin typeface="Arial"/>
              </a:rPr>
              <a:t>Stol hech narsa</a:t>
            </a:r>
          </a:p>
          <a:p>
            <a:pPr algn="l">
              <a:lnSpc>
                <a:spcPct val="110000"/>
              </a:lnSpc>
            </a:pPr>
            <a:r>
              <a:rPr sz="2000" b="1">
                <a:solidFill>
                  <a:srgbClr val="0E0A1B"/>
                </a:solidFill>
                <a:latin typeface="Arial"/>
              </a:rPr>
              <a:t>so'ray olmaydi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3036" y="3977639"/>
            <a:ext cx="327141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6B6678"/>
                </a:solidFill>
                <a:latin typeface="Arial"/>
              </a:rPr>
              <a:t>Mehmon qo'l ko'taradi va kimdir qaraguncha kutadi. Kafe esa qaysi stol qancha kutganini hech qachon bilmaydi.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678"/>
                </a:solidFill>
                <a:latin typeface="Arial"/>
              </a:rPr>
              <a:t>flex.com.uz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7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58368"/>
            <a:ext cx="384048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B8794"/>
                </a:solidFill>
                <a:latin typeface="Arial"/>
              </a:rPr>
              <a:t>FLEX 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Raqam, buyum va</a:t>
            </a:r>
          </a:p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uning ortidagi sahifa.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43200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8B8794"/>
                </a:solidFill>
                <a:latin typeface="Arial"/>
              </a:rPr>
              <a:t>Uch harf va uch raqam — MYN042 — manzilga aylanadi. Karta, uzuk, braslet yoki stol ustidagi belgi uni ochadi.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BFF09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297680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Mehmon o'z telefonini tegizadi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6460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BFF09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864608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Sahifa uning o'z tilida ochiladi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3153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BFF09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431536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Arial"/>
              </a:rPr>
              <a:t>Hech kim hech narsa o'rnatmaydi</a:t>
            </a:r>
          </a:p>
        </p:txBody>
      </p:sp>
      <p:pic>
        <p:nvPicPr>
          <p:cNvPr id="13" name="Picture 12" descr="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9855" y="868680"/>
            <a:ext cx="3185132" cy="55778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B8794"/>
                </a:solidFill>
                <a:latin typeface="Arial"/>
              </a:rPr>
              <a:t>flex.com.uz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B8794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58368"/>
            <a:ext cx="384048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6678"/>
                </a:solidFill>
                <a:latin typeface="Arial"/>
              </a:rPr>
              <a:t>IKKI MAHSULOT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0E0A1B"/>
                </a:solidFill>
                <a:latin typeface="Arial"/>
              </a:rPr>
              <a:t>Bitta platforma, ikki xil mijoz.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514600"/>
            <a:ext cx="5090007" cy="3429000"/>
          </a:xfrm>
          <a:prstGeom prst="roundRect">
            <a:avLst>
              <a:gd name="adj" fmla="val 5500"/>
            </a:avLst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880360"/>
            <a:ext cx="417560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0A1B"/>
                </a:solidFill>
                <a:latin typeface="Arial"/>
              </a:rPr>
              <a:t>Shaxsiy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401568"/>
            <a:ext cx="417560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C7A0A"/>
                </a:solidFill>
                <a:latin typeface="Arial"/>
              </a:rPr>
              <a:t>Umrbod sizniki bo'ladigan raqam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886200"/>
            <a:ext cx="4175607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E0A1B"/>
                </a:solidFill>
                <a:latin typeface="Arial"/>
              </a:rPr>
              <a:t>100 000 so'mdan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617720"/>
            <a:ext cx="4175607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0E0A1B"/>
                </a:solidFill>
                <a:latin typeface="Arial"/>
              </a:rPr>
              <a:t>·  Profil, havolalar, kontaktlar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0E0A1B"/>
                </a:solidFill>
                <a:latin typeface="Arial"/>
              </a:rPr>
              <a:t>·  Karta, uzuk yoki braslet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0E0A1B"/>
                </a:solidFill>
                <a:latin typeface="Arial"/>
              </a:rPr>
              <a:t>·  Kamyoblik bo'yicha narx, bir marta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4447" y="2514600"/>
            <a:ext cx="5090007" cy="3429000"/>
          </a:xfrm>
          <a:prstGeom prst="roundRect">
            <a:avLst>
              <a:gd name="adj" fmla="val 5500"/>
            </a:avLst>
          </a:prstGeom>
          <a:solidFill>
            <a:srgbClr val="0E0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647" y="2880360"/>
            <a:ext cx="417560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Arial"/>
              </a:rPr>
              <a:t>Obyekt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647" y="3401568"/>
            <a:ext cx="417560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B8794"/>
                </a:solidFill>
                <a:latin typeface="Arial"/>
              </a:rPr>
              <a:t>Kafe, mehmonxona va do'konlar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1647" y="3886200"/>
            <a:ext cx="4175607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BFF09"/>
                </a:solidFill>
                <a:latin typeface="Arial"/>
              </a:rPr>
              <a:t>oyiga 149 000 so'mdan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1647" y="4617720"/>
            <a:ext cx="4175607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8B8794"/>
                </a:solidFill>
                <a:latin typeface="Arial"/>
              </a:rPr>
              <a:t>·  Menyu va xizmatlar ro'yxati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8B8794"/>
                </a:solidFill>
                <a:latin typeface="Arial"/>
              </a:rPr>
              <a:t>·  Har stolga alohida belgi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8B8794"/>
                </a:solidFill>
                <a:latin typeface="Arial"/>
              </a:rPr>
              <a:t>·  Chaqiruv, kassa ekrani, hisobot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678"/>
                </a:solidFill>
                <a:latin typeface="Arial"/>
              </a:rPr>
              <a:t>flex.com.uz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7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58368"/>
            <a:ext cx="384048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B8794"/>
                </a:solidFill>
                <a:latin typeface="Arial"/>
              </a:rPr>
              <a:t>OBYEKT QANDAY ISHLAYDI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Bosilgan menyu qila olmaydigan yarmi.</a:t>
            </a:r>
          </a:p>
        </p:txBody>
      </p:sp>
      <p:pic>
        <p:nvPicPr>
          <p:cNvPr id="6" name="Picture 5" descr="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86000"/>
            <a:ext cx="2166934" cy="3794760"/>
          </a:xfrm>
          <a:prstGeom prst="rect">
            <a:avLst/>
          </a:prstGeom>
        </p:spPr>
      </p:pic>
      <p:pic>
        <p:nvPicPr>
          <p:cNvPr id="7" name="Picture 6" descr="coun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286000"/>
            <a:ext cx="2996118" cy="3794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903720" y="2459736"/>
            <a:ext cx="182880" cy="381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69480" y="2377440"/>
            <a:ext cx="41449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Har stolning o'z QR kodi va o'z NFC belgisi bor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3246120"/>
            <a:ext cx="182880" cy="381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3163824"/>
            <a:ext cx="41449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Mehmon tegizadi — menyu uning tilida ochiladi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4032504"/>
            <a:ext cx="182880" cy="381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9480" y="3950208"/>
            <a:ext cx="41449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Bir tegish: ofitsiantni chaqiradi, hisob so'raydi yoki izoh qoldiradi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03720" y="4818888"/>
            <a:ext cx="182880" cy="381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9480" y="4736592"/>
            <a:ext cx="41449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So'rov kassadagi telefonga stol raqami bilan tushadi va ovoz chiqaradi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5605272"/>
            <a:ext cx="182880" cy="381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5522976"/>
            <a:ext cx="414497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Hech kim kirmaydi: kassa telefoni bitta havolani ochib, o'shanda turadi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B8794"/>
                </a:solidFill>
                <a:latin typeface="Arial"/>
              </a:rPr>
              <a:t>flex.com.uz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B879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58368"/>
            <a:ext cx="384048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6678"/>
                </a:solidFill>
                <a:latin typeface="Arial"/>
              </a:rPr>
              <a:t>OBYEKT NIMA OLADI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0E0A1B"/>
                </a:solidFill>
                <a:latin typeface="Arial"/>
              </a:rPr>
              <a:t>Dushanba bosiladi, seshanba javob beradi.</a:t>
            </a:r>
          </a:p>
        </p:txBody>
      </p:sp>
      <p:pic>
        <p:nvPicPr>
          <p:cNvPr id="6" name="Picture 5" descr="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31720"/>
            <a:ext cx="5029200" cy="3233057"/>
          </a:xfrm>
          <a:prstGeom prst="rect">
            <a:avLst/>
          </a:prstGeom>
        </p:spPr>
      </p:pic>
      <p:pic>
        <p:nvPicPr>
          <p:cNvPr id="7" name="Picture 6" descr="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415" y="2148840"/>
            <a:ext cx="2593162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62356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678"/>
                </a:solidFill>
                <a:latin typeface="Arial"/>
              </a:rPr>
              <a:t>Egasi stollarni yozadi, varaqni chop etadi va har stolga bittadan qo'yadi. Har bir kod o'z stol raqamini olib yuradi — so'rov doim qayerdan kelganini aytadi.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678"/>
                </a:solidFill>
                <a:latin typeface="Arial"/>
              </a:rPr>
              <a:t>flex.com.uz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7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58368"/>
            <a:ext cx="384048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B8794"/>
                </a:solidFill>
                <a:latin typeface="Arial"/>
              </a:rPr>
              <a:t>BIZNES MODELI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Raqam bir marta sotib olinadi.</a:t>
            </a:r>
          </a:p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Obyekt har oy to'laydi.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90088"/>
            <a:ext cx="219456" cy="381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Shaxsiy raqam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99008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8794"/>
                </a:solidFill>
                <a:latin typeface="Arial"/>
              </a:rPr>
              <a:t>Kombinatsiya kamyobligiga qarab · bir marta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2606040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ABFF09"/>
                </a:solidFill>
                <a:latin typeface="Arial"/>
              </a:rPr>
              <a:t>100 000 so'mdan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22776"/>
            <a:ext cx="219456" cy="381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538728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Qurilma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92277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8794"/>
                </a:solidFill>
                <a:latin typeface="Arial"/>
              </a:rPr>
              <a:t>Karta, uzuk yoki braslet · bir marta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3538728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ABFF09"/>
                </a:solidFill>
                <a:latin typeface="Arial"/>
              </a:rPr>
              <a:t>200 000 – 350 000 so'm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855464"/>
            <a:ext cx="219456" cy="381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471416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Obyekt, 15 nuqtagacha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85546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8794"/>
                </a:solidFill>
                <a:latin typeface="Arial"/>
              </a:rPr>
              <a:t>O'n ikki stolli kafe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4471416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ABFF09"/>
                </a:solidFill>
                <a:latin typeface="Arial"/>
              </a:rPr>
              <a:t>oyiga 149 000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788152"/>
            <a:ext cx="219456" cy="381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40410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Obyekt, 40 nuqtagacha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78815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8794"/>
                </a:solidFill>
                <a:latin typeface="Arial"/>
              </a:rPr>
              <a:t>O'ttiz xonali mehmonxona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5404104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ABFF09"/>
                </a:solidFill>
                <a:latin typeface="Arial"/>
              </a:rPr>
              <a:t>oyiga 299 000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2615" y="2606040"/>
            <a:ext cx="3291840" cy="3063240"/>
          </a:xfrm>
          <a:prstGeom prst="roundRect">
            <a:avLst>
              <a:gd name="adj" fmla="val 7000"/>
            </a:avLst>
          </a:prstGeom>
          <a:solidFill>
            <a:srgbClr val="1A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34095" y="297180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ABFF09"/>
                </a:solidFill>
                <a:latin typeface="Arial"/>
              </a:rPr>
              <a:t>Qanday to'laydi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34095" y="3520440"/>
            <a:ext cx="246888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8B8794"/>
                </a:solidFill>
                <a:latin typeface="Arial"/>
              </a:rPr>
              <a:t>Jismoniy shaxs — Payme orqali karta bilan.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8B8794"/>
                </a:solidFill>
                <a:latin typeface="Arial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8B8794"/>
                </a:solidFill>
                <a:latin typeface="Arial"/>
              </a:rPr>
              <a:t>Obyekt va firma — hisob-faktura va bank o'tkazmasi bilan. Bizda biznes aynan shunday to'laydi.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B8794"/>
                </a:solidFill>
                <a:latin typeface="Arial"/>
              </a:rPr>
              <a:t>flex.com.uz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B8794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58368"/>
            <a:ext cx="384048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6678"/>
                </a:solidFill>
                <a:latin typeface="Arial"/>
              </a:rPr>
              <a:t>HISOB-KITOB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0E0A1B"/>
                </a:solidFill>
                <a:latin typeface="Arial"/>
              </a:rPr>
              <a:t>Eng past tarifda takrorlanuvchi daromad.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651760"/>
            <a:ext cx="3271418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61288" y="2971800"/>
            <a:ext cx="250332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6B6678"/>
                </a:solidFill>
                <a:latin typeface="Arial"/>
              </a:rPr>
              <a:t>100 obyekt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3520440"/>
            <a:ext cx="250332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E0A1B"/>
                </a:solidFill>
                <a:latin typeface="Arial"/>
              </a:rPr>
              <a:t>14,9 mln so'm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251960"/>
            <a:ext cx="250332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78"/>
                </a:solidFill>
                <a:latin typeface="Arial"/>
              </a:rPr>
              <a:t>≈ yiliga 179 mln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0138" y="2651760"/>
            <a:ext cx="3271418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4186" y="2971800"/>
            <a:ext cx="250332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6B6678"/>
                </a:solidFill>
                <a:latin typeface="Arial"/>
              </a:rPr>
              <a:t>500 obyekt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4186" y="3520440"/>
            <a:ext cx="250332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E0A1B"/>
                </a:solidFill>
                <a:latin typeface="Arial"/>
              </a:rPr>
              <a:t>74,5 mln so'm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4186" y="4251960"/>
            <a:ext cx="250332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78"/>
                </a:solidFill>
                <a:latin typeface="Arial"/>
              </a:rPr>
              <a:t>≈ yiliga 894 mln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3036" y="2651760"/>
            <a:ext cx="3271418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27084" y="2971800"/>
            <a:ext cx="250332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6B6678"/>
                </a:solidFill>
                <a:latin typeface="Arial"/>
              </a:rPr>
              <a:t>1 000 obyekt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7084" y="3520440"/>
            <a:ext cx="250332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E0A1B"/>
                </a:solidFill>
                <a:latin typeface="Arial"/>
              </a:rPr>
              <a:t>149 mln so'm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27084" y="4251960"/>
            <a:ext cx="250332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78"/>
                </a:solidFill>
                <a:latin typeface="Arial"/>
              </a:rPr>
              <a:t>≈ yiliga 1,79 mlrd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34924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6B6678"/>
                </a:solidFill>
                <a:latin typeface="Arial"/>
              </a:rPr>
              <a:t>Oyiga, eng past 149 000 so'mlik tarif bo'yicha va undan yuqorisi hisobga olinmagan — mehmonxona yoki kattaroq restoran ikki barobar to'laydi. Qurilmalar va shaxsiy raqamlar bu yerda umuman sanalmagan. Bu bozor hajmi emas, obyektlar soni bo'yicha hisob.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678"/>
                </a:solidFill>
                <a:latin typeface="Arial"/>
              </a:rPr>
              <a:t>flex.com.uz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7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58368"/>
            <a:ext cx="384048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B8794"/>
                </a:solidFill>
                <a:latin typeface="Arial"/>
              </a:rPr>
              <a:t>NEGA HOZIR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Uchta narsa bir vaqtda ro'y berdi.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5176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ABFF09"/>
                </a:solidFill>
                <a:latin typeface="Arial"/>
              </a:rPr>
              <a:t>Telefonlar tayyor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66360" y="2651760"/>
            <a:ext cx="624809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8B8794"/>
                </a:solidFill>
                <a:latin typeface="Arial"/>
              </a:rPr>
              <a:t>So'nggi yillarda sotilgan har bir telefon NFC o'qiydi, 2020 dan keyin esa stol ustidagi QR kodni hech kimga tushuntirish kerak emas.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58768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ABFF09"/>
                </a:solidFill>
                <a:latin typeface="Arial"/>
              </a:rPr>
              <a:t>Raqobat — xizmatda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6360" y="3858768"/>
            <a:ext cx="624809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8B8794"/>
                </a:solidFill>
                <a:latin typeface="Arial"/>
              </a:rPr>
              <a:t>Kafe va mehmonxonalar endi faqat narxda raqobatlashmaydi. Stolga qancha tez javob berilishi — mehmon sezadigan va yozadigan narsa.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065776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ABFF09"/>
                </a:solidFill>
                <a:latin typeface="Arial"/>
              </a:rPr>
              <a:t>To'lov yo'llari bor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5065776"/>
            <a:ext cx="624809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8B8794"/>
                </a:solidFill>
                <a:latin typeface="Arial"/>
              </a:rPr>
              <a:t>Payme va bank o'tkazmasi oylik obunani bizneslardan yig'ish imkonini beradi — bu buyumni daromadga aylantiradigan narsa.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B8794"/>
                </a:solidFill>
                <a:latin typeface="Arial"/>
              </a:rPr>
              <a:t>flex.com.uz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B8794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58368"/>
            <a:ext cx="384048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6678"/>
                </a:solidFill>
                <a:latin typeface="Arial"/>
              </a:rPr>
              <a:t>HOZIRGI HOLAT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0E0A1B"/>
                </a:solidFill>
                <a:latin typeface="Arial"/>
              </a:rPr>
              <a:t>Qurilgan, joylashtirilgan, ishlayapti.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569464"/>
            <a:ext cx="146304" cy="38100"/>
          </a:xfrm>
          <a:prstGeom prst="rect">
            <a:avLst/>
          </a:prstGeom>
          <a:solidFill>
            <a:srgbClr val="4D7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246888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0E0A1B"/>
                </a:solidFill>
                <a:latin typeface="Arial"/>
              </a:rPr>
              <a:t>Shaxsiy profil, qurilmalar, QR va statistika — ishlayapti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99232"/>
            <a:ext cx="146304" cy="38100"/>
          </a:xfrm>
          <a:prstGeom prst="rect">
            <a:avLst/>
          </a:prstGeom>
          <a:solidFill>
            <a:srgbClr val="4D7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" y="2898648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0E0A1B"/>
                </a:solidFill>
                <a:latin typeface="Arial"/>
              </a:rPr>
              <a:t>Obyekt: menyu va xizmatlar ro'yxati, uch tilda — ishlayapti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29000"/>
            <a:ext cx="146304" cy="38100"/>
          </a:xfrm>
          <a:prstGeom prst="rect">
            <a:avLst/>
          </a:prstGeom>
          <a:solidFill>
            <a:srgbClr val="4D7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4712" y="3328416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0E0A1B"/>
                </a:solidFill>
                <a:latin typeface="Arial"/>
              </a:rPr>
              <a:t>Har stolga alohida QR va NFC, chop etiladigan varaq bilan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858768"/>
            <a:ext cx="146304" cy="38100"/>
          </a:xfrm>
          <a:prstGeom prst="rect">
            <a:avLst/>
          </a:prstGeom>
          <a:solidFill>
            <a:srgbClr val="4D7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4712" y="3758184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0E0A1B"/>
                </a:solidFill>
                <a:latin typeface="Arial"/>
              </a:rPr>
              <a:t>Mehmon so'rovlari: ofitsiant, hisob, tozalash, izohlar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288536"/>
            <a:ext cx="146304" cy="38100"/>
          </a:xfrm>
          <a:prstGeom prst="rect">
            <a:avLst/>
          </a:prstGeom>
          <a:solidFill>
            <a:srgbClr val="4D7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24712" y="4187952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0E0A1B"/>
                </a:solidFill>
                <a:latin typeface="Arial"/>
              </a:rPr>
              <a:t>Ovozli kassa ekrani va o'chmaydigan displey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718304"/>
            <a:ext cx="146304" cy="38100"/>
          </a:xfrm>
          <a:prstGeom prst="rect">
            <a:avLst/>
          </a:prstGeom>
          <a:solidFill>
            <a:srgbClr val="4D7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24712" y="461772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0E0A1B"/>
                </a:solidFill>
                <a:latin typeface="Arial"/>
              </a:rPr>
              <a:t>Oylik hisobot: javob vaqti, gavjum stollar va soatlar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148072"/>
            <a:ext cx="146304" cy="38100"/>
          </a:xfrm>
          <a:prstGeom prst="rect">
            <a:avLst/>
          </a:prstGeom>
          <a:solidFill>
            <a:srgbClr val="4D7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24712" y="5047488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0E0A1B"/>
                </a:solidFill>
                <a:latin typeface="Arial"/>
              </a:rPr>
              <a:t>Obuna, hisob-faktura va muddat eslatmalari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577840"/>
            <a:ext cx="146304" cy="38100"/>
          </a:xfrm>
          <a:prstGeom prst="rect">
            <a:avLst/>
          </a:prstGeom>
          <a:solidFill>
            <a:srgbClr val="4D7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24712" y="5477256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0E0A1B"/>
                </a:solidFill>
                <a:latin typeface="Arial"/>
              </a:rPr>
              <a:t>Telegram orqali kirish · Payme ulangan · o'zbek, rus, ingliz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99655" y="2377440"/>
            <a:ext cx="4114800" cy="3017520"/>
          </a:xfrm>
          <a:prstGeom prst="roundRect">
            <a:avLst>
              <a:gd name="adj" fmla="val 5500"/>
            </a:avLst>
          </a:prstGeom>
          <a:solidFill>
            <a:srgbClr val="0E0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11135" y="2743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BFF09"/>
                </a:solidFill>
                <a:latin typeface="Arial"/>
              </a:rPr>
              <a:t>Bugun har kim ochishi mumkin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11135" y="3291840"/>
            <a:ext cx="32918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>
                <a:solidFill>
                  <a:srgbClr val="8B8794"/>
                </a:solidFill>
                <a:latin typeface="Arial"/>
              </a:rPr>
              <a:t>·  flex.com.uz/NAV001 — haqiqiy obyekt, telefoningizda oching</a:t>
            </a:r>
          </a:p>
          <a:p>
            <a:pPr algn="l">
              <a:lnSpc>
                <a:spcPct val="155000"/>
              </a:lnSpc>
            </a:pPr>
            <a:r>
              <a:rPr sz="1200" b="0">
                <a:solidFill>
                  <a:srgbClr val="8B8794"/>
                </a:solidFill>
                <a:latin typeface="Arial"/>
              </a:rPr>
              <a:t>·  Menyuni oching, ofitsiant chaqiring, kassaga tushishini ko'ring</a:t>
            </a:r>
          </a:p>
          <a:p>
            <a:pPr algn="l">
              <a:lnSpc>
                <a:spcPct val="155000"/>
              </a:lnSpc>
            </a:pPr>
            <a:r>
              <a:rPr sz="1200" b="0">
                <a:solidFill>
                  <a:srgbClr val="8B8794"/>
                </a:solidFill>
                <a:latin typeface="Arial"/>
              </a:rPr>
              <a:t>·  Keyingisi — Payme sertifikatsiyasi va birinchi to'lovchi obyektlar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678"/>
                </a:solidFill>
                <a:latin typeface="Arial"/>
              </a:rPr>
              <a:t>flex.com.uz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78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58368"/>
            <a:ext cx="384048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B8794"/>
                </a:solidFill>
                <a:latin typeface="Arial"/>
              </a:rPr>
              <a:t>RAQOBAT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Obyekt yarmini mahalliy hech kim sotmaydi.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517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UNQX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3320" y="265176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B8794"/>
                </a:solidFill>
                <a:latin typeface="Arial"/>
              </a:rPr>
              <a:t>Xuddi shu uch harf, uch raqam formati. Faqat shaxsiy profil. Farg'ona vodiysida ishlayapti.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651760"/>
            <a:ext cx="3779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ABFF09"/>
                </a:solidFill>
                <a:latin typeface="Arial"/>
              </a:rPr>
              <a:t>Menyu yo'q, stol yo'q, so'rov yo'q — takrorlanuvchi yarmi yetishmaydi.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033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Xalqaro NFC kartalar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70332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B8794"/>
                </a:solidFill>
                <a:latin typeface="Arial"/>
              </a:rPr>
              <a:t>Popl va boshqalar. Shaxsiy profil, butun dunyoda.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703320"/>
            <a:ext cx="3779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ABFF09"/>
                </a:solidFill>
                <a:latin typeface="Arial"/>
              </a:rPr>
              <a:t>Mahalliy to'lov yo'q, buxgalterga hisob-faktura yo'q, o'zbek tili yo'q.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754879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Qog'oz va ruchka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4754879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B8794"/>
                </a:solidFill>
                <a:latin typeface="Arial"/>
              </a:rPr>
              <a:t>Bugun har bir kafe shundan foydalanadi. Bepul, va har narx o'zgarganda qayta bosiladi.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54879"/>
            <a:ext cx="3779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ABFF09"/>
                </a:solidFill>
                <a:latin typeface="Arial"/>
              </a:rPr>
              <a:t>Qaysi stol kutayotganini va qancha kutganini ayta olmaydi.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B8794"/>
                </a:solidFill>
                <a:latin typeface="Arial"/>
              </a:rPr>
              <a:t>flex.com.uz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B879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58368"/>
            <a:ext cx="384048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6678"/>
                </a:solidFill>
                <a:latin typeface="Arial"/>
              </a:rPr>
              <a:t>JAMOA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0E0A1B"/>
                </a:solidFill>
                <a:latin typeface="Arial"/>
              </a:rPr>
              <a:t>Kim qurayapti.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43200"/>
            <a:ext cx="274320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063240"/>
            <a:ext cx="327141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0E0A1B"/>
                </a:solidFill>
                <a:latin typeface="Arial"/>
              </a:rPr>
              <a:t>Javohir Abrorov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327141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C7A0A"/>
                </a:solidFill>
                <a:latin typeface="Arial"/>
              </a:rPr>
              <a:t>Asoschi · AI muhandis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327141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78"/>
                </a:solidFill>
                <a:latin typeface="Arial"/>
              </a:rPr>
              <a:t>MC LEGAL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0138" y="2743200"/>
            <a:ext cx="274320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0138" y="3063240"/>
            <a:ext cx="327141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0E0A1B"/>
                </a:solidFill>
                <a:latin typeface="Arial"/>
              </a:rPr>
              <a:t>Zoirjon Abduvohidov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0138" y="3931920"/>
            <a:ext cx="327141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C7A0A"/>
                </a:solidFill>
                <a:latin typeface="Arial"/>
              </a:rPr>
              <a:t>Veb dasturchi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0138" y="4343400"/>
            <a:ext cx="327141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78"/>
                </a:solidFill>
                <a:latin typeface="Arial"/>
              </a:rPr>
              <a:t>Tompson School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43036" y="2743200"/>
            <a:ext cx="274320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43036" y="3063240"/>
            <a:ext cx="3271418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0E0A1B"/>
                </a:solidFill>
                <a:latin typeface="Arial"/>
              </a:rPr>
              <a:t>Abdujabbor Ahmadjonov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3036" y="3931920"/>
            <a:ext cx="327141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C7A0A"/>
                </a:solidFill>
                <a:latin typeface="Arial"/>
              </a:rPr>
              <a:t>Mahsulot menejeri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3036" y="4343400"/>
            <a:ext cx="327141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78"/>
                </a:solidFill>
                <a:latin typeface="Arial"/>
              </a:rPr>
              <a:t>Kanada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678"/>
                </a:solidFill>
                <a:latin typeface="Arial"/>
              </a:rPr>
              <a:t>flex.com.uz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78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58368"/>
            <a:ext cx="384048" cy="50800"/>
          </a:xfrm>
          <a:prstGeom prst="rect">
            <a:avLst/>
          </a:prstGeom>
          <a:solidFill>
            <a:srgbClr val="ABFF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44168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B8794"/>
                </a:solidFill>
                <a:latin typeface="Arial"/>
              </a:rPr>
              <a:t>SO'ROV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5156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Nima so'rayapmiz.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ABFF09"/>
                </a:solidFill>
                <a:latin typeface="Arial"/>
              </a:rPr>
              <a:t>$50 000 – $100 000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8794"/>
                </a:solidFill>
                <a:latin typeface="Arial"/>
              </a:rPr>
              <a:t>Pre-seed · mahsulot qurilgan va ishlayapti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77639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20" y="3977639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8794"/>
                </a:solidFill>
                <a:latin typeface="Arial"/>
              </a:rPr>
              <a:t>Qurilmalar: karta, uzuk, braslet va stol belgilari zaxirasi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26279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35%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20" y="4526279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8794"/>
                </a:solidFill>
                <a:latin typeface="Arial"/>
              </a:rPr>
              <a:t>Birinchi 100 obyekt: savdo va o'rnatish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0749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15%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20" y="50749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8794"/>
                </a:solidFill>
                <a:latin typeface="Arial"/>
              </a:rPr>
              <a:t>Jamoa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23559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10%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20" y="5623559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8794"/>
                </a:solidFill>
                <a:latin typeface="Arial"/>
              </a:rPr>
              <a:t>Marketing va tadbirlar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56855" y="2286000"/>
            <a:ext cx="3657600" cy="3017520"/>
          </a:xfrm>
          <a:prstGeom prst="roundRect">
            <a:avLst>
              <a:gd name="adj" fmla="val 5500"/>
            </a:avLst>
          </a:prstGeom>
          <a:solidFill>
            <a:srgbClr val="1A1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8335" y="265176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ABFF09"/>
                </a:solidFill>
                <a:latin typeface="Arial"/>
              </a:rPr>
              <a:t>Aloqa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8335" y="3200400"/>
            <a:ext cx="28346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FFFFFF"/>
                </a:solidFill>
                <a:latin typeface="Arial"/>
              </a:rPr>
              <a:t>Javohir Abrorov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FFFFFF"/>
                </a:solidFill>
                <a:latin typeface="Arial"/>
              </a:rPr>
              <a:t>sheyx2772@gmail.com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FFFFFF"/>
                </a:solidFill>
                <a:latin typeface="Arial"/>
              </a:rPr>
              <a:t>+998 97 724 79 99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FFFFFF"/>
                </a:solidFill>
                <a:latin typeface="Arial"/>
              </a:rPr>
              <a:t>flex.com.uz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B8794"/>
                </a:solidFill>
                <a:latin typeface="Arial"/>
              </a:rPr>
              <a:t>flex.com.uz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00055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B879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